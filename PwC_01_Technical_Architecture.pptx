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66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Rows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SCED dispatch</c:v>
                </c:pt>
                <c:pt idx="1">
                  <c:v>Nodal prices</c:v>
                </c:pt>
                <c:pt idx="2">
                  <c:v>ERCOT load</c:v>
                </c:pt>
                <c:pt idx="3">
                  <c:v>ERCOT fuel mix</c:v>
                </c:pt>
                <c:pt idx="4">
                  <c:v>CAISO hourly</c:v>
                </c:pt>
                <c:pt idx="5">
                  <c:v>Monthly rollup</c:v>
                </c:pt>
                <c:pt idx="6">
                  <c:v>Node stats</c:v>
                </c:pt>
                <c:pt idx="7">
                  <c:v>PJM stats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25492166</c:v>
                </c:pt>
                <c:pt idx="1">
                  <c:v>11687827</c:v>
                </c:pt>
                <c:pt idx="2">
                  <c:v>174282</c:v>
                </c:pt>
                <c:pt idx="3">
                  <c:v>167190</c:v>
                </c:pt>
                <c:pt idx="4">
                  <c:v>65655</c:v>
                </c:pt>
                <c:pt idx="5">
                  <c:v>40151</c:v>
                </c:pt>
                <c:pt idx="6">
                  <c:v>19946</c:v>
                </c:pt>
                <c:pt idx="7">
                  <c:v>14336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E0D-4309-81F8-645395785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E1A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$/month</c:v>
                </c:pt>
              </c:strCache>
            </c:strRef>
          </c:tx>
          <c:spPr>
            <a:solidFill>
              <a:srgbClr val="2E86A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F8A-4B48-93A5-1DF905515C7D}"/>
              </c:ext>
            </c:extLst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F8A-4B48-93A5-1DF905515C7D}"/>
              </c:ext>
            </c:extLst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F8A-4B48-93A5-1DF905515C7D}"/>
              </c:ext>
            </c:extLst>
          </c:dPt>
          <c:dPt>
            <c:idx val="3"/>
            <c:invertIfNegative val="0"/>
            <c:bubble3D val="0"/>
            <c:spPr>
              <a:solidFill>
                <a:srgbClr val="E8A3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F8A-4B48-93A5-1DF905515C7D}"/>
              </c:ext>
            </c:extLst>
          </c:dPt>
          <c:dPt>
            <c:idx val="4"/>
            <c:invertIfNegative val="0"/>
            <c:bubble3D val="0"/>
            <c:spPr>
              <a:solidFill>
                <a:srgbClr val="3FA37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F8A-4B48-93A5-1DF905515C7D}"/>
              </c:ext>
            </c:extLst>
          </c:dPt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1A2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As-built
(VM + PG)</c:v>
                </c:pt>
                <c:pt idx="1">
                  <c:v>Phase 1
+ Fabric F2</c:v>
                </c:pt>
                <c:pt idx="2">
                  <c:v>Phase 2
+ Container Apps</c:v>
                </c:pt>
                <c:pt idx="3">
                  <c:v>Phase 3
+ Purview</c:v>
                </c:pt>
                <c:pt idx="4">
                  <c:v>Phase 5
+ Foundry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550</c:v>
                </c:pt>
                <c:pt idx="2">
                  <c:v>750</c:v>
                </c:pt>
                <c:pt idx="3">
                  <c:v>1050</c:v>
                </c:pt>
                <c:pt idx="4">
                  <c:v>1400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F8A-4B48-93A5-1DF905515C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E1A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E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291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live production system I designed and built end-to-end — not a prototype. Today I want to cover three things: the architecture as built and why I made those calls, the engineering problems I hit and how I solved them, and how this scales onto the full Azure data platform for enterprise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 — it's context, not the point of the deck. The one thing to land: every number on the screen traces to a primary regulator source, not an estimate. That matters for a deal team signing a 15-year 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architecture is boring on purpose. Two processes, one database. No Kubernetes, no message bus, no orchestrator. For a single-tenant analytical product with batch ingestion and a synchronous solver, added distributed machinery would be cost and failure surface with no payoff. I'll show where that stops being true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I'd expect technical questions. The design constraint was a 2 vCPU / 8 GB VM against multi-gigabyte regulator archives. The answer was to never hold a full day in memory and to make every unit of work independently replayable. Polars over pandas was a deliberate memory decision, not a preference.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judged on the reasoning, not the stack. Every row here is a constraint-driven call I can defend, and every one has a real cost I accepted knowingly. The last row is the honest one: a single VM has no rolling deploy and no self-healing. That's fine for one tenant and unacceptable for a client platform — which is the bridge to the Azure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my favourite slide because it's the one that shows how I actually work. The instinct is to reach for more hardware or more indexes. The real fix was reading the plan and realising a four-expression composite key can't be hashed. Same data, same result, 300x faster — from changing the shape of the join, not the size of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log scale is the message. 25 million rows of dispatch, but the endpoints read tables in the tens of thousands. Designing that seam deliberately — rather than indexing the big table harder — is what keeps the product responsive on a 2 vCPU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limitations is deliberate. I'd rather name the ceiling myself than have them find it. The important framing: none of these are mistakes — they're the correct trade for a single-tenant internal tool. They become blockers the moment this is client-facing, and that's precisely what the Azure target state addresses.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what I did NOT do: I did not throw away PostgreSQL. The transactional store and the solver stay where they are strongest, and Fabric takes the analytical and AI surface. Ripping out a working OLTP engine to put everything in a lakehouse would be architecture-by-fashion.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I'd want them to remember. The lean build was not a dead end — it's forward-compatible. Mirroring means the migration is additive rather than a rewrite: Postgres keeps serving the product while Fabric takes over analytics and AI. That de-risks the whole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ask one 'do you really know Azure' question, it will be this one. The answer they want to hear is not a favourite product — it's workload-to-store reasoning. Note the Synapse row: knowing it's supported-but-not-strategic, and that Data Explorer specifically retired, is the kind of currency that separates real practice from a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consolidation argument is the real Fabric value proposition for a consulting engagement. Clients are not short of tools; they're short of integration budget. Fabric's answer is that the seams between ingestion, storage, warehousing, BI and AI are pre-built and governed by one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things to land. First, I've already built the agentic pattern — tool-calling over a real database and a real solver — so this isn't theory. Second, the retirement date: knowing the Assistants API dies in August 2026 is exactly the kind of detail that decides whether a client's roadmap is real or aspirational.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connects the technical deck to the commercial one. Engineering directors sometimes treat governance as overhead. In energy trading and origination it is the gate — if you can't evidence lineage and prevent leakage, the deal team can't use your output regardless of how good the model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deliberately give the alternatives real strengths. Claiming Azure wins on every axis would tell them I haven't used the others. The defensible claim is narrower and stronger: for a client already on M365 and Entra, needing unified governance across data AND AI agents, Azure's integration story wins — and that is most large energy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sequencing is the argument. Mirroring first because it's additive and reversible. Governance before client data — non-negotiable. Agents last, because an agent over ungoverned data is a liability, not a feature. If they push on timeline, the honest answer is that Phase 1 is weeks and Phase 5 depends on how much semantic modelling the client's data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these are planning numbers, not a quote — an engineering director will respect the caveat and distrust false precision. The substantive point is that the Fabric capacity SKU is a reservation, so FinOps discipline (right-sizing and pausing) is part of the architecture, not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transferability. The energy domain is incidental — what moves to a client engagement is the reasoning: how to pick a store per workload, how to sequence a migration so it stays fundable and reversible, and how to put governance in front of AI rather than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60120"/>
            <a:ext cx="1737360" cy="310896"/>
          </a:xfrm>
          <a:prstGeom prst="roundRect">
            <a:avLst>
              <a:gd name="adj" fmla="val 1764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SYSTEM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Intelligence Platform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architecture, engineering trade-offs, and the Azure-native scale path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052560" y="1572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25.5M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05256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SCED dispatch rows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052560" y="25054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052560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price node-hours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052560" y="34381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1,109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052560" y="3840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ERCOT settlement nodes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52560" y="4370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340-bus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5256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PyPSA network model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Amol Javahire   ·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platform does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Power-market siting and PPA origination intelligence for corporate energy buyers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63040" y="1874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2037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6,163 EIA-860 generators across ERCOT, CAISO and PJM, scored on 8 market-risk dimensions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308152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63040" y="33375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11.7M node-hours of real ERCOT day-ahead and real-time settlement prices, 1,109 nodes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5935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215384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41422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4471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340-bus DC optimal power flow — curtailment, scarcity, transmission relief, battery arbitrage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09320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5349240"/>
            <a:ext cx="457200" cy="457200"/>
          </a:xfrm>
          <a:prstGeom prst="ellipse">
            <a:avLst/>
          </a:prstGeom>
          <a:solidFill>
            <a:srgbClr val="3FA372"/>
          </a:solidFill>
          <a:ln w="12700">
            <a:solidFill>
              <a:srgbClr val="3FA3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63040" y="52760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63040" y="56052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candidates by investment objective, model PPA/VPPA NPV with P10/P50/P90 Monte Carlo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Universe: EIA Form 860 (2025 vintage) operable generators &gt;1 MW. Deployed and running on Azure.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AS-BUILT · TODAY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lean: two compute processes, one managed database, no orchestration layer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10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Vite · Tailwind v4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· Leaflet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bundle via nginx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41648" y="2185416"/>
            <a:ext cx="384048" cy="182880"/>
          </a:xfrm>
          <a:prstGeom prst="rightArrow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691640"/>
            <a:ext cx="3383280" cy="1170432"/>
          </a:xfrm>
          <a:prstGeom prst="roundRect">
            <a:avLst>
              <a:gd name="adj" fmla="val 6250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82312" y="1810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tier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782312" y="2103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 on Node (PM2)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Drizzle ORM · Zod contracts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Reverse-proxies /pypsa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2185416"/>
            <a:ext cx="384048" cy="182880"/>
          </a:xfrm>
          <a:prstGeom prst="rightArrow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58784" y="1691640"/>
            <a:ext cx="3054096" cy="1170432"/>
          </a:xfrm>
          <a:prstGeom prst="roundRect">
            <a:avLst>
              <a:gd name="adj" fmla="val 6250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873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787384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Uvicorn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PyPSA + HiGHS LP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venv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127248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F3350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2552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Database for PostgreSQL — Flexible Server + TimescaleDB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358444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relational tables  ·  2 materialised views  ·  4.8 GB of 30 GB provisioned  ·  hypertables on the 25.5M-row dispatch series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 for the API, the solver, and the batch seeders — no duplicated state, no sync layer to keep honest.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626864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754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ingestion (Python · Polars)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50749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ERCOT public API (OAuth ROPC + subscription key)  ·  CAISO OASIS  ·  EIA-930 / EIA-860  ·  HIFLD transmission  ·  NOAA climate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ZIP → Polars → batched upsert. Idempotent seed logs make every run resumable.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D2as_v6 (2 vCPU / 8 GB) · PM2 process manager · nginx TLS termination · GitHub-based deploy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 at scale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the product traces to a primary regulator source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792224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92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70432" y="17007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71907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 B2C ROPC flow against ERCOT's public API, plus subscription key. Token cached and auto-refreshed.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70432" y="2606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2624328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archives pulled in 1 MB chunks — never materialised whole. Exponential backoff on the 30 req/min rate limit.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602736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602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70432" y="35112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0" y="3529584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Polars reads CSV straight from the in-memory archive. Zero pandas: lower peak RSS, faster on wide frames.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507992"/>
            <a:ext cx="420624" cy="420624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507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70432" y="44165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4434840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settlement intervals rolled to hourly in-frame before any database round-trip.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4132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5413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70432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Upsert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00400" y="5340096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execute_values batches of 500–1,000 with ON CONFLICT DO UPDATE. Per-date seed log makes reruns free.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567 consecutive days of real-time nodal prices seeded with zero errors — 14.2M rows, fully resumable.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and what they cost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choice bought something specific — and gave something up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6252"/>
            <a:ext cx="118872" cy="1188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77393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regulator APIs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 data vendor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968496" y="1865376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licence cost, no vendor schema drift, full history control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882128" y="18653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own auth, rate limits, and every format change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96896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" y="2948940"/>
            <a:ext cx="118872" cy="118872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270662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Polars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pandas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968496" y="2798064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memory fell from ~7 GB to under 1 GB per ingest day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82128" y="279806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ecosystem; some libraries still return pandas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529584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6928" y="3881628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TimescaleDB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 lakehouse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68496" y="373075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Sub-100 ms API reads, ACID, one engine to operate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82128" y="373075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needs the Timescale licence Azure doesn't ship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462272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6928" y="4814316"/>
            <a:ext cx="118872" cy="118872"/>
          </a:xfrm>
          <a:prstGeom prst="ellipse">
            <a:avLst/>
          </a:prstGeom>
          <a:solidFill>
            <a:srgbClr val="3FA372"/>
          </a:solidFill>
          <a:ln w="12700">
            <a:solidFill>
              <a:srgbClr val="3FA37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" y="4572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Materialised views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query-time aggregation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68496" y="4663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40,151-row rollup replaces a 25M-row scan per request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82128" y="4663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window; must refresh after each seed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66928" y="5747004"/>
            <a:ext cx="118872" cy="118872"/>
          </a:xfrm>
          <a:prstGeom prst="ellipse">
            <a:avLst/>
          </a:prstGeom>
          <a:solidFill>
            <a:srgbClr val="D9544D"/>
          </a:solidFill>
          <a:ln w="12700">
            <a:solidFill>
              <a:srgbClr val="D954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550468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VM</a:t>
            </a:r>
            <a:endParaRPr lang="en-US" sz="115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AKS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968496" y="559612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~$150/mo all-in; no cluster to operate for one tenant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82128" y="55961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ceiling; no rolling deploy or self-healing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968496" y="138988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882128" y="13898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UP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ENGINEERING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22-minute query, and why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capture-price materialised view — join geometry beat every other optimisation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dispatch to prices on four derived columns —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month, day, hour-ending.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could not hash a composite of four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expressions, so it nested-looped 25M rows.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54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min, never completed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828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37960" y="2121408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one Central-time timestamp per side,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joined on that single key.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switched to a hash join. Same rows,</a:t>
            </a:r>
            <a:endParaRPr lang="en-US" sz="11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result, one column instead of four.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37960" y="331012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39502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more that mattered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4416552"/>
            <a:ext cx="310896" cy="310896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42416" y="4370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spill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00400" y="43708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exceeded work_mem and thrashed on BufFileRead. Raised to 512 MB for the build session — stayed in RAM.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983480"/>
            <a:ext cx="310896" cy="310896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49377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collapse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49377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abandoned view builds ran simultaneously, starving each other. pg_stat_activity found them; terminating all but one fixed it.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5550408"/>
            <a:ext cx="310896" cy="310896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504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42416" y="5504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denominator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550468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status endpoint ran COUNT(*) over 25M rows on every page load. Repointed to the 872-row seed log — instant.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TODAY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database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as deployed — not projections</a:t>
            </a:r>
            <a:endParaRPr lang="en-US" sz="13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60020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1600200"/>
            <a:ext cx="3913632" cy="448056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73568" y="1783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this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73568" y="214884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scale — the dispatch series is three orders of magnitude larger than the aggregates that serve it.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whole performance strategy: the API almost never touches the big tables. It reads pre-aggregated views and monthly rollups, and the raw series exists for backtests and re-derivation.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materialised views are the seam. Everything above them is fast by construction.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973568" y="5029200"/>
            <a:ext cx="1645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2E86A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 GB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973568" y="5669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30 GB provisioned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0" y="5029200"/>
            <a:ext cx="1645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&lt;100 ms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9875520" y="56692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API read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architecture stops working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one tenant and one analyst team. Not fine for a client platform.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109728" cy="109728"/>
          </a:xfrm>
          <a:prstGeom prst="ellipse">
            <a:avLst/>
          </a:prstGeom>
          <a:solidFill>
            <a:srgbClr val="D9544D"/>
          </a:solidFill>
          <a:ln w="12700">
            <a:solidFill>
              <a:srgbClr val="D95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0704" y="17922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60704" y="214884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VM, one process manager. No rolling deploy, no self-healing, no zone redundancy. A bad restart is user-visible downtime.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645920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1883664"/>
            <a:ext cx="109728" cy="109728"/>
          </a:xfrm>
          <a:prstGeom prst="ellipse">
            <a:avLst/>
          </a:prstGeom>
          <a:solidFill>
            <a:srgbClr val="D9544D"/>
          </a:solidFill>
          <a:ln w="12700">
            <a:solidFill>
              <a:srgbClr val="D95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84264" y="179222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ceiling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684264" y="2148840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vCPU / 8 GB. Concurrent 340-bus solves already contend; multi-tenant load would not fit.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182112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419856"/>
            <a:ext cx="109728" cy="10972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33284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governance plane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60704" y="3685032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catalogue, no lineage, no classification, no access audit. Unacceptable for client data under NDA.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182112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28232" y="3419856"/>
            <a:ext cx="109728" cy="10972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84264" y="33284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orchestration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84264" y="3685032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Seeders are cron and nohup. No dependency graph, no retry policy, no alerting on silent staleness.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718304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956048"/>
            <a:ext cx="109728" cy="109728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0704" y="48646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unavailable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60704" y="5221224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ships TimescaleDB under Apache licence — columnar compression needs the Timescale licence. Growth is linear.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4718304"/>
            <a:ext cx="5440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4956048"/>
            <a:ext cx="109728" cy="109728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84264" y="486460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coupled to OLTP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684264" y="5221224"/>
            <a:ext cx="4663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analytical scans compete with API reads on the same instance. One bad query degrades the product.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STATE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Azure-native reference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domain logic, enterprise-grade plane around it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943100"/>
            <a:ext cx="118872" cy="118872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836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&amp; orchestrate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83280" y="186537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Factory pipelines  ·  Event Hubs for streaming market telemetry  ·  Functions for event-driven pulls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720340"/>
            <a:ext cx="118872" cy="1188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66090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383280" y="264261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 (Delta Lake) as the single logical lake  ·  PostgreSQL Flexible Server retained for OLTP + solver state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1868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3497580"/>
            <a:ext cx="118872" cy="1188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43814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&amp; serve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383280" y="341985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Warehouse for star-schema marts  ·  Eventhouse / KQL for time-series at billions of rows  ·  Direct Lake to Power BI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9592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4274820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153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383280" y="419709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— Agent Service on the Responses API, model catalogue, NL2SQL data agents over the semantic layer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77316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052060"/>
            <a:ext cx="118872" cy="118872"/>
          </a:xfrm>
          <a:prstGeom prst="ellipse">
            <a:avLst/>
          </a:prstGeom>
          <a:solidFill>
            <a:srgbClr val="3FA372"/>
          </a:solidFill>
          <a:ln w="12700">
            <a:solidFill>
              <a:srgbClr val="3FA3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499262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83280" y="49743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 Unified Catalog  ·  DSPM  ·  AI-agent inventory and policy  ·  Entra ID + workspace private link throughout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550408"/>
            <a:ext cx="11064240" cy="676656"/>
          </a:xfrm>
          <a:prstGeom prst="roundRect">
            <a:avLst>
              <a:gd name="adj" fmla="val 10811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6928" y="5829300"/>
            <a:ext cx="118872" cy="118872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576986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383280" y="575157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or Container Apps for the API and solver  ·  Managed identities  ·  Key Vault  ·  Azure Monitor and Log Analytics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8CA3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consolidates seven workloads on OneLake with one security model (Entra ID + Purview) and one capacity SKU (F-series).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MECHANISM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bridge: Fabric mirroring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Near-real-time replication from PostgreSQL into OneLake — no ETL to build or maintain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874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PostgreSQL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Server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OLTP + PyPSA state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authoritative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913632" y="2286000"/>
            <a:ext cx="658368" cy="201168"/>
          </a:xfrm>
          <a:prstGeom prst="rightArrow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25420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32004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10912" y="18745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010912" y="221284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 tables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Analytics-ready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Zero-copy to workloads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19872" y="2286000"/>
            <a:ext cx="658368" cy="201168"/>
          </a:xfrm>
          <a:prstGeom prst="rightArrow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96112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17152" y="18745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217152" y="22128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Direct Lake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data agents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/ ML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310128"/>
            <a:ext cx="5440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4930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the right seam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858768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load leaves the OLTP instance entirely — no more heavy scans competing with API reads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pipeline code to write, test, or monitor; mirroring is managed and continuous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format is open — no lock-in on the storage layer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25.5M-row dispatch series becomes queryable at lakehouse scale without moving the product's source of truth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310128"/>
            <a:ext cx="5440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34930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would still build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3858768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layering in OneLake — bronze raw archives, silver conformed prices, gold marts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Eventhouse / KQL for the tick-level series if we go below hourly granularity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semantic model so NL2SQL agents query governed measures, not raw tables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Factory to replace cron, with dependency-aware retries and staleness alerts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for Azure Database for PostgreSQL Flexible Server replicates continuously into OneLake without custom ETL.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 STORES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store, workload by workload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single right database here — there are five right answers to five questions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206240" y="14630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0" y="1463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POSITION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75564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" y="2007108"/>
            <a:ext cx="118872" cy="1188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9385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Flexible Server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206240" y="19476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OLTP, PostGIS, solver state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0" y="19476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use today. ACID, extensions, mirrors to Fabric.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48716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" y="2738628"/>
            <a:ext cx="118872" cy="118872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6700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Warehouse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06240" y="2679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Star-schema marts, T-SQL analytics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2679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layer for BI and governed measures.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1868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66928" y="3470148"/>
            <a:ext cx="118872" cy="118872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4015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Eventhouse (KQL)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206240" y="341071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at billions of rows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0" y="3410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 would put 5-minute SCED and tick LMPs.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5020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201668"/>
            <a:ext cx="118872" cy="118872"/>
          </a:xfrm>
          <a:prstGeom prst="ellipse">
            <a:avLst/>
          </a:prstGeom>
          <a:solidFill>
            <a:srgbClr val="5A6E85"/>
          </a:solidFill>
          <a:ln w="12700">
            <a:solidFill>
              <a:srgbClr val="5A6E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133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Database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206240" y="414223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Transactional apps, Hyperscale growth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72400" y="4142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default if the team is T-SQL-first.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68172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66928" y="4933188"/>
            <a:ext cx="118872" cy="118872"/>
          </a:xfrm>
          <a:prstGeom prst="ellipse">
            <a:avLst/>
          </a:prstGeom>
          <a:solidFill>
            <a:srgbClr val="5A6E85"/>
          </a:solidFill>
          <a:ln w="12700">
            <a:solidFill>
              <a:srgbClr val="5A6E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8646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206240" y="487375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multi-tenant, low-latency documents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772400" y="4873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per-client config and session state at scale.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5413248"/>
            <a:ext cx="1106424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66928" y="5664708"/>
            <a:ext cx="118872" cy="11887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596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 Analytics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206240" y="56052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dedicated SQL pools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56052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Supported, but Fabric is the strategic target for net-new.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 is not retired, but Microsoft positions Fabric for net-new investment; Synapse Data Explorer retired Oct 2025.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workloads, mapped to this platform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capacity, one security model, one lake — the consolidation argument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1847088"/>
            <a:ext cx="365760" cy="36576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61872" y="1773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Factory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20665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cron seeders with dependency-aware pipelines and alerting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91656" y="1847088"/>
            <a:ext cx="365760" cy="365760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1656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85432" y="17739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85432" y="20665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notebooks for the medallion transforms and backfills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42032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2743200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61872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29626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marts behind rankings, capture prices, congestion analytics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72200" y="2542032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91656" y="2743200"/>
            <a:ext cx="365760" cy="365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9165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85432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Intelligence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85432" y="296265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Eventhouse for tick LMPs; Activator to fire on price or congestion events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438144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" y="3639312"/>
            <a:ext cx="365760" cy="3657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61872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61872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Load-forecast regression and curtailment models, tracked and versioned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72200" y="3438144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91656" y="3639312"/>
            <a:ext cx="365760" cy="3657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91656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85432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85432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Lake executive reporting with no import refresh cycle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334256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8096" y="4535424"/>
            <a:ext cx="365760" cy="365760"/>
          </a:xfrm>
          <a:prstGeom prst="ellipse">
            <a:avLst/>
          </a:prstGeom>
          <a:solidFill>
            <a:srgbClr val="3FA372"/>
          </a:solidFill>
          <a:ln w="12700">
            <a:solidFill>
              <a:srgbClr val="3FA37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" y="4535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61872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261872" y="4754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store option inside the same governance boundary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72200" y="5230368"/>
            <a:ext cx="5440680" cy="768096"/>
          </a:xfrm>
          <a:prstGeom prst="roundRect">
            <a:avLst>
              <a:gd name="adj" fmla="val 9524"/>
            </a:avLst>
          </a:prstGeom>
          <a:solidFill>
            <a:srgbClr val="1F3350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535838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is not seven products — it is one bill, one identity model,</a:t>
            </a:r>
            <a:endParaRPr lang="en-US" sz="11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integration code between stages.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Foundry — from chat box to governed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already ships a Q&amp;A copilot; Foundry is what makes it enterprise-safe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in the product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with four tools: run_sql against any table, run_simulation into PyPSA, web_search, and a candidate lookup. Streams SQL, tables, charts and solver output back into the chat.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but the model reaches raw tables directly, and nothing records what it saw.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Foundry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46520" y="219456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Service on the Responses API as a single entry point, model catalogue for routing cost against capability, and NL2SQL data agents querying a governed semantic model instead of raw SQL.</a:t>
            </a: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endParaRPr lang="en-US" sz="11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identity-bound, logged, and inventoried.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877056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877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42416" y="3822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retrieval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74720" y="382219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query semantic models with row-level security, not ad-hoc SQL over production tables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480560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4480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42416" y="44256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Auditability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74720" y="442569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Prompt, response and tool-call lineage captured — the difference between a demo and something a regulated client will sign off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329184" cy="32918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5084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42416" y="5029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portability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474720" y="50292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routing means swapping or tiering models is configuration, not a rewrite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87568"/>
            <a:ext cx="329184" cy="329184"/>
          </a:xfrm>
          <a:prstGeom prst="ellipse">
            <a:avLst/>
          </a:prstGeom>
          <a:solidFill>
            <a:srgbClr val="D9544D"/>
          </a:solidFill>
          <a:ln w="12700">
            <a:solidFill>
              <a:srgbClr val="D954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687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56327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note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474720" y="563270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Assistants API retires 26 Aug 2026 — anything built on it needs to be on Agent Service before then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 was renamed Microsoft Foundry at Ignite 2025; Foundry Tools superseded the Azure AI Services brand.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Purview — the part clients actually buy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energy clients under NDA, governance is the precondition, not the upsell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847088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Catalog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743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inventory of every data asset, now GA. Lineage from regulator source to the number on a deal memo.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79392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847088"/>
            <a:ext cx="402336" cy="402336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3542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35424" y="2395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35424" y="2743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posture management across Microsoft and non-Microsoft sources, including data reached through AI apps and agents.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10144" y="164592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66176" y="1847088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6176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66176" y="23957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governance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66176" y="27432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of AI apps and agents with risk flags, sensitive-interaction counts, and per-agent policy — extends to Agent 365.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11064240" cy="1965960"/>
          </a:xfrm>
          <a:prstGeom prst="roundRect">
            <a:avLst>
              <a:gd name="adj" fmla="val 3721"/>
            </a:avLst>
          </a:prstGeom>
          <a:solidFill>
            <a:srgbClr val="1F3350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1879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the commercial hinge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4553712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prices are public. The reason a utility or a corporate buyer cannot simply build this themselves is not the modelling — it is proving where every number came from, who touched it, and that no confidential position leaked into a model prompt.</a:t>
            </a: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endParaRPr lang="en-US" sz="115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1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what converts an analytical tool into something a client's risk committee will approve. It is also the layer a consulting firm is uniquely placed to implement, because it is organisational as much as technical.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ALTERNATIVES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Azure, honestly assessed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Azure here is integration and governance — not raw capability on any single axis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10512"/>
            <a:ext cx="2249424" cy="365760"/>
          </a:xfrm>
          <a:prstGeom prst="roundRect">
            <a:avLst>
              <a:gd name="adj" fmla="val 15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0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+ Fabric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" y="23317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68096" y="256032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governance model across data and AI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Mirroring removes ETL from the migration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fit where M365 and Entra already exist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68096" y="42062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68096" y="443484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SKU pricing needs active management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still maturing in places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64992" y="1627632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66160" y="1810512"/>
            <a:ext cx="2249424" cy="365760"/>
          </a:xfrm>
          <a:prstGeom prst="roundRect">
            <a:avLst>
              <a:gd name="adj" fmla="val 15000"/>
            </a:avLst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1810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84448" y="23317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84448" y="256032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Deepest primitive catalogue; Timescale compression available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 / Athena mature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84448" y="42062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84448" y="443484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assembled from parts, not unified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M365 and Entra integration story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81344" y="1627632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82512" y="1810512"/>
            <a:ext cx="2249424" cy="365760"/>
          </a:xfrm>
          <a:prstGeom prst="roundRect">
            <a:avLst>
              <a:gd name="adj" fmla="val 15000"/>
            </a:avLst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1810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23317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0" y="256032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Best-in-class Spark and ML lifecycle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Catalog is genuinely strong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00800" y="42062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0" y="443484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vendor plane to govern and bill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Overkill for hourly batch at this volume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997696" y="1627632"/>
            <a:ext cx="2651760" cy="44348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98864" y="1810512"/>
            <a:ext cx="2249424" cy="365760"/>
          </a:xfrm>
          <a:prstGeom prst="roundRect">
            <a:avLst>
              <a:gd name="adj" fmla="val 15000"/>
            </a:avLst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98864" y="1810512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217152" y="23317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FA3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217152" y="256032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warehouse ergonomics and elasticity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of storage and compute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217152" y="42062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D9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217152" y="4434840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solver or agent runtime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and cross-cloud cost coupling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Phased migration — no big bang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ships value on its own and is independently reversible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86384" y="1847088"/>
            <a:ext cx="438912" cy="43891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8470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89888" y="1810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89888" y="20848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1–4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17520" y="188366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mirroring. Stand up OneLake, land the medallion bronze layer, point Power BI at Direct Lake. Product untouched.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7860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86384" y="2761488"/>
            <a:ext cx="438912" cy="438912"/>
          </a:xfrm>
          <a:prstGeom prst="ellipse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761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89888" y="27249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89888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5–10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017520" y="279806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 API and solver onto Container Apps. Managed identity, Key Vault, Azure Monitor. Retire the single-VM SPOF.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49300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86384" y="3675888"/>
            <a:ext cx="438912" cy="438912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36758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6393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89888" y="39136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017520" y="371246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Purview: catalogue, lineage, classification, DSPM. Prerequisite for any client data entering the platform.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40740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86384" y="4590288"/>
            <a:ext cx="438912" cy="438912"/>
          </a:xfrm>
          <a:prstGeom prst="ellipse">
            <a:avLst/>
          </a:prstGeom>
          <a:solidFill>
            <a:srgbClr val="3FA372"/>
          </a:solidFill>
          <a:ln w="12700">
            <a:solidFill>
              <a:srgbClr val="3FA37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4590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89888" y="4553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89888" y="48280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12–20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017520" y="462686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Factory replaces cron. Eventhouse for sub-hourly series. Semantic model built for agent access.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321808"/>
            <a:ext cx="1106424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86384" y="5504688"/>
            <a:ext cx="438912" cy="438912"/>
          </a:xfrm>
          <a:prstGeom prst="ellipse">
            <a:avLst/>
          </a:prstGeom>
          <a:solidFill>
            <a:srgbClr val="D9544D"/>
          </a:solidFill>
          <a:ln w="12700">
            <a:solidFill>
              <a:srgbClr val="D954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5504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389888" y="54681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89888" y="57424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18–26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017520" y="5541264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10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replaces the current copilot backend. NL2SQL over governed measures, full audit trail.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rule: governance (Phase 3) must land before any client-confidential data enters the platform.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shape across the phases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monthly run-rate — the step change is capacity, not compute</a:t>
            </a:r>
            <a:endParaRPr lang="en-US" sz="13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645920"/>
          <a:ext cx="67665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645920"/>
            <a:ext cx="3977640" cy="411480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12700">
            <a:solidFill>
              <a:srgbClr val="E2E9F0"/>
            </a:solidFill>
            <a:prstDash val="solid"/>
          </a:ln>
          <a:effectLst>
            <a:outerShdw blurRad="101600" dist="19050" dir="5400000" algn="bl" rotWithShape="0">
              <a:srgbClr val="8CA3BC">
                <a:alpha val="2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0956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909560" y="2194560"/>
            <a:ext cx="3429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as-built figure is real: roughly $150/month for a D2as_v6 and a 30 GB Flexible Server.</a:t>
            </a:r>
            <a:endParaRPr lang="en-US" sz="1050" dirty="0"/>
          </a:p>
          <a:p>
            <a:pPr marL="0" indent="0" algn="l">
              <a:lnSpc>
                <a:spcPct val="122000"/>
              </a:lnSpc>
              <a:buNone/>
            </a:pPr>
            <a:endParaRPr lang="en-US" sz="10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jump at Phase 1 is the Fabric capacity SKU — it is a reservation, not usage, so it must be sized and paused deliberately.</a:t>
            </a:r>
            <a:endParaRPr lang="en-US" sz="1050" dirty="0"/>
          </a:p>
          <a:p>
            <a:pPr marL="0" indent="0" algn="l">
              <a:lnSpc>
                <a:spcPct val="122000"/>
              </a:lnSpc>
              <a:buNone/>
            </a:pPr>
            <a:endParaRPr lang="en-US" sz="10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indicative for a single-tenant deployment in a US region. Any client proposal needs a sizing exercise against their actual concurrency, retention and DR requirements.</a:t>
            </a:r>
            <a:endParaRPr lang="en-US" sz="1050" dirty="0"/>
          </a:p>
          <a:p>
            <a:pPr marL="0" indent="0" algn="l">
              <a:lnSpc>
                <a:spcPct val="122000"/>
              </a:lnSpc>
              <a:buNone/>
            </a:pPr>
            <a:endParaRPr lang="en-US" sz="10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headline: enterprise-grade costs roughly 10x lean. What you buy is availability, governance and multi-tenancy.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A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planning figures only — not a quote. Fabric F-SKUs are reserved capacity and can be paused.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demonstrates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783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371600" y="17282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Shipped, not slideware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54880" y="1746504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system with 37M+ rows of regulator data, running today — designed, built and operated end-to-end.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1106424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679192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71600" y="2624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judgment under constraint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2642616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where lean was correct; every trade-off named, costed and defensible.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92424"/>
            <a:ext cx="1106424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575304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575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716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where it counts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754880" y="3538728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Query-plan level performance work, memory-bound ingestion design, and a documented silent-failure trap in the solver layer.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88536"/>
            <a:ext cx="1106424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471416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4471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71600" y="44165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fluency, current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754880" y="443484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Fabric, Foundry, Purview and the store-selection reasoning — including what changed in the last two release cycles.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184648"/>
            <a:ext cx="11064240" cy="768096"/>
          </a:xfrm>
          <a:prstGeom prst="roundRect">
            <a:avLst>
              <a:gd name="adj" fmla="val 9524"/>
            </a:avLst>
          </a:prstGeom>
          <a:solidFill>
            <a:srgbClr val="17263C"/>
          </a:solidFill>
          <a:ln w="12700">
            <a:solidFill>
              <a:srgbClr val="1F33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5367528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371600" y="53126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migration path clients can fund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754880" y="5330952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Additive, reversible phases with governance sequenced before client data.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the evidence. The architecture reasoning is the transferable part.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3763</Words>
  <Application>Microsoft Office PowerPoint</Application>
  <PresentationFormat>Widescreen</PresentationFormat>
  <Paragraphs>405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 Origination Intelligence Platform — Architecture &amp; Azure Strategy</dc:title>
  <dc:subject>PptxGenJS Presentation</dc:subject>
  <dc:creator>Amol Javahire</dc:creator>
  <cp:lastModifiedBy>Amol Javahire</cp:lastModifiedBy>
  <cp:revision>2</cp:revision>
  <dcterms:created xsi:type="dcterms:W3CDTF">2026-07-26T21:00:44Z</dcterms:created>
  <dcterms:modified xsi:type="dcterms:W3CDTF">2026-07-29T16:50:57Z</dcterms:modified>
</cp:coreProperties>
</file>