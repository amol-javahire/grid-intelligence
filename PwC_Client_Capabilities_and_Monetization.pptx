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Capture rate</c:v>
                </c:pt>
              </c:strCache>
            </c:strRef>
          </c:tx>
          <c:spPr>
            <a:solidFill>
              <a:srgbClr val="14B8A6"/>
            </a:solidFill>
            <a:effectLst/>
          </c:spPr>
          <c:invertIfNegative val="0"/>
          <c:dLbls>
            <c:numFmt formatCode="0.0&quot;%&quot;"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14B8A6"/>
              </a:solidFill>
              <a:effectLst/>
            </c:spPr>
          </c:dPt>
          <c:dPt>
            <c:idx val="1"/>
            <c:invertIfNegative val="0"/>
            <c:bubble3D val="0"/>
            <c:spPr>
              <a:solidFill>
                <a:srgbClr val="14B8A6"/>
              </a:solidFill>
              <a:effectLst/>
            </c:spPr>
          </c:dPt>
          <c:dPt>
            <c:idx val="2"/>
            <c:invertIfNegative val="0"/>
            <c:bubble3D val="0"/>
            <c:spPr>
              <a:solidFill>
                <a:srgbClr val="14B8A6"/>
              </a:solidFill>
              <a:effectLst/>
            </c:spPr>
          </c:dPt>
          <c:dPt>
            <c:idx val="3"/>
            <c:invertIfNegative val="0"/>
            <c:bubble3D val="0"/>
            <c:spPr>
              <a:solidFill>
                <a:srgbClr val="14B8A6"/>
              </a:solidFill>
              <a:effectLst/>
            </c:spPr>
          </c:dPt>
          <c:dPt>
            <c:idx val="4"/>
            <c:invertIfNegative val="0"/>
            <c:bubble3D val="0"/>
            <c:spPr>
              <a:solidFill>
                <a:srgbClr val="F59E0B"/>
              </a:solidFill>
              <a:effectLst/>
            </c:spPr>
          </c:dPt>
          <c:dPt>
            <c:idx val="5"/>
            <c:invertIfNegative val="0"/>
            <c:bubble3D val="0"/>
            <c:spPr>
              <a:solidFill>
                <a:srgbClr val="F59E0B"/>
              </a:solidFill>
              <a:effectLst/>
            </c:spPr>
          </c:dPt>
          <c:dPt>
            <c:idx val="6"/>
            <c:invertIfNegative val="0"/>
            <c:bubble3D val="0"/>
            <c:spPr>
              <a:solidFill>
                <a:srgbClr val="EF4444"/>
              </a:solidFill>
              <a:effectLst/>
            </c:spPr>
          </c:dPt>
          <c:cat>
            <c:multiLvlStrRef>
              <c:f>Sheet1!$A$2:$A$8</c:f>
              <c:multiLvlStrCache>
                <c:ptCount val="7"/>
                <c:lvl>
                  <c:pt idx="0">
                    <c:v>Simple cycle</c:v>
                  </c:pt>
                  <c:pt idx="1">
                    <c:v>Gas fired steam</c:v>
                  </c:pt>
                  <c:pt idx="2">
                    <c:v>Storage</c:v>
                  </c:pt>
                  <c:pt idx="3">
                    <c:v>Hydro</c:v>
                  </c:pt>
                  <c:pt idx="4">
                    <c:v>Cogeneration</c:v>
                  </c:pt>
                  <c:pt idx="5">
                    <c:v>Solar</c:v>
                  </c:pt>
                  <c:pt idx="6">
                    <c:v>Wind</c:v>
                  </c:pt>
                </c:lvl>
              </c:multiLvlStrCache>
            </c:multiLvlStrRef>
          </c:cat>
          <c:val>
            <c:numRef>
              <c:f>Sheet1!$B$2:$B$8</c:f>
              <c:numCache>
                <c:formatCode>General</c:formatCode>
                <c:ptCount val="7"/>
                <c:pt idx="0">
                  <c:v>198.9</c:v>
                </c:pt>
                <c:pt idx="1">
                  <c:v>139.5</c:v>
                </c:pt>
                <c:pt idx="2">
                  <c:v>139.3</c:v>
                </c:pt>
                <c:pt idx="3">
                  <c:v>117.3</c:v>
                </c:pt>
                <c:pt idx="4">
                  <c:v>94.4</c:v>
                </c:pt>
                <c:pt idx="5">
                  <c:v>76.9</c:v>
                </c:pt>
                <c:pt idx="6">
                  <c:v>48.7</c:v>
                </c:pt>
              </c:numCache>
            </c:numRef>
          </c:val>
        </c:ser>
        <c:dLbls>
          <c:numFmt formatCode="0.0&quot;%&quot;" sourceLinked="0"/>
          <c:txPr>
            <a:bodyPr/>
            <a:lstStyle/>
            <a:p>
              <a:pPr>
                <a:defRPr b="0" i="0" strike="noStrike" sz="1000" u="none">
                  <a:solidFill>
                    <a:srgbClr val="FFFFF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FA3B8"/>
                </a:solidFill>
                <a:latin typeface="Calibri"/>
              </a:defRPr>
            </a:pPr>
            <a:endParaRPr lang="en-US"/>
          </a:p>
        </c:txPr>
        <c:crossAx val="2094734552"/>
        <c:crosses val="autoZero"/>
        <c:auto val="1"/>
        <c:lblAlgn val="ctr"/>
        <c:noMultiLvlLbl val="1"/>
      </c:catAx>
      <c:valAx>
        <c:axId val="2094734552"/>
        <c:scaling>
          <c:orientation val="minMax"/>
          <c:max val="220"/>
        </c:scaling>
        <c:delete val="0"/>
        <c:axPos val="l"/>
        <c:majorGridlines>
          <c:spPr>
            <a:ln w="12700" cap="flat">
              <a:solidFill>
                <a:srgbClr val="24374F"/>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FA3B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client problem, not the technology. The product is evidence — the software is how it gets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these are not obscure inputs. They are the value drivers, and they are the ones most often carried across from the seller's model unchallenged.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the single best argument for the product. It is a real, surprising, defensible finding from public data — and it directly changes a 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as the capability spine. Each of the four maps to a tab in the product and can be demoed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hook. It is a dated, external, non-negotiable event that creates advisory demand — and it is specific to Alberta, where the practice has a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continuity — the reason this is more than four separate spreadsheets is that the evidence base does not change between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the accelerator case is the easiest to prove and needs no external sale. Subscription and data service require productisation work first — see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Being explicit about the gap between a working platform and a client-deployable product is what makes the rest of the deck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low-commitment ask. A parallel run on one live deal is the cheapest possible validation and does not disrupt an existing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9326880" y="-1554480"/>
            <a:ext cx="5120640" cy="5120640"/>
          </a:xfrm>
          <a:prstGeom prst="ellipse">
            <a:avLst/>
          </a:prstGeom>
          <a:solidFill>
            <a:srgbClr val="F59E0B">
              <a:alpha val="10000"/>
            </a:srgbClr>
          </a:solidFill>
          <a:ln w="12700">
            <a:solidFill>
              <a:srgbClr val="0F1B2D"/>
            </a:solidFill>
            <a:prstDash val="solid"/>
          </a:ln>
        </p:spPr>
      </p:sp>
      <p:sp>
        <p:nvSpPr>
          <p:cNvPr id="3" name="Shape 1"/>
          <p:cNvSpPr/>
          <p:nvPr/>
        </p:nvSpPr>
        <p:spPr>
          <a:xfrm>
            <a:off x="10424160" y="3840480"/>
            <a:ext cx="3474720" cy="3474720"/>
          </a:xfrm>
          <a:prstGeom prst="ellipse">
            <a:avLst/>
          </a:prstGeom>
          <a:solidFill>
            <a:srgbClr val="14B8A6">
              <a:alpha val="12000"/>
            </a:srgbClr>
          </a:solidFill>
          <a:ln w="12700">
            <a:solidFill>
              <a:srgbClr val="0F1B2D"/>
            </a:solidFill>
            <a:prstDash val="solid"/>
          </a:ln>
        </p:spPr>
      </p:sp>
      <p:sp>
        <p:nvSpPr>
          <p:cNvPr id="4" name="Text 2"/>
          <p:cNvSpPr/>
          <p:nvPr/>
        </p:nvSpPr>
        <p:spPr>
          <a:xfrm>
            <a:off x="777240" y="1920240"/>
            <a:ext cx="8412480" cy="365760"/>
          </a:xfrm>
          <a:prstGeom prst="rect">
            <a:avLst/>
          </a:prstGeom>
          <a:noFill/>
          <a:ln/>
        </p:spPr>
        <p:txBody>
          <a:bodyPr wrap="square" lIns="0" tIns="0" rIns="0" bIns="0" rtlCol="0" anchor="ctr"/>
          <a:lstStyle/>
          <a:p>
            <a:pPr indent="0" marL="0">
              <a:buNone/>
            </a:pPr>
            <a:r>
              <a:rPr lang="en-US" sz="1300" b="1" spc="300" kern="0" dirty="0">
                <a:solidFill>
                  <a:srgbClr val="F59E0B"/>
                </a:solidFill>
                <a:latin typeface="Calibri" pitchFamily="34" charset="0"/>
                <a:ea typeface="Calibri" pitchFamily="34" charset="-122"/>
                <a:cs typeface="Calibri" pitchFamily="34" charset="-120"/>
              </a:rPr>
              <a:t>CAPABILITIES  ·  COMMERCIAL MODEL</a:t>
            </a:r>
            <a:endParaRPr lang="en-US" sz="1300" dirty="0"/>
          </a:p>
        </p:txBody>
      </p:sp>
      <p:sp>
        <p:nvSpPr>
          <p:cNvPr id="5" name="Text 3"/>
          <p:cNvSpPr/>
          <p:nvPr/>
        </p:nvSpPr>
        <p:spPr>
          <a:xfrm>
            <a:off x="777240" y="2331720"/>
            <a:ext cx="8595360" cy="1737360"/>
          </a:xfrm>
          <a:prstGeom prst="rect">
            <a:avLst/>
          </a:prstGeom>
          <a:noFill/>
          <a:ln/>
        </p:spPr>
        <p:txBody>
          <a:bodyPr wrap="square" lIns="0" tIns="0" rIns="0" bIns="0" rtlCol="0" anchor="ctr"/>
          <a:lstStyle/>
          <a:p>
            <a:pPr indent="0" marL="0">
              <a:lnSpc>
                <a:spcPts val="4400"/>
              </a:lnSpc>
              <a:buNone/>
            </a:pPr>
            <a:r>
              <a:rPr lang="en-US" sz="4200" b="1" dirty="0">
                <a:solidFill>
                  <a:srgbClr val="FFFFFF"/>
                </a:solidFill>
                <a:latin typeface="Cambria" pitchFamily="34" charset="0"/>
                <a:ea typeface="Cambria" pitchFamily="34" charset="-122"/>
                <a:cs typeface="Cambria" pitchFamily="34" charset="-120"/>
              </a:rPr>
              <a:t>Evidence for renewable</a:t>
            </a:r>
            <a:endParaRPr lang="en-US" sz="4200" dirty="0"/>
          </a:p>
          <a:p>
            <a:pPr indent="0" marL="0">
              <a:lnSpc>
                <a:spcPts val="4400"/>
              </a:lnSpc>
              <a:buNone/>
            </a:pPr>
            <a:r>
              <a:rPr lang="en-US" sz="4200" b="1" dirty="0">
                <a:solidFill>
                  <a:srgbClr val="FFFFFF"/>
                </a:solidFill>
                <a:latin typeface="Cambria" pitchFamily="34" charset="0"/>
                <a:ea typeface="Cambria" pitchFamily="34" charset="-122"/>
                <a:cs typeface="Cambria" pitchFamily="34" charset="-120"/>
              </a:rPr>
              <a:t>energy transactions</a:t>
            </a:r>
            <a:endParaRPr lang="en-US" sz="4200" dirty="0"/>
          </a:p>
        </p:txBody>
      </p:sp>
      <p:sp>
        <p:nvSpPr>
          <p:cNvPr id="6" name="Text 4"/>
          <p:cNvSpPr/>
          <p:nvPr/>
        </p:nvSpPr>
        <p:spPr>
          <a:xfrm>
            <a:off x="777240" y="4206240"/>
            <a:ext cx="8046720" cy="822960"/>
          </a:xfrm>
          <a:prstGeom prst="rect">
            <a:avLst/>
          </a:prstGeom>
          <a:noFill/>
          <a:ln/>
        </p:spPr>
        <p:txBody>
          <a:bodyPr wrap="square" lIns="0" tIns="0" rIns="0" bIns="0" rtlCol="0" anchor="ctr"/>
          <a:lstStyle/>
          <a:p>
            <a:pPr indent="0" marL="0">
              <a:lnSpc>
                <a:spcPts val="2100"/>
              </a:lnSpc>
              <a:buNone/>
            </a:pPr>
            <a:r>
              <a:rPr lang="en-US" sz="1450" dirty="0">
                <a:solidFill>
                  <a:srgbClr val="8FA3B8"/>
                </a:solidFill>
                <a:latin typeface="Calibri" pitchFamily="34" charset="0"/>
                <a:ea typeface="Calibri" pitchFamily="34" charset="-122"/>
                <a:cs typeface="Calibri" pitchFamily="34" charset="-120"/>
              </a:rPr>
              <a:t>Independent, data-derived answers on asset performance, valuation and offtake risk — for diligence, procurement and financing decisions.</a:t>
            </a:r>
            <a:endParaRPr lang="en-US" sz="1450" dirty="0"/>
          </a:p>
        </p:txBody>
      </p:sp>
      <p:sp>
        <p:nvSpPr>
          <p:cNvPr id="7" name="Text 5"/>
          <p:cNvSpPr/>
          <p:nvPr/>
        </p:nvSpPr>
        <p:spPr>
          <a:xfrm>
            <a:off x="777240" y="5806440"/>
            <a:ext cx="8229600" cy="32004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Grid Intelligence Platform   ·   ERCOT · CAISO · PJM · Alberta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F59E0B"/>
                </a:solidFill>
                <a:latin typeface="Calibri" pitchFamily="34" charset="0"/>
                <a:ea typeface="Calibri" pitchFamily="34" charset="-122"/>
                <a:cs typeface="Calibri" pitchFamily="34" charset="-120"/>
              </a:rPr>
              <a:t>THE DILIGENCE PROBLEM</a:t>
            </a:r>
            <a:endParaRPr lang="en-US" sz="1200" dirty="0"/>
          </a:p>
        </p:txBody>
      </p:sp>
      <p:sp>
        <p:nvSpPr>
          <p:cNvPr id="3" name="Text 1"/>
          <p:cNvSpPr/>
          <p:nvPr/>
        </p:nvSpPr>
        <p:spPr>
          <a:xfrm>
            <a:off x="640080" y="475488"/>
            <a:ext cx="10881360" cy="777240"/>
          </a:xfrm>
          <a:prstGeom prst="rect">
            <a:avLst/>
          </a:prstGeom>
          <a:noFill/>
          <a:ln/>
        </p:spPr>
        <p:txBody>
          <a:bodyPr wrap="square" lIns="0" tIns="0" rIns="0" bIns="0" rtlCol="0" anchor="ctr"/>
          <a:lstStyle/>
          <a:p>
            <a:pPr algn="l" indent="0" marL="0">
              <a:buNone/>
            </a:pPr>
            <a:r>
              <a:rPr lang="en-US" sz="3700" b="1" dirty="0">
                <a:solidFill>
                  <a:srgbClr val="16232F"/>
                </a:solidFill>
                <a:latin typeface="Cambria" pitchFamily="34" charset="0"/>
                <a:ea typeface="Cambria" pitchFamily="34" charset="-122"/>
                <a:cs typeface="Cambria" pitchFamily="34" charset="-120"/>
              </a:rPr>
              <a:t>Value turns on the least-verified numbers</a:t>
            </a:r>
            <a:endParaRPr lang="en-US" sz="3700" dirty="0"/>
          </a:p>
        </p:txBody>
      </p:sp>
      <p:sp>
        <p:nvSpPr>
          <p:cNvPr id="4" name="Shape 2"/>
          <p:cNvSpPr/>
          <p:nvPr/>
        </p:nvSpPr>
        <p:spPr>
          <a:xfrm>
            <a:off x="640080" y="1600200"/>
            <a:ext cx="11155680" cy="1143000"/>
          </a:xfrm>
          <a:prstGeom prst="roundRect">
            <a:avLst>
              <a:gd name="adj" fmla="val 6400"/>
            </a:avLst>
          </a:prstGeom>
          <a:solidFill>
            <a:srgbClr val="0F1B2D"/>
          </a:solidFill>
          <a:ln w="12700">
            <a:solidFill>
              <a:srgbClr val="0F1B2D"/>
            </a:solidFill>
            <a:prstDash val="solid"/>
          </a:ln>
        </p:spPr>
      </p:sp>
      <p:sp>
        <p:nvSpPr>
          <p:cNvPr id="5" name="Text 3"/>
          <p:cNvSpPr/>
          <p:nvPr/>
        </p:nvSpPr>
        <p:spPr>
          <a:xfrm>
            <a:off x="960120" y="1810512"/>
            <a:ext cx="10515600" cy="777240"/>
          </a:xfrm>
          <a:prstGeom prst="rect">
            <a:avLst/>
          </a:prstGeom>
          <a:noFill/>
          <a:ln/>
        </p:spPr>
        <p:txBody>
          <a:bodyPr wrap="square" lIns="0" tIns="0" rIns="0" bIns="0" rtlCol="0" anchor="ctr"/>
          <a:lstStyle/>
          <a:p>
            <a:pPr indent="0" marL="0">
              <a:lnSpc>
                <a:spcPts val="1900"/>
              </a:lnSpc>
              <a:buNone/>
            </a:pPr>
            <a:r>
              <a:rPr lang="en-US" sz="1350" dirty="0">
                <a:solidFill>
                  <a:srgbClr val="C9D6E2"/>
                </a:solidFill>
                <a:latin typeface="Calibri" pitchFamily="34" charset="0"/>
                <a:ea typeface="Calibri" pitchFamily="34" charset="-122"/>
                <a:cs typeface="Calibri" pitchFamily="34" charset="-120"/>
              </a:rPr>
              <a:t>In a renewable asset transaction, value turns on three numbers: how much the asset generates, what price that generation captures, and what the offtake contract does to both. All three are typically taken from the vendor's model.</a:t>
            </a:r>
            <a:endParaRPr lang="en-US" sz="1350" dirty="0"/>
          </a:p>
        </p:txBody>
      </p:sp>
      <p:sp>
        <p:nvSpPr>
          <p:cNvPr id="6" name="Shape 4"/>
          <p:cNvSpPr/>
          <p:nvPr/>
        </p:nvSpPr>
        <p:spPr>
          <a:xfrm>
            <a:off x="640080" y="2971800"/>
            <a:ext cx="5349240" cy="1417320"/>
          </a:xfrm>
          <a:prstGeom prst="roundRect">
            <a:avLst>
              <a:gd name="adj" fmla="val 5161"/>
            </a:avLst>
          </a:prstGeom>
          <a:solidFill>
            <a:srgbClr val="F4F6F8"/>
          </a:solidFill>
          <a:ln w="12700">
            <a:solidFill>
              <a:srgbClr val="E3E8EE"/>
            </a:solidFill>
            <a:prstDash val="solid"/>
          </a:ln>
        </p:spPr>
      </p:sp>
      <p:sp>
        <p:nvSpPr>
          <p:cNvPr id="7" name="Shape 5"/>
          <p:cNvSpPr/>
          <p:nvPr/>
        </p:nvSpPr>
        <p:spPr>
          <a:xfrm>
            <a:off x="932688" y="3227832"/>
            <a:ext cx="365760" cy="365760"/>
          </a:xfrm>
          <a:prstGeom prst="ellipse">
            <a:avLst/>
          </a:prstGeom>
          <a:solidFill>
            <a:srgbClr val="14B8A6"/>
          </a:solidFill>
          <a:ln w="12700">
            <a:solidFill>
              <a:srgbClr val="14B8A6"/>
            </a:solidFill>
            <a:prstDash val="solid"/>
          </a:ln>
        </p:spPr>
      </p:sp>
      <p:sp>
        <p:nvSpPr>
          <p:cNvPr id="8" name="Text 6"/>
          <p:cNvSpPr/>
          <p:nvPr/>
        </p:nvSpPr>
        <p:spPr>
          <a:xfrm>
            <a:off x="1444752" y="3191256"/>
            <a:ext cx="4297680" cy="292608"/>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Capacity factor</a:t>
            </a:r>
            <a:endParaRPr lang="en-US" sz="1600" dirty="0"/>
          </a:p>
        </p:txBody>
      </p:sp>
      <p:sp>
        <p:nvSpPr>
          <p:cNvPr id="9" name="Text 7"/>
          <p:cNvSpPr/>
          <p:nvPr/>
        </p:nvSpPr>
        <p:spPr>
          <a:xfrm>
            <a:off x="950976" y="3593592"/>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Quoted from a P50 yield study produced at financing, not from what the asset has actually metered since.</a:t>
            </a:r>
            <a:endParaRPr lang="en-US" sz="1150" dirty="0"/>
          </a:p>
        </p:txBody>
      </p:sp>
      <p:sp>
        <p:nvSpPr>
          <p:cNvPr id="10" name="Shape 8"/>
          <p:cNvSpPr/>
          <p:nvPr/>
        </p:nvSpPr>
        <p:spPr>
          <a:xfrm>
            <a:off x="6446520" y="2971800"/>
            <a:ext cx="5349240" cy="1417320"/>
          </a:xfrm>
          <a:prstGeom prst="roundRect">
            <a:avLst>
              <a:gd name="adj" fmla="val 5161"/>
            </a:avLst>
          </a:prstGeom>
          <a:solidFill>
            <a:srgbClr val="F4F6F8"/>
          </a:solidFill>
          <a:ln w="12700">
            <a:solidFill>
              <a:srgbClr val="E3E8EE"/>
            </a:solidFill>
            <a:prstDash val="solid"/>
          </a:ln>
        </p:spPr>
      </p:sp>
      <p:sp>
        <p:nvSpPr>
          <p:cNvPr id="11" name="Shape 9"/>
          <p:cNvSpPr/>
          <p:nvPr/>
        </p:nvSpPr>
        <p:spPr>
          <a:xfrm>
            <a:off x="6739128" y="3227832"/>
            <a:ext cx="365760" cy="365760"/>
          </a:xfrm>
          <a:prstGeom prst="ellipse">
            <a:avLst/>
          </a:prstGeom>
          <a:solidFill>
            <a:srgbClr val="14B8A6"/>
          </a:solidFill>
          <a:ln w="12700">
            <a:solidFill>
              <a:srgbClr val="14B8A6"/>
            </a:solidFill>
            <a:prstDash val="solid"/>
          </a:ln>
        </p:spPr>
      </p:sp>
      <p:sp>
        <p:nvSpPr>
          <p:cNvPr id="12" name="Text 10"/>
          <p:cNvSpPr/>
          <p:nvPr/>
        </p:nvSpPr>
        <p:spPr>
          <a:xfrm>
            <a:off x="7251192" y="3191256"/>
            <a:ext cx="4297680" cy="292608"/>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Capture price</a:t>
            </a:r>
            <a:endParaRPr lang="en-US" sz="1600" dirty="0"/>
          </a:p>
        </p:txBody>
      </p:sp>
      <p:sp>
        <p:nvSpPr>
          <p:cNvPr id="13" name="Text 11"/>
          <p:cNvSpPr/>
          <p:nvPr/>
        </p:nvSpPr>
        <p:spPr>
          <a:xfrm>
            <a:off x="6757416" y="3593592"/>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Often assumed equal to the average market price. For wind that assumption can be wrong by half.</a:t>
            </a:r>
            <a:endParaRPr lang="en-US" sz="1150" dirty="0"/>
          </a:p>
        </p:txBody>
      </p:sp>
      <p:sp>
        <p:nvSpPr>
          <p:cNvPr id="14" name="Shape 12"/>
          <p:cNvSpPr/>
          <p:nvPr/>
        </p:nvSpPr>
        <p:spPr>
          <a:xfrm>
            <a:off x="640080" y="4572000"/>
            <a:ext cx="5349240" cy="1417320"/>
          </a:xfrm>
          <a:prstGeom prst="roundRect">
            <a:avLst>
              <a:gd name="adj" fmla="val 5161"/>
            </a:avLst>
          </a:prstGeom>
          <a:solidFill>
            <a:srgbClr val="F4F6F8"/>
          </a:solidFill>
          <a:ln w="12700">
            <a:solidFill>
              <a:srgbClr val="E3E8EE"/>
            </a:solidFill>
            <a:prstDash val="solid"/>
          </a:ln>
        </p:spPr>
      </p:sp>
      <p:sp>
        <p:nvSpPr>
          <p:cNvPr id="15" name="Shape 13"/>
          <p:cNvSpPr/>
          <p:nvPr/>
        </p:nvSpPr>
        <p:spPr>
          <a:xfrm>
            <a:off x="932688" y="4828032"/>
            <a:ext cx="365760" cy="365760"/>
          </a:xfrm>
          <a:prstGeom prst="ellipse">
            <a:avLst/>
          </a:prstGeom>
          <a:solidFill>
            <a:srgbClr val="F59E0B"/>
          </a:solidFill>
          <a:ln w="12700">
            <a:solidFill>
              <a:srgbClr val="F59E0B"/>
            </a:solidFill>
            <a:prstDash val="solid"/>
          </a:ln>
        </p:spPr>
      </p:sp>
      <p:sp>
        <p:nvSpPr>
          <p:cNvPr id="16" name="Text 14"/>
          <p:cNvSpPr/>
          <p:nvPr/>
        </p:nvSpPr>
        <p:spPr>
          <a:xfrm>
            <a:off x="1444752" y="4791456"/>
            <a:ext cx="4297680" cy="292608"/>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Curtailment</a:t>
            </a:r>
            <a:endParaRPr lang="en-US" sz="1600" dirty="0"/>
          </a:p>
        </p:txBody>
      </p:sp>
      <p:sp>
        <p:nvSpPr>
          <p:cNvPr id="17" name="Text 15"/>
          <p:cNvSpPr/>
          <p:nvPr/>
        </p:nvSpPr>
        <p:spPr>
          <a:xfrm>
            <a:off x="950976" y="5193792"/>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Frequently modelled as zero or a flat percentage, with no link to the asset's location or the constraint history around it.</a:t>
            </a:r>
            <a:endParaRPr lang="en-US" sz="1150" dirty="0"/>
          </a:p>
        </p:txBody>
      </p:sp>
      <p:sp>
        <p:nvSpPr>
          <p:cNvPr id="18" name="Shape 16"/>
          <p:cNvSpPr/>
          <p:nvPr/>
        </p:nvSpPr>
        <p:spPr>
          <a:xfrm>
            <a:off x="6446520" y="4572000"/>
            <a:ext cx="5349240" cy="1417320"/>
          </a:xfrm>
          <a:prstGeom prst="roundRect">
            <a:avLst>
              <a:gd name="adj" fmla="val 5161"/>
            </a:avLst>
          </a:prstGeom>
          <a:solidFill>
            <a:srgbClr val="F4F6F8"/>
          </a:solidFill>
          <a:ln w="12700">
            <a:solidFill>
              <a:srgbClr val="E3E8EE"/>
            </a:solidFill>
            <a:prstDash val="solid"/>
          </a:ln>
        </p:spPr>
      </p:sp>
      <p:sp>
        <p:nvSpPr>
          <p:cNvPr id="19" name="Shape 17"/>
          <p:cNvSpPr/>
          <p:nvPr/>
        </p:nvSpPr>
        <p:spPr>
          <a:xfrm>
            <a:off x="6739128" y="4828032"/>
            <a:ext cx="365760" cy="365760"/>
          </a:xfrm>
          <a:prstGeom prst="ellipse">
            <a:avLst/>
          </a:prstGeom>
          <a:solidFill>
            <a:srgbClr val="F59E0B"/>
          </a:solidFill>
          <a:ln w="12700">
            <a:solidFill>
              <a:srgbClr val="F59E0B"/>
            </a:solidFill>
            <a:prstDash val="solid"/>
          </a:ln>
        </p:spPr>
      </p:sp>
      <p:sp>
        <p:nvSpPr>
          <p:cNvPr id="20" name="Text 18"/>
          <p:cNvSpPr/>
          <p:nvPr/>
        </p:nvSpPr>
        <p:spPr>
          <a:xfrm>
            <a:off x="7251192" y="4791456"/>
            <a:ext cx="4297680" cy="292608"/>
          </a:xfrm>
          <a:prstGeom prst="rect">
            <a:avLst/>
          </a:prstGeom>
          <a:noFill/>
          <a:ln/>
        </p:spPr>
        <p:txBody>
          <a:bodyPr wrap="square" lIns="0" tIns="0" rIns="0" bIns="0" rtlCol="0" anchor="ctr"/>
          <a:lstStyle/>
          <a:p>
            <a:pPr indent="0" marL="0">
              <a:buNone/>
            </a:pPr>
            <a:r>
              <a:rPr lang="en-US" sz="1600" b="1" dirty="0">
                <a:solidFill>
                  <a:srgbClr val="16232F"/>
                </a:solidFill>
                <a:latin typeface="Cambria" pitchFamily="34" charset="0"/>
                <a:ea typeface="Cambria" pitchFamily="34" charset="-122"/>
                <a:cs typeface="Cambria" pitchFamily="34" charset="-120"/>
              </a:rPr>
              <a:t>Contract risk</a:t>
            </a:r>
            <a:endParaRPr lang="en-US" sz="1600" dirty="0"/>
          </a:p>
        </p:txBody>
      </p:sp>
      <p:sp>
        <p:nvSpPr>
          <p:cNvPr id="21" name="Text 19"/>
          <p:cNvSpPr/>
          <p:nvPr/>
        </p:nvSpPr>
        <p:spPr>
          <a:xfrm>
            <a:off x="6757416" y="5193792"/>
            <a:ext cx="4754880" cy="713232"/>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PPA and VPPA treated as interchangeable when their delivery, accounting and basis exposure differ materially.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F59E0B"/>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640080" y="475488"/>
            <a:ext cx="10881360" cy="777240"/>
          </a:xfrm>
          <a:prstGeom prst="rect">
            <a:avLst/>
          </a:prstGeom>
          <a:noFill/>
          <a:ln/>
        </p:spPr>
        <p:txBody>
          <a:bodyPr wrap="square" lIns="0" tIns="0" rIns="0" bIns="0" rtlCol="0" anchor="ctr"/>
          <a:lstStyle/>
          <a:p>
            <a:pPr algn="l" indent="0" marL="0">
              <a:buNone/>
            </a:pPr>
            <a:r>
              <a:rPr lang="en-US" sz="3700" b="1" dirty="0">
                <a:solidFill>
                  <a:srgbClr val="FFFFFF"/>
                </a:solidFill>
                <a:latin typeface="Cambria" pitchFamily="34" charset="0"/>
                <a:ea typeface="Cambria" pitchFamily="34" charset="-122"/>
                <a:cs typeface="Cambria" pitchFamily="34" charset="-120"/>
              </a:rPr>
              <a:t>Measured capture rates, Alberta fleet</a:t>
            </a:r>
            <a:endParaRPr lang="en-US" sz="3700" dirty="0"/>
          </a:p>
        </p:txBody>
      </p:sp>
      <p:sp>
        <p:nvSpPr>
          <p:cNvPr id="4" name="Text 2"/>
          <p:cNvSpPr/>
          <p:nvPr/>
        </p:nvSpPr>
        <p:spPr>
          <a:xfrm>
            <a:off x="640080" y="1325880"/>
            <a:ext cx="11155680" cy="457200"/>
          </a:xfrm>
          <a:prstGeom prst="rect">
            <a:avLst/>
          </a:prstGeom>
          <a:noFill/>
          <a:ln/>
        </p:spPr>
        <p:txBody>
          <a:bodyPr wrap="square" lIns="0" tIns="0" rIns="0" bIns="0" rtlCol="0" anchor="ctr"/>
          <a:lstStyle/>
          <a:p>
            <a:pPr indent="0" marL="0">
              <a:lnSpc>
                <a:spcPts val="1700"/>
              </a:lnSpc>
              <a:buNone/>
            </a:pPr>
            <a:r>
              <a:rPr lang="en-US" sz="1250" dirty="0">
                <a:solidFill>
                  <a:srgbClr val="8FA3B8"/>
                </a:solidFill>
                <a:latin typeface="Calibri" pitchFamily="34" charset="0"/>
                <a:ea typeface="Calibri" pitchFamily="34" charset="-122"/>
                <a:cs typeface="Calibri" pitchFamily="34" charset="-120"/>
              </a:rPr>
              <a:t>Generation-weighted price each fuel actually earned, against the hour-weighted system average. Trailing twelve months, from 14.9 million metered generator records.</a:t>
            </a:r>
            <a:endParaRPr lang="en-US" sz="1250" dirty="0"/>
          </a:p>
        </p:txBody>
      </p:sp>
      <p:graphicFrame>
        <p:nvGraphicFramePr>
          <p:cNvPr id="5" name="Chart 0" descr=""/>
          <p:cNvGraphicFramePr/>
          <p:nvPr/>
        </p:nvGraphicFramePr>
        <p:xfrm>
          <a:off x="640080" y="1920240"/>
          <a:ext cx="6858000" cy="37490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1920240"/>
            <a:ext cx="4023360" cy="1783080"/>
          </a:xfrm>
          <a:prstGeom prst="roundRect">
            <a:avLst>
              <a:gd name="adj" fmla="val 4103"/>
            </a:avLst>
          </a:prstGeom>
          <a:solidFill>
            <a:srgbClr val="3A1F1F"/>
          </a:solidFill>
          <a:ln w="12700">
            <a:solidFill>
              <a:srgbClr val="6B3535"/>
            </a:solidFill>
            <a:prstDash val="solid"/>
          </a:ln>
        </p:spPr>
      </p:sp>
      <p:sp>
        <p:nvSpPr>
          <p:cNvPr id="7" name="Text 4"/>
          <p:cNvSpPr/>
          <p:nvPr/>
        </p:nvSpPr>
        <p:spPr>
          <a:xfrm>
            <a:off x="8092440" y="2121408"/>
            <a:ext cx="3474720" cy="365760"/>
          </a:xfrm>
          <a:prstGeom prst="rect">
            <a:avLst/>
          </a:prstGeom>
          <a:noFill/>
          <a:ln/>
        </p:spPr>
        <p:txBody>
          <a:bodyPr wrap="square" lIns="0" tIns="0" rIns="0" bIns="0" rtlCol="0" anchor="ctr"/>
          <a:lstStyle/>
          <a:p>
            <a:pPr indent="0" marL="0">
              <a:buNone/>
            </a:pPr>
            <a:r>
              <a:rPr lang="en-US" sz="2100" b="1" dirty="0">
                <a:solidFill>
                  <a:srgbClr val="F2B8B5"/>
                </a:solidFill>
                <a:latin typeface="Cambria" pitchFamily="34" charset="0"/>
                <a:ea typeface="Cambria" pitchFamily="34" charset="-122"/>
                <a:cs typeface="Cambria" pitchFamily="34" charset="-120"/>
              </a:rPr>
              <a:t>Wind earns 48.7%</a:t>
            </a:r>
            <a:endParaRPr lang="en-US" sz="2100" dirty="0"/>
          </a:p>
        </p:txBody>
      </p:sp>
      <p:sp>
        <p:nvSpPr>
          <p:cNvPr id="8" name="Text 5"/>
          <p:cNvSpPr/>
          <p:nvPr/>
        </p:nvSpPr>
        <p:spPr>
          <a:xfrm>
            <a:off x="8092440" y="2578608"/>
            <a:ext cx="3429000" cy="1005840"/>
          </a:xfrm>
          <a:prstGeom prst="rect">
            <a:avLst/>
          </a:prstGeom>
          <a:noFill/>
          <a:ln/>
        </p:spPr>
        <p:txBody>
          <a:bodyPr wrap="square" lIns="0" tIns="0" rIns="0" bIns="0" rtlCol="0" anchor="ctr"/>
          <a:lstStyle/>
          <a:p>
            <a:pPr indent="0" marL="0">
              <a:lnSpc>
                <a:spcPts val="1500"/>
              </a:lnSpc>
              <a:buNone/>
            </a:pPr>
            <a:r>
              <a:rPr lang="en-US" sz="1150" dirty="0">
                <a:solidFill>
                  <a:srgbClr val="E8C9C7"/>
                </a:solidFill>
                <a:latin typeface="Calibri" pitchFamily="34" charset="0"/>
                <a:ea typeface="Calibri" pitchFamily="34" charset="-122"/>
                <a:cs typeface="Calibri" pitchFamily="34" charset="-120"/>
              </a:rPr>
              <a:t>Less than half the system average price. A model that assumes wind captures the average price overstates revenue by roughly a factor of two.</a:t>
            </a:r>
            <a:endParaRPr lang="en-US" sz="1150" dirty="0"/>
          </a:p>
        </p:txBody>
      </p:sp>
      <p:sp>
        <p:nvSpPr>
          <p:cNvPr id="9" name="Shape 6"/>
          <p:cNvSpPr/>
          <p:nvPr/>
        </p:nvSpPr>
        <p:spPr>
          <a:xfrm>
            <a:off x="7772400" y="3886200"/>
            <a:ext cx="4023360" cy="1783080"/>
          </a:xfrm>
          <a:prstGeom prst="roundRect">
            <a:avLst>
              <a:gd name="adj" fmla="val 4103"/>
            </a:avLst>
          </a:prstGeom>
          <a:solidFill>
            <a:srgbClr val="1B2B44"/>
          </a:solidFill>
          <a:ln w="12700">
            <a:solidFill>
              <a:srgbClr val="24374F"/>
            </a:solidFill>
            <a:prstDash val="solid"/>
          </a:ln>
        </p:spPr>
      </p:sp>
      <p:sp>
        <p:nvSpPr>
          <p:cNvPr id="10" name="Text 7"/>
          <p:cNvSpPr/>
          <p:nvPr/>
        </p:nvSpPr>
        <p:spPr>
          <a:xfrm>
            <a:off x="8092440" y="4087368"/>
            <a:ext cx="3474720" cy="320040"/>
          </a:xfrm>
          <a:prstGeom prst="rect">
            <a:avLst/>
          </a:prstGeom>
          <a:noFill/>
          <a:ln/>
        </p:spPr>
        <p:txBody>
          <a:bodyPr wrap="square" lIns="0" tIns="0" rIns="0" bIns="0" rtlCol="0" anchor="ctr"/>
          <a:lstStyle/>
          <a:p>
            <a:pPr indent="0" marL="0">
              <a:buNone/>
            </a:pPr>
            <a:r>
              <a:rPr lang="en-US" sz="1800" b="1" dirty="0">
                <a:solidFill>
                  <a:srgbClr val="14B8A6"/>
                </a:solidFill>
                <a:latin typeface="Cambria" pitchFamily="34" charset="0"/>
                <a:ea typeface="Cambria" pitchFamily="34" charset="-122"/>
                <a:cs typeface="Cambria" pitchFamily="34" charset="-120"/>
              </a:rPr>
              <a:t>This is measured</a:t>
            </a:r>
            <a:endParaRPr lang="en-US" sz="1800" dirty="0"/>
          </a:p>
        </p:txBody>
      </p:sp>
      <p:sp>
        <p:nvSpPr>
          <p:cNvPr id="11" name="Text 8"/>
          <p:cNvSpPr/>
          <p:nvPr/>
        </p:nvSpPr>
        <p:spPr>
          <a:xfrm>
            <a:off x="8092440" y="4498848"/>
            <a:ext cx="3429000" cy="1051560"/>
          </a:xfrm>
          <a:prstGeom prst="rect">
            <a:avLst/>
          </a:prstGeom>
          <a:noFill/>
          <a:ln/>
        </p:spPr>
        <p:txBody>
          <a:bodyPr wrap="square" lIns="0" tIns="0" rIns="0" bIns="0" rtlCol="0" anchor="ctr"/>
          <a:lstStyle/>
          <a:p>
            <a:pPr indent="0" marL="0">
              <a:lnSpc>
                <a:spcPts val="1500"/>
              </a:lnSpc>
              <a:buNone/>
            </a:pPr>
            <a:r>
              <a:rPr lang="en-US" sz="1150" dirty="0">
                <a:solidFill>
                  <a:srgbClr val="8FA3B8"/>
                </a:solidFill>
                <a:latin typeface="Calibri" pitchFamily="34" charset="0"/>
                <a:ea typeface="Calibri" pitchFamily="34" charset="-122"/>
                <a:cs typeface="Calibri" pitchFamily="34" charset="-120"/>
              </a:rPr>
              <a:t>Not modelled, not benchmarked. Each figure is that fuel's own settled output against its own settled price, computed from public AESO data.</a:t>
            </a:r>
            <a:endParaRPr lang="en-US" sz="1150" dirty="0"/>
          </a:p>
        </p:txBody>
      </p:sp>
      <p:sp>
        <p:nvSpPr>
          <p:cNvPr id="12" name="Text 9"/>
          <p:cNvSpPr/>
          <p:nvPr/>
        </p:nvSpPr>
        <p:spPr>
          <a:xfrm>
            <a:off x="640080" y="5852160"/>
            <a:ext cx="11155680" cy="411480"/>
          </a:xfrm>
          <a:prstGeom prst="rect">
            <a:avLst/>
          </a:prstGeom>
          <a:noFill/>
          <a:ln/>
        </p:spPr>
        <p:txBody>
          <a:bodyPr wrap="square" lIns="0" tIns="0" rIns="0" bIns="0" rtlCol="0" anchor="ctr"/>
          <a:lstStyle/>
          <a:p>
            <a:pPr indent="0" marL="0">
              <a:buNone/>
            </a:pPr>
            <a:r>
              <a:rPr lang="en-US" sz="1100" i="1" dirty="0">
                <a:solidFill>
                  <a:srgbClr val="8FA3B8"/>
                </a:solidFill>
                <a:latin typeface="Calibri" pitchFamily="34" charset="0"/>
                <a:ea typeface="Calibri" pitchFamily="34" charset="-122"/>
                <a:cs typeface="Calibri" pitchFamily="34" charset="-120"/>
              </a:rPr>
              <a:t>Cogeneration and storage carry stated caveats: cogen output is metered net-to-grid, and storage revenue is largely reserve rather than energy.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14B8A6"/>
                </a:solidFill>
                <a:latin typeface="Calibri" pitchFamily="34" charset="0"/>
                <a:ea typeface="Calibri" pitchFamily="34" charset="-122"/>
                <a:cs typeface="Calibri" pitchFamily="34" charset="-120"/>
              </a:rPr>
              <a:t>CAPABILITIES</a:t>
            </a:r>
            <a:endParaRPr lang="en-US" sz="1200" dirty="0"/>
          </a:p>
        </p:txBody>
      </p:sp>
      <p:sp>
        <p:nvSpPr>
          <p:cNvPr id="3" name="Text 1"/>
          <p:cNvSpPr/>
          <p:nvPr/>
        </p:nvSpPr>
        <p:spPr>
          <a:xfrm>
            <a:off x="640080" y="475488"/>
            <a:ext cx="10881360" cy="777240"/>
          </a:xfrm>
          <a:prstGeom prst="rect">
            <a:avLst/>
          </a:prstGeom>
          <a:noFill/>
          <a:ln/>
        </p:spPr>
        <p:txBody>
          <a:bodyPr wrap="square" lIns="0" tIns="0" rIns="0" bIns="0" rtlCol="0" anchor="ctr"/>
          <a:lstStyle/>
          <a:p>
            <a:pPr algn="l" indent="0" marL="0">
              <a:buNone/>
            </a:pPr>
            <a:r>
              <a:rPr lang="en-US" sz="3700" b="1" dirty="0">
                <a:solidFill>
                  <a:srgbClr val="16232F"/>
                </a:solidFill>
                <a:latin typeface="Cambria" pitchFamily="34" charset="0"/>
                <a:ea typeface="Cambria" pitchFamily="34" charset="-122"/>
                <a:cs typeface="Cambria" pitchFamily="34" charset="-120"/>
              </a:rPr>
              <a:t>Four questions the platform answers</a:t>
            </a:r>
            <a:endParaRPr lang="en-US" sz="3700" dirty="0"/>
          </a:p>
        </p:txBody>
      </p:sp>
      <p:sp>
        <p:nvSpPr>
          <p:cNvPr id="4" name="Shape 2"/>
          <p:cNvSpPr/>
          <p:nvPr/>
        </p:nvSpPr>
        <p:spPr>
          <a:xfrm>
            <a:off x="640080" y="1600200"/>
            <a:ext cx="11155680" cy="1097280"/>
          </a:xfrm>
          <a:prstGeom prst="roundRect">
            <a:avLst>
              <a:gd name="adj" fmla="val 5833"/>
            </a:avLst>
          </a:prstGeom>
          <a:solidFill>
            <a:srgbClr val="F4F6F8"/>
          </a:solidFill>
          <a:ln w="12700">
            <a:solidFill>
              <a:srgbClr val="E3E8EE"/>
            </a:solidFill>
            <a:prstDash val="solid"/>
          </a:ln>
        </p:spPr>
      </p:sp>
      <p:sp>
        <p:nvSpPr>
          <p:cNvPr id="5" name="Text 3"/>
          <p:cNvSpPr/>
          <p:nvPr/>
        </p:nvSpPr>
        <p:spPr>
          <a:xfrm>
            <a:off x="914400" y="1892808"/>
            <a:ext cx="868680" cy="502920"/>
          </a:xfrm>
          <a:prstGeom prst="rect">
            <a:avLst/>
          </a:prstGeom>
          <a:noFill/>
          <a:ln/>
        </p:spPr>
        <p:txBody>
          <a:bodyPr wrap="square" lIns="0" tIns="0" rIns="0" bIns="0" rtlCol="0" anchor="ctr"/>
          <a:lstStyle/>
          <a:p>
            <a:pPr indent="0" marL="0">
              <a:buNone/>
            </a:pPr>
            <a:r>
              <a:rPr lang="en-US" sz="2600" b="1" dirty="0">
                <a:solidFill>
                  <a:srgbClr val="14B8A6"/>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874520" y="1764792"/>
            <a:ext cx="4206240" cy="777240"/>
          </a:xfrm>
          <a:prstGeom prst="rect">
            <a:avLst/>
          </a:prstGeom>
          <a:noFill/>
          <a:ln/>
        </p:spPr>
        <p:txBody>
          <a:bodyPr wrap="square" lIns="0" tIns="0" rIns="0" bIns="0" rtlCol="0" anchor="ctr"/>
          <a:lstStyle/>
          <a:p>
            <a:pPr indent="0" marL="0">
              <a:lnSpc>
                <a:spcPts val="1900"/>
              </a:lnSpc>
              <a:buNone/>
            </a:pPr>
            <a:r>
              <a:rPr lang="en-US" sz="1600" b="1" dirty="0">
                <a:solidFill>
                  <a:srgbClr val="16232F"/>
                </a:solidFill>
                <a:latin typeface="Cambria" pitchFamily="34" charset="0"/>
                <a:ea typeface="Cambria" pitchFamily="34" charset="-122"/>
                <a:cs typeface="Cambria" pitchFamily="34" charset="-120"/>
              </a:rPr>
              <a:t>How has the asset actually performed?</a:t>
            </a:r>
            <a:endParaRPr lang="en-US" sz="1600" dirty="0"/>
          </a:p>
        </p:txBody>
      </p:sp>
      <p:sp>
        <p:nvSpPr>
          <p:cNvPr id="7" name="Text 5"/>
          <p:cNvSpPr/>
          <p:nvPr/>
        </p:nvSpPr>
        <p:spPr>
          <a:xfrm>
            <a:off x="6309360" y="1783080"/>
            <a:ext cx="5257800" cy="77724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Capacity factor and capture rate computed from the asset's own metered output — generation-weighted, capacity-hour weighted, aggregated correctly over any window.</a:t>
            </a:r>
            <a:endParaRPr lang="en-US" sz="1150" dirty="0"/>
          </a:p>
        </p:txBody>
      </p:sp>
      <p:sp>
        <p:nvSpPr>
          <p:cNvPr id="8" name="Shape 6"/>
          <p:cNvSpPr/>
          <p:nvPr/>
        </p:nvSpPr>
        <p:spPr>
          <a:xfrm>
            <a:off x="640080" y="2807208"/>
            <a:ext cx="11155680" cy="1097280"/>
          </a:xfrm>
          <a:prstGeom prst="roundRect">
            <a:avLst>
              <a:gd name="adj" fmla="val 5833"/>
            </a:avLst>
          </a:prstGeom>
          <a:solidFill>
            <a:srgbClr val="F4F6F8"/>
          </a:solidFill>
          <a:ln w="12700">
            <a:solidFill>
              <a:srgbClr val="E3E8EE"/>
            </a:solidFill>
            <a:prstDash val="solid"/>
          </a:ln>
        </p:spPr>
      </p:sp>
      <p:sp>
        <p:nvSpPr>
          <p:cNvPr id="9" name="Text 7"/>
          <p:cNvSpPr/>
          <p:nvPr/>
        </p:nvSpPr>
        <p:spPr>
          <a:xfrm>
            <a:off x="914400" y="3099816"/>
            <a:ext cx="868680" cy="502920"/>
          </a:xfrm>
          <a:prstGeom prst="rect">
            <a:avLst/>
          </a:prstGeom>
          <a:noFill/>
          <a:ln/>
        </p:spPr>
        <p:txBody>
          <a:bodyPr wrap="square" lIns="0" tIns="0" rIns="0" bIns="0" rtlCol="0" anchor="ctr"/>
          <a:lstStyle/>
          <a:p>
            <a:pPr indent="0" marL="0">
              <a:buNone/>
            </a:pPr>
            <a:r>
              <a:rPr lang="en-US" sz="2600" b="1" dirty="0">
                <a:solidFill>
                  <a:srgbClr val="14B8A6"/>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1874520" y="2971800"/>
            <a:ext cx="4206240" cy="777240"/>
          </a:xfrm>
          <a:prstGeom prst="rect">
            <a:avLst/>
          </a:prstGeom>
          <a:noFill/>
          <a:ln/>
        </p:spPr>
        <p:txBody>
          <a:bodyPr wrap="square" lIns="0" tIns="0" rIns="0" bIns="0" rtlCol="0" anchor="ctr"/>
          <a:lstStyle/>
          <a:p>
            <a:pPr indent="0" marL="0">
              <a:lnSpc>
                <a:spcPts val="1900"/>
              </a:lnSpc>
              <a:buNone/>
            </a:pPr>
            <a:r>
              <a:rPr lang="en-US" sz="1600" b="1" dirty="0">
                <a:solidFill>
                  <a:srgbClr val="16232F"/>
                </a:solidFill>
                <a:latin typeface="Cambria" pitchFamily="34" charset="0"/>
                <a:ea typeface="Cambria" pitchFamily="34" charset="-122"/>
                <a:cs typeface="Cambria" pitchFamily="34" charset="-120"/>
              </a:rPr>
              <a:t>What is it worth?</a:t>
            </a:r>
            <a:endParaRPr lang="en-US" sz="1600" dirty="0"/>
          </a:p>
        </p:txBody>
      </p:sp>
      <p:sp>
        <p:nvSpPr>
          <p:cNvPr id="11" name="Text 9"/>
          <p:cNvSpPr/>
          <p:nvPr/>
        </p:nvSpPr>
        <p:spPr>
          <a:xfrm>
            <a:off x="6309360" y="2990088"/>
            <a:ext cx="5257800" cy="77724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Discounted cash flow against a real forward power and gas curve rather than a flat price, with capital cost benchmarks, incentive treatment and sensitivity analysis.</a:t>
            </a:r>
            <a:endParaRPr lang="en-US" sz="1150" dirty="0"/>
          </a:p>
        </p:txBody>
      </p:sp>
      <p:sp>
        <p:nvSpPr>
          <p:cNvPr id="12" name="Shape 10"/>
          <p:cNvSpPr/>
          <p:nvPr/>
        </p:nvSpPr>
        <p:spPr>
          <a:xfrm>
            <a:off x="640080" y="4014216"/>
            <a:ext cx="11155680" cy="1097280"/>
          </a:xfrm>
          <a:prstGeom prst="roundRect">
            <a:avLst>
              <a:gd name="adj" fmla="val 5833"/>
            </a:avLst>
          </a:prstGeom>
          <a:solidFill>
            <a:srgbClr val="F4F6F8"/>
          </a:solidFill>
          <a:ln w="12700">
            <a:solidFill>
              <a:srgbClr val="E3E8EE"/>
            </a:solidFill>
            <a:prstDash val="solid"/>
          </a:ln>
        </p:spPr>
      </p:sp>
      <p:sp>
        <p:nvSpPr>
          <p:cNvPr id="13" name="Text 11"/>
          <p:cNvSpPr/>
          <p:nvPr/>
        </p:nvSpPr>
        <p:spPr>
          <a:xfrm>
            <a:off x="914400" y="4306824"/>
            <a:ext cx="868680" cy="502920"/>
          </a:xfrm>
          <a:prstGeom prst="rect">
            <a:avLst/>
          </a:prstGeom>
          <a:noFill/>
          <a:ln/>
        </p:spPr>
        <p:txBody>
          <a:bodyPr wrap="square" lIns="0" tIns="0" rIns="0" bIns="0" rtlCol="0" anchor="ctr"/>
          <a:lstStyle/>
          <a:p>
            <a:pPr indent="0" marL="0">
              <a:buNone/>
            </a:pPr>
            <a:r>
              <a:rPr lang="en-US" sz="2600" b="1" dirty="0">
                <a:solidFill>
                  <a:srgbClr val="F59E0B"/>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1874520" y="4178808"/>
            <a:ext cx="4206240" cy="777240"/>
          </a:xfrm>
          <a:prstGeom prst="rect">
            <a:avLst/>
          </a:prstGeom>
          <a:noFill/>
          <a:ln/>
        </p:spPr>
        <p:txBody>
          <a:bodyPr wrap="square" lIns="0" tIns="0" rIns="0" bIns="0" rtlCol="0" anchor="ctr"/>
          <a:lstStyle/>
          <a:p>
            <a:pPr indent="0" marL="0">
              <a:lnSpc>
                <a:spcPts val="1900"/>
              </a:lnSpc>
              <a:buNone/>
            </a:pPr>
            <a:r>
              <a:rPr lang="en-US" sz="1600" b="1" dirty="0">
                <a:solidFill>
                  <a:srgbClr val="16232F"/>
                </a:solidFill>
                <a:latin typeface="Cambria" pitchFamily="34" charset="0"/>
                <a:ea typeface="Cambria" pitchFamily="34" charset="-122"/>
                <a:cs typeface="Cambria" pitchFamily="34" charset="-120"/>
              </a:rPr>
              <a:t>What does the contract do to that?</a:t>
            </a:r>
            <a:endParaRPr lang="en-US" sz="1600" dirty="0"/>
          </a:p>
        </p:txBody>
      </p:sp>
      <p:sp>
        <p:nvSpPr>
          <p:cNvPr id="15" name="Text 13"/>
          <p:cNvSpPr/>
          <p:nvPr/>
        </p:nvSpPr>
        <p:spPr>
          <a:xfrm>
            <a:off x="6309360" y="4197096"/>
            <a:ext cx="5257800" cy="77724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Physical PPA and virtual PPA modelled separately — delivery and curtailment allocation on one side, notional settlement and accounting treatment on the other.</a:t>
            </a:r>
            <a:endParaRPr lang="en-US" sz="1150" dirty="0"/>
          </a:p>
        </p:txBody>
      </p:sp>
      <p:sp>
        <p:nvSpPr>
          <p:cNvPr id="16" name="Shape 14"/>
          <p:cNvSpPr/>
          <p:nvPr/>
        </p:nvSpPr>
        <p:spPr>
          <a:xfrm>
            <a:off x="640080" y="5221224"/>
            <a:ext cx="11155680" cy="1097280"/>
          </a:xfrm>
          <a:prstGeom prst="roundRect">
            <a:avLst>
              <a:gd name="adj" fmla="val 5833"/>
            </a:avLst>
          </a:prstGeom>
          <a:solidFill>
            <a:srgbClr val="F4F6F8"/>
          </a:solidFill>
          <a:ln w="12700">
            <a:solidFill>
              <a:srgbClr val="E3E8EE"/>
            </a:solidFill>
            <a:prstDash val="solid"/>
          </a:ln>
        </p:spPr>
      </p:sp>
      <p:sp>
        <p:nvSpPr>
          <p:cNvPr id="17" name="Text 15"/>
          <p:cNvSpPr/>
          <p:nvPr/>
        </p:nvSpPr>
        <p:spPr>
          <a:xfrm>
            <a:off x="914400" y="5513832"/>
            <a:ext cx="868680" cy="502920"/>
          </a:xfrm>
          <a:prstGeom prst="rect">
            <a:avLst/>
          </a:prstGeom>
          <a:noFill/>
          <a:ln/>
        </p:spPr>
        <p:txBody>
          <a:bodyPr wrap="square" lIns="0" tIns="0" rIns="0" bIns="0" rtlCol="0" anchor="ctr"/>
          <a:lstStyle/>
          <a:p>
            <a:pPr indent="0" marL="0">
              <a:buNone/>
            </a:pPr>
            <a:r>
              <a:rPr lang="en-US" sz="2600" b="1" dirty="0">
                <a:solidFill>
                  <a:srgbClr val="F59E0B"/>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1874520" y="5385816"/>
            <a:ext cx="4206240" cy="777240"/>
          </a:xfrm>
          <a:prstGeom prst="rect">
            <a:avLst/>
          </a:prstGeom>
          <a:noFill/>
          <a:ln/>
        </p:spPr>
        <p:txBody>
          <a:bodyPr wrap="square" lIns="0" tIns="0" rIns="0" bIns="0" rtlCol="0" anchor="ctr"/>
          <a:lstStyle/>
          <a:p>
            <a:pPr indent="0" marL="0">
              <a:lnSpc>
                <a:spcPts val="1900"/>
              </a:lnSpc>
              <a:buNone/>
            </a:pPr>
            <a:r>
              <a:rPr lang="en-US" sz="1600" b="1" dirty="0">
                <a:solidFill>
                  <a:srgbClr val="16232F"/>
                </a:solidFill>
                <a:latin typeface="Cambria" pitchFamily="34" charset="0"/>
                <a:ea typeface="Cambria" pitchFamily="34" charset="-122"/>
                <a:cs typeface="Cambria" pitchFamily="34" charset="-120"/>
              </a:rPr>
              <a:t>Where is the grid risk?</a:t>
            </a:r>
            <a:endParaRPr lang="en-US" sz="1600" dirty="0"/>
          </a:p>
        </p:txBody>
      </p:sp>
      <p:sp>
        <p:nvSpPr>
          <p:cNvPr id="19" name="Text 17"/>
          <p:cNvSpPr/>
          <p:nvPr/>
        </p:nvSpPr>
        <p:spPr>
          <a:xfrm>
            <a:off x="6309360" y="5404104"/>
            <a:ext cx="5257800" cy="77724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Congestion and transmission constraint modelling, interconnection economics, and queue position for greenfield siting decisions.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F59E0B"/>
                </a:solidFill>
                <a:latin typeface="Calibri" pitchFamily="34" charset="0"/>
                <a:ea typeface="Calibri" pitchFamily="34" charset="-122"/>
                <a:cs typeface="Calibri" pitchFamily="34" charset="-120"/>
              </a:rPr>
              <a:t>A LIVE DECISION WINDOW</a:t>
            </a:r>
            <a:endParaRPr lang="en-US" sz="1200" dirty="0"/>
          </a:p>
        </p:txBody>
      </p:sp>
      <p:sp>
        <p:nvSpPr>
          <p:cNvPr id="3" name="Text 1"/>
          <p:cNvSpPr/>
          <p:nvPr/>
        </p:nvSpPr>
        <p:spPr>
          <a:xfrm>
            <a:off x="640080" y="475488"/>
            <a:ext cx="10881360" cy="777240"/>
          </a:xfrm>
          <a:prstGeom prst="rect">
            <a:avLst/>
          </a:prstGeom>
          <a:noFill/>
          <a:ln/>
        </p:spPr>
        <p:txBody>
          <a:bodyPr wrap="square" lIns="0" tIns="0" rIns="0" bIns="0" rtlCol="0" anchor="ctr"/>
          <a:lstStyle/>
          <a:p>
            <a:pPr algn="l" indent="0" marL="0">
              <a:buNone/>
            </a:pPr>
            <a:r>
              <a:rPr lang="en-US" sz="3700" b="1" dirty="0">
                <a:solidFill>
                  <a:srgbClr val="FFFFFF"/>
                </a:solidFill>
                <a:latin typeface="Cambria" pitchFamily="34" charset="0"/>
                <a:ea typeface="Cambria" pitchFamily="34" charset="-122"/>
                <a:cs typeface="Cambria" pitchFamily="34" charset="-120"/>
              </a:rPr>
              <a:t>Alberta's market changes in 2027</a:t>
            </a:r>
            <a:endParaRPr lang="en-US" sz="3700" dirty="0"/>
          </a:p>
        </p:txBody>
      </p:sp>
      <p:sp>
        <p:nvSpPr>
          <p:cNvPr id="4" name="Shape 2"/>
          <p:cNvSpPr/>
          <p:nvPr/>
        </p:nvSpPr>
        <p:spPr>
          <a:xfrm>
            <a:off x="640080" y="1508760"/>
            <a:ext cx="5394960" cy="2286000"/>
          </a:xfrm>
          <a:prstGeom prst="roundRect">
            <a:avLst>
              <a:gd name="adj" fmla="val 3200"/>
            </a:avLst>
          </a:prstGeom>
          <a:solidFill>
            <a:srgbClr val="1B2B44"/>
          </a:solidFill>
          <a:ln w="12700">
            <a:solidFill>
              <a:srgbClr val="24374F"/>
            </a:solidFill>
            <a:prstDash val="solid"/>
          </a:ln>
        </p:spPr>
      </p:sp>
      <p:sp>
        <p:nvSpPr>
          <p:cNvPr id="5" name="Text 3"/>
          <p:cNvSpPr/>
          <p:nvPr/>
        </p:nvSpPr>
        <p:spPr>
          <a:xfrm>
            <a:off x="960120" y="1719072"/>
            <a:ext cx="4754880" cy="320040"/>
          </a:xfrm>
          <a:prstGeom prst="rect">
            <a:avLst/>
          </a:prstGeom>
          <a:noFill/>
          <a:ln/>
        </p:spPr>
        <p:txBody>
          <a:bodyPr wrap="square" lIns="0" tIns="0" rIns="0" bIns="0" rtlCol="0" anchor="ctr"/>
          <a:lstStyle/>
          <a:p>
            <a:pPr indent="0" marL="0">
              <a:buNone/>
            </a:pPr>
            <a:r>
              <a:rPr lang="en-US" sz="2000" b="1" dirty="0">
                <a:solidFill>
                  <a:srgbClr val="14B8A6"/>
                </a:solidFill>
                <a:latin typeface="Cambria" pitchFamily="34" charset="0"/>
                <a:ea typeface="Cambria" pitchFamily="34" charset="-122"/>
                <a:cs typeface="Cambria" pitchFamily="34" charset="-120"/>
              </a:rPr>
              <a:t>Today</a:t>
            </a:r>
            <a:endParaRPr lang="en-US" sz="2000" dirty="0"/>
          </a:p>
        </p:txBody>
      </p:sp>
      <p:sp>
        <p:nvSpPr>
          <p:cNvPr id="6" name="Text 4"/>
          <p:cNvSpPr/>
          <p:nvPr/>
        </p:nvSpPr>
        <p:spPr>
          <a:xfrm>
            <a:off x="960120" y="2148840"/>
            <a:ext cx="4800600" cy="1051560"/>
          </a:xfrm>
          <a:prstGeom prst="rect">
            <a:avLst/>
          </a:prstGeom>
          <a:noFill/>
          <a:ln/>
        </p:spPr>
        <p:txBody>
          <a:bodyPr wrap="square" lIns="0" tIns="0" rIns="0" bIns="0" rtlCol="0" anchor="ctr"/>
          <a:lstStyle/>
          <a:p>
            <a:pPr indent="0" marL="0">
              <a:lnSpc>
                <a:spcPts val="1700"/>
              </a:lnSpc>
              <a:buNone/>
            </a:pPr>
            <a:r>
              <a:rPr lang="en-US" sz="1250" dirty="0">
                <a:solidFill>
                  <a:srgbClr val="8FA3B8"/>
                </a:solidFill>
                <a:latin typeface="Calibri" pitchFamily="34" charset="0"/>
                <a:ea typeface="Calibri" pitchFamily="34" charset="-122"/>
                <a:cs typeface="Calibri" pitchFamily="34" charset="-120"/>
              </a:rPr>
              <a:t>One province-wide pool price. A contract struck against that price carries no locational basis risk — the generator settles at the same number the contract references.</a:t>
            </a:r>
            <a:endParaRPr lang="en-US" sz="1250" dirty="0"/>
          </a:p>
        </p:txBody>
      </p:sp>
      <p:sp>
        <p:nvSpPr>
          <p:cNvPr id="7" name="Text 5"/>
          <p:cNvSpPr/>
          <p:nvPr/>
        </p:nvSpPr>
        <p:spPr>
          <a:xfrm>
            <a:off x="960120" y="3200400"/>
            <a:ext cx="4800600" cy="457200"/>
          </a:xfrm>
          <a:prstGeom prst="rect">
            <a:avLst/>
          </a:prstGeom>
          <a:noFill/>
          <a:ln/>
        </p:spPr>
        <p:txBody>
          <a:bodyPr wrap="square" lIns="0" tIns="0" rIns="0" bIns="0" rtlCol="0" anchor="ctr"/>
          <a:lstStyle/>
          <a:p>
            <a:pPr indent="0" marL="0">
              <a:lnSpc>
                <a:spcPts val="1600"/>
              </a:lnSpc>
              <a:buNone/>
            </a:pPr>
            <a:r>
              <a:rPr lang="en-US" sz="1200" b="1" i="1" dirty="0">
                <a:solidFill>
                  <a:srgbClr val="14B8A6"/>
                </a:solidFill>
                <a:latin typeface="Calibri" pitchFamily="34" charset="0"/>
                <a:ea typeface="Calibri" pitchFamily="34" charset="-122"/>
                <a:cs typeface="Calibri" pitchFamily="34" charset="-120"/>
              </a:rPr>
              <a:t>A structural advantage over an equivalent ERCOT contract.</a:t>
            </a:r>
            <a:endParaRPr lang="en-US" sz="1200" dirty="0"/>
          </a:p>
        </p:txBody>
      </p:sp>
      <p:sp>
        <p:nvSpPr>
          <p:cNvPr id="8" name="Shape 6"/>
          <p:cNvSpPr/>
          <p:nvPr/>
        </p:nvSpPr>
        <p:spPr>
          <a:xfrm>
            <a:off x="6400800" y="1508760"/>
            <a:ext cx="5394960" cy="2286000"/>
          </a:xfrm>
          <a:prstGeom prst="roundRect">
            <a:avLst>
              <a:gd name="adj" fmla="val 3200"/>
            </a:avLst>
          </a:prstGeom>
          <a:solidFill>
            <a:srgbClr val="3A2A16"/>
          </a:solidFill>
          <a:ln w="12700">
            <a:solidFill>
              <a:srgbClr val="6B5020"/>
            </a:solidFill>
            <a:prstDash val="solid"/>
          </a:ln>
        </p:spPr>
      </p:sp>
      <p:sp>
        <p:nvSpPr>
          <p:cNvPr id="9" name="Text 7"/>
          <p:cNvSpPr/>
          <p:nvPr/>
        </p:nvSpPr>
        <p:spPr>
          <a:xfrm>
            <a:off x="6720840" y="1719072"/>
            <a:ext cx="4754880" cy="320040"/>
          </a:xfrm>
          <a:prstGeom prst="rect">
            <a:avLst/>
          </a:prstGeom>
          <a:noFill/>
          <a:ln/>
        </p:spPr>
        <p:txBody>
          <a:bodyPr wrap="square" lIns="0" tIns="0" rIns="0" bIns="0" rtlCol="0" anchor="ctr"/>
          <a:lstStyle/>
          <a:p>
            <a:pPr indent="0" marL="0">
              <a:buNone/>
            </a:pPr>
            <a:r>
              <a:rPr lang="en-US" sz="2000" b="1" dirty="0">
                <a:solidFill>
                  <a:srgbClr val="F59E0B"/>
                </a:solidFill>
                <a:latin typeface="Cambria" pitchFamily="34" charset="0"/>
                <a:ea typeface="Cambria" pitchFamily="34" charset="-122"/>
                <a:cs typeface="Cambria" pitchFamily="34" charset="-120"/>
              </a:rPr>
              <a:t>From mid-2027</a:t>
            </a:r>
            <a:endParaRPr lang="en-US" sz="2000" dirty="0"/>
          </a:p>
        </p:txBody>
      </p:sp>
      <p:sp>
        <p:nvSpPr>
          <p:cNvPr id="10" name="Text 8"/>
          <p:cNvSpPr/>
          <p:nvPr/>
        </p:nvSpPr>
        <p:spPr>
          <a:xfrm>
            <a:off x="6720840" y="2148840"/>
            <a:ext cx="4800600" cy="1188720"/>
          </a:xfrm>
          <a:prstGeom prst="rect">
            <a:avLst/>
          </a:prstGeom>
          <a:noFill/>
          <a:ln/>
        </p:spPr>
        <p:txBody>
          <a:bodyPr wrap="square" lIns="0" tIns="0" rIns="0" bIns="0" rtlCol="0" anchor="ctr"/>
          <a:lstStyle/>
          <a:p>
            <a:pPr indent="0" marL="0">
              <a:lnSpc>
                <a:spcPts val="1700"/>
              </a:lnSpc>
              <a:buNone/>
            </a:pPr>
            <a:r>
              <a:rPr lang="en-US" sz="1250" dirty="0">
                <a:solidFill>
                  <a:srgbClr val="F0C98A"/>
                </a:solidFill>
                <a:latin typeface="Calibri" pitchFamily="34" charset="0"/>
                <a:ea typeface="Calibri" pitchFamily="34" charset="-122"/>
                <a:cs typeface="Calibri" pitchFamily="34" charset="-120"/>
              </a:rPr>
              <a:t>Nodal pricing arrives with the Restructured Energy Market. Generators settle at their own node while contracts reference something else — and Alberta inherits the basis risk ERCOT has today.</a:t>
            </a:r>
            <a:endParaRPr lang="en-US" sz="1250" dirty="0"/>
          </a:p>
        </p:txBody>
      </p:sp>
      <p:sp>
        <p:nvSpPr>
          <p:cNvPr id="11" name="Shape 9"/>
          <p:cNvSpPr/>
          <p:nvPr/>
        </p:nvSpPr>
        <p:spPr>
          <a:xfrm>
            <a:off x="640080" y="4023360"/>
            <a:ext cx="11155680" cy="1600200"/>
          </a:xfrm>
          <a:prstGeom prst="roundRect">
            <a:avLst>
              <a:gd name="adj" fmla="val 4571"/>
            </a:avLst>
          </a:prstGeom>
          <a:solidFill>
            <a:srgbClr val="1B2B44"/>
          </a:solidFill>
          <a:ln w="12700">
            <a:solidFill>
              <a:srgbClr val="14B8A6"/>
            </a:solidFill>
            <a:prstDash val="solid"/>
          </a:ln>
        </p:spPr>
      </p:sp>
      <p:sp>
        <p:nvSpPr>
          <p:cNvPr id="12" name="Text 10"/>
          <p:cNvSpPr/>
          <p:nvPr/>
        </p:nvSpPr>
        <p:spPr>
          <a:xfrm>
            <a:off x="960120" y="4224528"/>
            <a:ext cx="10515600" cy="292608"/>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Why this is commercially urgent</a:t>
            </a:r>
            <a:endParaRPr lang="en-US" sz="1300" dirty="0"/>
          </a:p>
        </p:txBody>
      </p:sp>
      <p:sp>
        <p:nvSpPr>
          <p:cNvPr id="13" name="Text 11"/>
          <p:cNvSpPr/>
          <p:nvPr/>
        </p:nvSpPr>
        <p:spPr>
          <a:xfrm>
            <a:off x="960120" y="4572000"/>
            <a:ext cx="10515600" cy="914400"/>
          </a:xfrm>
          <a:prstGeom prst="rect">
            <a:avLst/>
          </a:prstGeom>
          <a:noFill/>
          <a:ln/>
        </p:spPr>
        <p:txBody>
          <a:bodyPr wrap="square" lIns="0" tIns="0" rIns="0" bIns="0" rtlCol="0" anchor="ctr"/>
          <a:lstStyle/>
          <a:p>
            <a:pPr indent="0" marL="0">
              <a:lnSpc>
                <a:spcPts val="1700"/>
              </a:lnSpc>
              <a:buNone/>
            </a:pPr>
            <a:r>
              <a:rPr lang="en-US" sz="1250" dirty="0">
                <a:solidFill>
                  <a:srgbClr val="8FA3B8"/>
                </a:solidFill>
                <a:latin typeface="Calibri" pitchFamily="34" charset="0"/>
                <a:ea typeface="Calibri" pitchFamily="34" charset="-122"/>
                <a:cs typeface="Calibri" pitchFamily="34" charset="-120"/>
              </a:rPr>
              <a:t>Any Alberta offtake signed now with a term beyond 2027 crosses that boundary. The platform counts how many contract years fall after the transition and flags the exposure explicitly — and states plainly that it cannot yet price it, because no Alberta nodal price scenarios exist. Naming an unpriced risk is a defensible position; assuming it away is not.</a:t>
            </a:r>
            <a:endParaRPr lang="en-US" sz="1250" dirty="0"/>
          </a:p>
        </p:txBody>
      </p:sp>
      <p:sp>
        <p:nvSpPr>
          <p:cNvPr id="14" name="Text 12"/>
          <p:cNvSpPr/>
          <p:nvPr/>
        </p:nvSpPr>
        <p:spPr>
          <a:xfrm>
            <a:off x="640080" y="5897880"/>
            <a:ext cx="11155680" cy="411480"/>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Every corporate PPA, asset acquisition and refinancing in Alberta with a post-2027 tail is affected.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14B8A6"/>
                </a:solidFill>
                <a:latin typeface="Calibri" pitchFamily="34" charset="0"/>
                <a:ea typeface="Calibri" pitchFamily="34" charset="-122"/>
                <a:cs typeface="Calibri" pitchFamily="34" charset="-120"/>
              </a:rPr>
              <a:t>DEAL LIFECYCLE</a:t>
            </a:r>
            <a:endParaRPr lang="en-US" sz="1200" dirty="0"/>
          </a:p>
        </p:txBody>
      </p:sp>
      <p:sp>
        <p:nvSpPr>
          <p:cNvPr id="3" name="Text 1"/>
          <p:cNvSpPr/>
          <p:nvPr/>
        </p:nvSpPr>
        <p:spPr>
          <a:xfrm>
            <a:off x="640080" y="475488"/>
            <a:ext cx="10881360" cy="777240"/>
          </a:xfrm>
          <a:prstGeom prst="rect">
            <a:avLst/>
          </a:prstGeom>
          <a:noFill/>
          <a:ln/>
        </p:spPr>
        <p:txBody>
          <a:bodyPr wrap="square" lIns="0" tIns="0" rIns="0" bIns="0" rtlCol="0" anchor="ctr"/>
          <a:lstStyle/>
          <a:p>
            <a:pPr algn="l" indent="0" marL="0">
              <a:buNone/>
            </a:pPr>
            <a:r>
              <a:rPr lang="en-US" sz="3700" b="1" dirty="0">
                <a:solidFill>
                  <a:srgbClr val="16232F"/>
                </a:solidFill>
                <a:latin typeface="Cambria" pitchFamily="34" charset="0"/>
                <a:ea typeface="Cambria" pitchFamily="34" charset="-122"/>
                <a:cs typeface="Cambria" pitchFamily="34" charset="-120"/>
              </a:rPr>
              <a:t>Where the platform is used</a:t>
            </a:r>
            <a:endParaRPr lang="en-US" sz="3700" dirty="0"/>
          </a:p>
        </p:txBody>
      </p:sp>
      <p:sp>
        <p:nvSpPr>
          <p:cNvPr id="4" name="Shape 2"/>
          <p:cNvSpPr/>
          <p:nvPr/>
        </p:nvSpPr>
        <p:spPr>
          <a:xfrm>
            <a:off x="640080" y="1645920"/>
            <a:ext cx="2606040" cy="3017520"/>
          </a:xfrm>
          <a:prstGeom prst="roundRect">
            <a:avLst>
              <a:gd name="adj" fmla="val 2807"/>
            </a:avLst>
          </a:prstGeom>
          <a:solidFill>
            <a:srgbClr val="F4F6F8"/>
          </a:solidFill>
          <a:ln w="12700">
            <a:solidFill>
              <a:srgbClr val="E3E8EE"/>
            </a:solidFill>
            <a:prstDash val="solid"/>
          </a:ln>
        </p:spPr>
      </p:sp>
      <p:sp>
        <p:nvSpPr>
          <p:cNvPr id="5" name="Shape 3"/>
          <p:cNvSpPr/>
          <p:nvPr/>
        </p:nvSpPr>
        <p:spPr>
          <a:xfrm>
            <a:off x="896112" y="1901952"/>
            <a:ext cx="402336" cy="402336"/>
          </a:xfrm>
          <a:prstGeom prst="ellipse">
            <a:avLst/>
          </a:prstGeom>
          <a:solidFill>
            <a:srgbClr val="14B8A6"/>
          </a:solidFill>
          <a:ln w="12700">
            <a:solidFill>
              <a:srgbClr val="14B8A6"/>
            </a:solidFill>
            <a:prstDash val="solid"/>
          </a:ln>
        </p:spPr>
      </p:sp>
      <p:sp>
        <p:nvSpPr>
          <p:cNvPr id="6" name="Text 4"/>
          <p:cNvSpPr/>
          <p:nvPr/>
        </p:nvSpPr>
        <p:spPr>
          <a:xfrm>
            <a:off x="896112" y="19019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96112" y="2450592"/>
            <a:ext cx="2148840" cy="320040"/>
          </a:xfrm>
          <a:prstGeom prst="rect">
            <a:avLst/>
          </a:prstGeom>
          <a:noFill/>
          <a:ln/>
        </p:spPr>
        <p:txBody>
          <a:bodyPr wrap="square" lIns="0" tIns="0" rIns="0" bIns="0" rtlCol="0" anchor="ctr"/>
          <a:lstStyle/>
          <a:p>
            <a:pPr indent="0" marL="0">
              <a:buNone/>
            </a:pPr>
            <a:r>
              <a:rPr lang="en-US" sz="1700" b="1" dirty="0">
                <a:solidFill>
                  <a:srgbClr val="16232F"/>
                </a:solidFill>
                <a:latin typeface="Cambria" pitchFamily="34" charset="0"/>
                <a:ea typeface="Cambria" pitchFamily="34" charset="-122"/>
                <a:cs typeface="Cambria" pitchFamily="34" charset="-120"/>
              </a:rPr>
              <a:t>Screening</a:t>
            </a:r>
            <a:endParaRPr lang="en-US" sz="1700" dirty="0"/>
          </a:p>
        </p:txBody>
      </p:sp>
      <p:sp>
        <p:nvSpPr>
          <p:cNvPr id="8" name="Text 6"/>
          <p:cNvSpPr/>
          <p:nvPr/>
        </p:nvSpPr>
        <p:spPr>
          <a:xfrm>
            <a:off x="896112" y="2852928"/>
            <a:ext cx="2148840" cy="164592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Rank a market or a portfolio on comparable risk dimensions. Narrow a long list before committing diligence hours.</a:t>
            </a:r>
            <a:endParaRPr lang="en-US" sz="1150" dirty="0"/>
          </a:p>
        </p:txBody>
      </p:sp>
      <p:sp>
        <p:nvSpPr>
          <p:cNvPr id="9" name="Shape 7"/>
          <p:cNvSpPr/>
          <p:nvPr/>
        </p:nvSpPr>
        <p:spPr>
          <a:xfrm>
            <a:off x="3493008" y="1645920"/>
            <a:ext cx="2606040" cy="3017520"/>
          </a:xfrm>
          <a:prstGeom prst="roundRect">
            <a:avLst>
              <a:gd name="adj" fmla="val 2807"/>
            </a:avLst>
          </a:prstGeom>
          <a:solidFill>
            <a:srgbClr val="F4F6F8"/>
          </a:solidFill>
          <a:ln w="12700">
            <a:solidFill>
              <a:srgbClr val="E3E8EE"/>
            </a:solidFill>
            <a:prstDash val="solid"/>
          </a:ln>
        </p:spPr>
      </p:sp>
      <p:sp>
        <p:nvSpPr>
          <p:cNvPr id="10" name="Shape 8"/>
          <p:cNvSpPr/>
          <p:nvPr/>
        </p:nvSpPr>
        <p:spPr>
          <a:xfrm>
            <a:off x="3749040" y="1901952"/>
            <a:ext cx="402336" cy="402336"/>
          </a:xfrm>
          <a:prstGeom prst="ellipse">
            <a:avLst/>
          </a:prstGeom>
          <a:solidFill>
            <a:srgbClr val="14B8A6"/>
          </a:solidFill>
          <a:ln w="12700">
            <a:solidFill>
              <a:srgbClr val="14B8A6"/>
            </a:solidFill>
            <a:prstDash val="solid"/>
          </a:ln>
        </p:spPr>
      </p:sp>
      <p:sp>
        <p:nvSpPr>
          <p:cNvPr id="11" name="Text 9"/>
          <p:cNvSpPr/>
          <p:nvPr/>
        </p:nvSpPr>
        <p:spPr>
          <a:xfrm>
            <a:off x="3749040" y="19019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749040" y="2450592"/>
            <a:ext cx="2148840" cy="320040"/>
          </a:xfrm>
          <a:prstGeom prst="rect">
            <a:avLst/>
          </a:prstGeom>
          <a:noFill/>
          <a:ln/>
        </p:spPr>
        <p:txBody>
          <a:bodyPr wrap="square" lIns="0" tIns="0" rIns="0" bIns="0" rtlCol="0" anchor="ctr"/>
          <a:lstStyle/>
          <a:p>
            <a:pPr indent="0" marL="0">
              <a:buNone/>
            </a:pPr>
            <a:r>
              <a:rPr lang="en-US" sz="1700" b="1" dirty="0">
                <a:solidFill>
                  <a:srgbClr val="16232F"/>
                </a:solidFill>
                <a:latin typeface="Cambria" pitchFamily="34" charset="0"/>
                <a:ea typeface="Cambria" pitchFamily="34" charset="-122"/>
                <a:cs typeface="Cambria" pitchFamily="34" charset="-120"/>
              </a:rPr>
              <a:t>Diligence</a:t>
            </a:r>
            <a:endParaRPr lang="en-US" sz="1700" dirty="0"/>
          </a:p>
        </p:txBody>
      </p:sp>
      <p:sp>
        <p:nvSpPr>
          <p:cNvPr id="13" name="Text 11"/>
          <p:cNvSpPr/>
          <p:nvPr/>
        </p:nvSpPr>
        <p:spPr>
          <a:xfrm>
            <a:off x="3749040" y="2852928"/>
            <a:ext cx="2148840" cy="164592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Independent performance evidence to test the vendor model. Capture rate, capacity factor and curtailment from settled data.</a:t>
            </a:r>
            <a:endParaRPr lang="en-US" sz="1150" dirty="0"/>
          </a:p>
        </p:txBody>
      </p:sp>
      <p:sp>
        <p:nvSpPr>
          <p:cNvPr id="14" name="Shape 12"/>
          <p:cNvSpPr/>
          <p:nvPr/>
        </p:nvSpPr>
        <p:spPr>
          <a:xfrm>
            <a:off x="6345936" y="1645920"/>
            <a:ext cx="2606040" cy="3017520"/>
          </a:xfrm>
          <a:prstGeom prst="roundRect">
            <a:avLst>
              <a:gd name="adj" fmla="val 2807"/>
            </a:avLst>
          </a:prstGeom>
          <a:solidFill>
            <a:srgbClr val="F4F6F8"/>
          </a:solidFill>
          <a:ln w="12700">
            <a:solidFill>
              <a:srgbClr val="E3E8EE"/>
            </a:solidFill>
            <a:prstDash val="solid"/>
          </a:ln>
        </p:spPr>
      </p:sp>
      <p:sp>
        <p:nvSpPr>
          <p:cNvPr id="15" name="Shape 13"/>
          <p:cNvSpPr/>
          <p:nvPr/>
        </p:nvSpPr>
        <p:spPr>
          <a:xfrm>
            <a:off x="6601968" y="1901952"/>
            <a:ext cx="402336" cy="402336"/>
          </a:xfrm>
          <a:prstGeom prst="ellipse">
            <a:avLst/>
          </a:prstGeom>
          <a:solidFill>
            <a:srgbClr val="F59E0B"/>
          </a:solidFill>
          <a:ln w="12700">
            <a:solidFill>
              <a:srgbClr val="F59E0B"/>
            </a:solidFill>
            <a:prstDash val="solid"/>
          </a:ln>
        </p:spPr>
      </p:sp>
      <p:sp>
        <p:nvSpPr>
          <p:cNvPr id="16" name="Text 14"/>
          <p:cNvSpPr/>
          <p:nvPr/>
        </p:nvSpPr>
        <p:spPr>
          <a:xfrm>
            <a:off x="6601968" y="19019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601968" y="2450592"/>
            <a:ext cx="2148840" cy="320040"/>
          </a:xfrm>
          <a:prstGeom prst="rect">
            <a:avLst/>
          </a:prstGeom>
          <a:noFill/>
          <a:ln/>
        </p:spPr>
        <p:txBody>
          <a:bodyPr wrap="square" lIns="0" tIns="0" rIns="0" bIns="0" rtlCol="0" anchor="ctr"/>
          <a:lstStyle/>
          <a:p>
            <a:pPr indent="0" marL="0">
              <a:buNone/>
            </a:pPr>
            <a:r>
              <a:rPr lang="en-US" sz="1700" b="1" dirty="0">
                <a:solidFill>
                  <a:srgbClr val="16232F"/>
                </a:solidFill>
                <a:latin typeface="Cambria" pitchFamily="34" charset="0"/>
                <a:ea typeface="Cambria" pitchFamily="34" charset="-122"/>
                <a:cs typeface="Cambria" pitchFamily="34" charset="-120"/>
              </a:rPr>
              <a:t>Structuring</a:t>
            </a:r>
            <a:endParaRPr lang="en-US" sz="1700" dirty="0"/>
          </a:p>
        </p:txBody>
      </p:sp>
      <p:sp>
        <p:nvSpPr>
          <p:cNvPr id="18" name="Text 16"/>
          <p:cNvSpPr/>
          <p:nvPr/>
        </p:nvSpPr>
        <p:spPr>
          <a:xfrm>
            <a:off x="6601968" y="2852928"/>
            <a:ext cx="2148840" cy="164592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Price the offtake. Compare physical against virtual, allocate curtailment, quantify the post-2027 basis tail.</a:t>
            </a:r>
            <a:endParaRPr lang="en-US" sz="1150" dirty="0"/>
          </a:p>
        </p:txBody>
      </p:sp>
      <p:sp>
        <p:nvSpPr>
          <p:cNvPr id="19" name="Shape 17"/>
          <p:cNvSpPr/>
          <p:nvPr/>
        </p:nvSpPr>
        <p:spPr>
          <a:xfrm>
            <a:off x="9198864" y="1645920"/>
            <a:ext cx="2606040" cy="3017520"/>
          </a:xfrm>
          <a:prstGeom prst="roundRect">
            <a:avLst>
              <a:gd name="adj" fmla="val 2807"/>
            </a:avLst>
          </a:prstGeom>
          <a:solidFill>
            <a:srgbClr val="F4F6F8"/>
          </a:solidFill>
          <a:ln w="12700">
            <a:solidFill>
              <a:srgbClr val="E3E8EE"/>
            </a:solidFill>
            <a:prstDash val="solid"/>
          </a:ln>
        </p:spPr>
      </p:sp>
      <p:sp>
        <p:nvSpPr>
          <p:cNvPr id="20" name="Shape 18"/>
          <p:cNvSpPr/>
          <p:nvPr/>
        </p:nvSpPr>
        <p:spPr>
          <a:xfrm>
            <a:off x="9454896" y="1901952"/>
            <a:ext cx="402336" cy="402336"/>
          </a:xfrm>
          <a:prstGeom prst="ellipse">
            <a:avLst/>
          </a:prstGeom>
          <a:solidFill>
            <a:srgbClr val="F59E0B"/>
          </a:solidFill>
          <a:ln w="12700">
            <a:solidFill>
              <a:srgbClr val="F59E0B"/>
            </a:solidFill>
            <a:prstDash val="solid"/>
          </a:ln>
        </p:spPr>
      </p:sp>
      <p:sp>
        <p:nvSpPr>
          <p:cNvPr id="21" name="Text 19"/>
          <p:cNvSpPr/>
          <p:nvPr/>
        </p:nvSpPr>
        <p:spPr>
          <a:xfrm>
            <a:off x="9454896" y="19019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454896" y="2450592"/>
            <a:ext cx="2148840" cy="320040"/>
          </a:xfrm>
          <a:prstGeom prst="rect">
            <a:avLst/>
          </a:prstGeom>
          <a:noFill/>
          <a:ln/>
        </p:spPr>
        <p:txBody>
          <a:bodyPr wrap="square" lIns="0" tIns="0" rIns="0" bIns="0" rtlCol="0" anchor="ctr"/>
          <a:lstStyle/>
          <a:p>
            <a:pPr indent="0" marL="0">
              <a:buNone/>
            </a:pPr>
            <a:r>
              <a:rPr lang="en-US" sz="1700" b="1" dirty="0">
                <a:solidFill>
                  <a:srgbClr val="16232F"/>
                </a:solidFill>
                <a:latin typeface="Cambria" pitchFamily="34" charset="0"/>
                <a:ea typeface="Cambria" pitchFamily="34" charset="-122"/>
                <a:cs typeface="Cambria" pitchFamily="34" charset="-120"/>
              </a:rPr>
              <a:t>Financing</a:t>
            </a:r>
            <a:endParaRPr lang="en-US" sz="1700" dirty="0"/>
          </a:p>
        </p:txBody>
      </p:sp>
      <p:sp>
        <p:nvSpPr>
          <p:cNvPr id="23" name="Text 21"/>
          <p:cNvSpPr/>
          <p:nvPr/>
        </p:nvSpPr>
        <p:spPr>
          <a:xfrm>
            <a:off x="9454896" y="2852928"/>
            <a:ext cx="2148840" cy="164592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Valuation under a real forward curve with documented sensitivities — supporting lender and investment committee review.</a:t>
            </a:r>
            <a:endParaRPr lang="en-US" sz="1150" dirty="0"/>
          </a:p>
        </p:txBody>
      </p:sp>
      <p:sp>
        <p:nvSpPr>
          <p:cNvPr id="24" name="Shape 22"/>
          <p:cNvSpPr/>
          <p:nvPr/>
        </p:nvSpPr>
        <p:spPr>
          <a:xfrm>
            <a:off x="640080" y="4892040"/>
            <a:ext cx="11155680" cy="1371600"/>
          </a:xfrm>
          <a:prstGeom prst="roundRect">
            <a:avLst>
              <a:gd name="adj" fmla="val 5333"/>
            </a:avLst>
          </a:prstGeom>
          <a:solidFill>
            <a:srgbClr val="0F1B2D"/>
          </a:solidFill>
          <a:ln w="12700">
            <a:solidFill>
              <a:srgbClr val="0F1B2D"/>
            </a:solidFill>
            <a:prstDash val="solid"/>
          </a:ln>
        </p:spPr>
      </p:sp>
      <p:sp>
        <p:nvSpPr>
          <p:cNvPr id="25" name="Text 23"/>
          <p:cNvSpPr/>
          <p:nvPr/>
        </p:nvSpPr>
        <p:spPr>
          <a:xfrm>
            <a:off x="960120" y="5074920"/>
            <a:ext cx="10515600" cy="292608"/>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The same evidence base, four times</a:t>
            </a:r>
            <a:endParaRPr lang="en-US" sz="1300" dirty="0"/>
          </a:p>
        </p:txBody>
      </p:sp>
      <p:sp>
        <p:nvSpPr>
          <p:cNvPr id="26" name="Text 24"/>
          <p:cNvSpPr/>
          <p:nvPr/>
        </p:nvSpPr>
        <p:spPr>
          <a:xfrm>
            <a:off x="960120" y="5413248"/>
            <a:ext cx="10515600" cy="731520"/>
          </a:xfrm>
          <a:prstGeom prst="rect">
            <a:avLst/>
          </a:prstGeom>
          <a:noFill/>
          <a:ln/>
        </p:spPr>
        <p:txBody>
          <a:bodyPr wrap="square" lIns="0" tIns="0" rIns="0" bIns="0" rtlCol="0" anchor="ctr"/>
          <a:lstStyle/>
          <a:p>
            <a:pPr indent="0" marL="0">
              <a:lnSpc>
                <a:spcPts val="1700"/>
              </a:lnSpc>
              <a:buNone/>
            </a:pPr>
            <a:r>
              <a:rPr lang="en-US" sz="1250" dirty="0">
                <a:solidFill>
                  <a:srgbClr val="8FA3B8"/>
                </a:solidFill>
                <a:latin typeface="Calibri" pitchFamily="34" charset="0"/>
                <a:ea typeface="Calibri" pitchFamily="34" charset="-122"/>
                <a:cs typeface="Calibri" pitchFamily="34" charset="-120"/>
              </a:rPr>
              <a:t>One ingestion pipeline and one metrics layer serve all four stages. Work done at screening is not rebuilt at diligence, and the valuation at financing rests on the same measured figures the deal team saw on day one — which is also what makes it auditable.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F59E0B"/>
                </a:solidFill>
                <a:latin typeface="Calibri" pitchFamily="34" charset="0"/>
                <a:ea typeface="Calibri" pitchFamily="34" charset="-122"/>
                <a:cs typeface="Calibri" pitchFamily="34" charset="-120"/>
              </a:rPr>
              <a:t>COMMERCIAL MODEL</a:t>
            </a:r>
            <a:endParaRPr lang="en-US" sz="1200" dirty="0"/>
          </a:p>
        </p:txBody>
      </p:sp>
      <p:sp>
        <p:nvSpPr>
          <p:cNvPr id="3" name="Text 1"/>
          <p:cNvSpPr/>
          <p:nvPr/>
        </p:nvSpPr>
        <p:spPr>
          <a:xfrm>
            <a:off x="640080" y="475488"/>
            <a:ext cx="10881360" cy="777240"/>
          </a:xfrm>
          <a:prstGeom prst="rect">
            <a:avLst/>
          </a:prstGeom>
          <a:noFill/>
          <a:ln/>
        </p:spPr>
        <p:txBody>
          <a:bodyPr wrap="square" lIns="0" tIns="0" rIns="0" bIns="0" rtlCol="0" anchor="ctr"/>
          <a:lstStyle/>
          <a:p>
            <a:pPr algn="l" indent="0" marL="0">
              <a:buNone/>
            </a:pPr>
            <a:r>
              <a:rPr lang="en-US" sz="3700" b="1" dirty="0">
                <a:solidFill>
                  <a:srgbClr val="16232F"/>
                </a:solidFill>
                <a:latin typeface="Cambria" pitchFamily="34" charset="0"/>
                <a:ea typeface="Cambria" pitchFamily="34" charset="-122"/>
                <a:cs typeface="Cambria" pitchFamily="34" charset="-120"/>
              </a:rPr>
              <a:t>Four ways this generates revenue</a:t>
            </a:r>
            <a:endParaRPr lang="en-US" sz="3700" dirty="0"/>
          </a:p>
        </p:txBody>
      </p:sp>
      <p:sp>
        <p:nvSpPr>
          <p:cNvPr id="4" name="Shape 2"/>
          <p:cNvSpPr/>
          <p:nvPr/>
        </p:nvSpPr>
        <p:spPr>
          <a:xfrm>
            <a:off x="640080" y="1627632"/>
            <a:ext cx="5349240" cy="1920240"/>
          </a:xfrm>
          <a:prstGeom prst="roundRect">
            <a:avLst>
              <a:gd name="adj" fmla="val 3810"/>
            </a:avLst>
          </a:prstGeom>
          <a:solidFill>
            <a:srgbClr val="F4F6F8"/>
          </a:solidFill>
          <a:ln w="12700">
            <a:solidFill>
              <a:srgbClr val="E3E8EE"/>
            </a:solidFill>
            <a:prstDash val="solid"/>
          </a:ln>
        </p:spPr>
      </p:sp>
      <p:sp>
        <p:nvSpPr>
          <p:cNvPr id="5" name="Shape 3"/>
          <p:cNvSpPr/>
          <p:nvPr/>
        </p:nvSpPr>
        <p:spPr>
          <a:xfrm>
            <a:off x="932688" y="1901952"/>
            <a:ext cx="384048" cy="384048"/>
          </a:xfrm>
          <a:prstGeom prst="ellipse">
            <a:avLst/>
          </a:prstGeom>
          <a:solidFill>
            <a:srgbClr val="14B8A6"/>
          </a:solidFill>
          <a:ln w="12700">
            <a:solidFill>
              <a:srgbClr val="14B8A6"/>
            </a:solidFill>
            <a:prstDash val="solid"/>
          </a:ln>
        </p:spPr>
      </p:sp>
      <p:sp>
        <p:nvSpPr>
          <p:cNvPr id="6" name="Text 4"/>
          <p:cNvSpPr/>
          <p:nvPr/>
        </p:nvSpPr>
        <p:spPr>
          <a:xfrm>
            <a:off x="1444752" y="1865376"/>
            <a:ext cx="4297680" cy="292608"/>
          </a:xfrm>
          <a:prstGeom prst="rect">
            <a:avLst/>
          </a:prstGeom>
          <a:noFill/>
          <a:ln/>
        </p:spPr>
        <p:txBody>
          <a:bodyPr wrap="square" lIns="0" tIns="0" rIns="0" bIns="0" rtlCol="0" anchor="ctr"/>
          <a:lstStyle/>
          <a:p>
            <a:pPr indent="0" marL="0">
              <a:buNone/>
            </a:pPr>
            <a:r>
              <a:rPr lang="en-US" sz="1650" b="1" dirty="0">
                <a:solidFill>
                  <a:srgbClr val="16232F"/>
                </a:solidFill>
                <a:latin typeface="Cambria" pitchFamily="34" charset="0"/>
                <a:ea typeface="Cambria" pitchFamily="34" charset="-122"/>
                <a:cs typeface="Cambria" pitchFamily="34" charset="-120"/>
              </a:rPr>
              <a:t>Engagement accelerator</a:t>
            </a:r>
            <a:endParaRPr lang="en-US" sz="1650" dirty="0"/>
          </a:p>
        </p:txBody>
      </p:sp>
      <p:sp>
        <p:nvSpPr>
          <p:cNvPr id="7" name="Text 5"/>
          <p:cNvSpPr/>
          <p:nvPr/>
        </p:nvSpPr>
        <p:spPr>
          <a:xfrm>
            <a:off x="1444752" y="2176272"/>
            <a:ext cx="4297680" cy="237744"/>
          </a:xfrm>
          <a:prstGeom prst="rect">
            <a:avLst/>
          </a:prstGeom>
          <a:noFill/>
          <a:ln/>
        </p:spPr>
        <p:txBody>
          <a:bodyPr wrap="square" lIns="0" tIns="0" rIns="0" bIns="0" rtlCol="0" anchor="ctr"/>
          <a:lstStyle/>
          <a:p>
            <a:pPr indent="0" marL="0">
              <a:buNone/>
            </a:pPr>
            <a:r>
              <a:rPr lang="en-US" sz="950" b="1" spc="100" kern="0" dirty="0">
                <a:solidFill>
                  <a:srgbClr val="14B8A6"/>
                </a:solidFill>
                <a:latin typeface="Calibri" pitchFamily="34" charset="0"/>
                <a:ea typeface="Calibri" pitchFamily="34" charset="-122"/>
                <a:cs typeface="Calibri" pitchFamily="34" charset="-120"/>
              </a:rPr>
              <a:t>HIGHEST MARGIN IMPACT</a:t>
            </a:r>
            <a:endParaRPr lang="en-US" sz="950" dirty="0"/>
          </a:p>
        </p:txBody>
      </p:sp>
      <p:sp>
        <p:nvSpPr>
          <p:cNvPr id="8" name="Text 6"/>
          <p:cNvSpPr/>
          <p:nvPr/>
        </p:nvSpPr>
        <p:spPr>
          <a:xfrm>
            <a:off x="950976" y="2496312"/>
            <a:ext cx="4754880" cy="91440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Used internally on diligence and advisory mandates. Compresses analyst hours on data assembly and redirects them to judgment. Revenue effect is margin, not a new line item.</a:t>
            </a:r>
            <a:endParaRPr lang="en-US" sz="1150" dirty="0"/>
          </a:p>
        </p:txBody>
      </p:sp>
      <p:sp>
        <p:nvSpPr>
          <p:cNvPr id="9" name="Shape 7"/>
          <p:cNvSpPr/>
          <p:nvPr/>
        </p:nvSpPr>
        <p:spPr>
          <a:xfrm>
            <a:off x="6446520" y="1627632"/>
            <a:ext cx="5349240" cy="1920240"/>
          </a:xfrm>
          <a:prstGeom prst="roundRect">
            <a:avLst>
              <a:gd name="adj" fmla="val 3810"/>
            </a:avLst>
          </a:prstGeom>
          <a:solidFill>
            <a:srgbClr val="F4F6F8"/>
          </a:solidFill>
          <a:ln w="12700">
            <a:solidFill>
              <a:srgbClr val="E3E8EE"/>
            </a:solidFill>
            <a:prstDash val="solid"/>
          </a:ln>
        </p:spPr>
      </p:sp>
      <p:sp>
        <p:nvSpPr>
          <p:cNvPr id="10" name="Shape 8"/>
          <p:cNvSpPr/>
          <p:nvPr/>
        </p:nvSpPr>
        <p:spPr>
          <a:xfrm>
            <a:off x="6739128" y="1901952"/>
            <a:ext cx="384048" cy="384048"/>
          </a:xfrm>
          <a:prstGeom prst="ellipse">
            <a:avLst/>
          </a:prstGeom>
          <a:solidFill>
            <a:srgbClr val="14B8A6"/>
          </a:solidFill>
          <a:ln w="12700">
            <a:solidFill>
              <a:srgbClr val="14B8A6"/>
            </a:solidFill>
            <a:prstDash val="solid"/>
          </a:ln>
        </p:spPr>
      </p:sp>
      <p:sp>
        <p:nvSpPr>
          <p:cNvPr id="11" name="Text 9"/>
          <p:cNvSpPr/>
          <p:nvPr/>
        </p:nvSpPr>
        <p:spPr>
          <a:xfrm>
            <a:off x="7251192" y="1865376"/>
            <a:ext cx="4297680" cy="292608"/>
          </a:xfrm>
          <a:prstGeom prst="rect">
            <a:avLst/>
          </a:prstGeom>
          <a:noFill/>
          <a:ln/>
        </p:spPr>
        <p:txBody>
          <a:bodyPr wrap="square" lIns="0" tIns="0" rIns="0" bIns="0" rtlCol="0" anchor="ctr"/>
          <a:lstStyle/>
          <a:p>
            <a:pPr indent="0" marL="0">
              <a:buNone/>
            </a:pPr>
            <a:r>
              <a:rPr lang="en-US" sz="1650" b="1" dirty="0">
                <a:solidFill>
                  <a:srgbClr val="16232F"/>
                </a:solidFill>
                <a:latin typeface="Cambria" pitchFamily="34" charset="0"/>
                <a:ea typeface="Cambria" pitchFamily="34" charset="-122"/>
                <a:cs typeface="Cambria" pitchFamily="34" charset="-120"/>
              </a:rPr>
              <a:t>Subscription platform</a:t>
            </a:r>
            <a:endParaRPr lang="en-US" sz="1650" dirty="0"/>
          </a:p>
        </p:txBody>
      </p:sp>
      <p:sp>
        <p:nvSpPr>
          <p:cNvPr id="12" name="Text 10"/>
          <p:cNvSpPr/>
          <p:nvPr/>
        </p:nvSpPr>
        <p:spPr>
          <a:xfrm>
            <a:off x="7251192" y="2176272"/>
            <a:ext cx="4297680" cy="237744"/>
          </a:xfrm>
          <a:prstGeom prst="rect">
            <a:avLst/>
          </a:prstGeom>
          <a:noFill/>
          <a:ln/>
        </p:spPr>
        <p:txBody>
          <a:bodyPr wrap="square" lIns="0" tIns="0" rIns="0" bIns="0" rtlCol="0" anchor="ctr"/>
          <a:lstStyle/>
          <a:p>
            <a:pPr indent="0" marL="0">
              <a:buNone/>
            </a:pPr>
            <a:r>
              <a:rPr lang="en-US" sz="950" b="1" spc="100" kern="0" dirty="0">
                <a:solidFill>
                  <a:srgbClr val="14B8A6"/>
                </a:solidFill>
                <a:latin typeface="Calibri" pitchFamily="34" charset="0"/>
                <a:ea typeface="Calibri" pitchFamily="34" charset="-122"/>
                <a:cs typeface="Calibri" pitchFamily="34" charset="-120"/>
              </a:rPr>
              <a:t>RECURRING</a:t>
            </a:r>
            <a:endParaRPr lang="en-US" sz="950" dirty="0"/>
          </a:p>
        </p:txBody>
      </p:sp>
      <p:sp>
        <p:nvSpPr>
          <p:cNvPr id="13" name="Text 11"/>
          <p:cNvSpPr/>
          <p:nvPr/>
        </p:nvSpPr>
        <p:spPr>
          <a:xfrm>
            <a:off x="6757416" y="2496312"/>
            <a:ext cx="4754880" cy="91440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Licensed to developers, IPPs and corporate buyers as a standing screening and monitoring tool. Annual per-seat or per-market fee.</a:t>
            </a:r>
            <a:endParaRPr lang="en-US" sz="1150" dirty="0"/>
          </a:p>
        </p:txBody>
      </p:sp>
      <p:sp>
        <p:nvSpPr>
          <p:cNvPr id="14" name="Shape 12"/>
          <p:cNvSpPr/>
          <p:nvPr/>
        </p:nvSpPr>
        <p:spPr>
          <a:xfrm>
            <a:off x="640080" y="3776472"/>
            <a:ext cx="5349240" cy="1920240"/>
          </a:xfrm>
          <a:prstGeom prst="roundRect">
            <a:avLst>
              <a:gd name="adj" fmla="val 3810"/>
            </a:avLst>
          </a:prstGeom>
          <a:solidFill>
            <a:srgbClr val="F4F6F8"/>
          </a:solidFill>
          <a:ln w="12700">
            <a:solidFill>
              <a:srgbClr val="E3E8EE"/>
            </a:solidFill>
            <a:prstDash val="solid"/>
          </a:ln>
        </p:spPr>
      </p:sp>
      <p:sp>
        <p:nvSpPr>
          <p:cNvPr id="15" name="Shape 13"/>
          <p:cNvSpPr/>
          <p:nvPr/>
        </p:nvSpPr>
        <p:spPr>
          <a:xfrm>
            <a:off x="932688" y="4050792"/>
            <a:ext cx="384048" cy="384048"/>
          </a:xfrm>
          <a:prstGeom prst="ellipse">
            <a:avLst/>
          </a:prstGeom>
          <a:solidFill>
            <a:srgbClr val="F59E0B"/>
          </a:solidFill>
          <a:ln w="12700">
            <a:solidFill>
              <a:srgbClr val="F59E0B"/>
            </a:solidFill>
            <a:prstDash val="solid"/>
          </a:ln>
        </p:spPr>
      </p:sp>
      <p:sp>
        <p:nvSpPr>
          <p:cNvPr id="16" name="Text 14"/>
          <p:cNvSpPr/>
          <p:nvPr/>
        </p:nvSpPr>
        <p:spPr>
          <a:xfrm>
            <a:off x="1444752" y="4014216"/>
            <a:ext cx="4297680" cy="292608"/>
          </a:xfrm>
          <a:prstGeom prst="rect">
            <a:avLst/>
          </a:prstGeom>
          <a:noFill/>
          <a:ln/>
        </p:spPr>
        <p:txBody>
          <a:bodyPr wrap="square" lIns="0" tIns="0" rIns="0" bIns="0" rtlCol="0" anchor="ctr"/>
          <a:lstStyle/>
          <a:p>
            <a:pPr indent="0" marL="0">
              <a:buNone/>
            </a:pPr>
            <a:r>
              <a:rPr lang="en-US" sz="1650" b="1" dirty="0">
                <a:solidFill>
                  <a:srgbClr val="16232F"/>
                </a:solidFill>
                <a:latin typeface="Cambria" pitchFamily="34" charset="0"/>
                <a:ea typeface="Cambria" pitchFamily="34" charset="-122"/>
                <a:cs typeface="Cambria" pitchFamily="34" charset="-120"/>
              </a:rPr>
              <a:t>Managed data service</a:t>
            </a:r>
            <a:endParaRPr lang="en-US" sz="1650" dirty="0"/>
          </a:p>
        </p:txBody>
      </p:sp>
      <p:sp>
        <p:nvSpPr>
          <p:cNvPr id="17" name="Text 15"/>
          <p:cNvSpPr/>
          <p:nvPr/>
        </p:nvSpPr>
        <p:spPr>
          <a:xfrm>
            <a:off x="1444752" y="4325112"/>
            <a:ext cx="4297680" cy="237744"/>
          </a:xfrm>
          <a:prstGeom prst="rect">
            <a:avLst/>
          </a:prstGeom>
          <a:noFill/>
          <a:ln/>
        </p:spPr>
        <p:txBody>
          <a:bodyPr wrap="square" lIns="0" tIns="0" rIns="0" bIns="0" rtlCol="0" anchor="ctr"/>
          <a:lstStyle/>
          <a:p>
            <a:pPr indent="0" marL="0">
              <a:buNone/>
            </a:pPr>
            <a:r>
              <a:rPr lang="en-US" sz="950" b="1" spc="100" kern="0" dirty="0">
                <a:solidFill>
                  <a:srgbClr val="F59E0B"/>
                </a:solidFill>
                <a:latin typeface="Calibri" pitchFamily="34" charset="0"/>
                <a:ea typeface="Calibri" pitchFamily="34" charset="-122"/>
                <a:cs typeface="Calibri" pitchFamily="34" charset="-120"/>
              </a:rPr>
              <a:t>RECURRING, LOW TOUCH</a:t>
            </a:r>
            <a:endParaRPr lang="en-US" sz="950" dirty="0"/>
          </a:p>
        </p:txBody>
      </p:sp>
      <p:sp>
        <p:nvSpPr>
          <p:cNvPr id="18" name="Text 16"/>
          <p:cNvSpPr/>
          <p:nvPr/>
        </p:nvSpPr>
        <p:spPr>
          <a:xfrm>
            <a:off x="950976" y="4645152"/>
            <a:ext cx="4754880" cy="91440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Curated market data feed — measured capture rates, forward curves, queue movement — delivered without the application layer.</a:t>
            </a:r>
            <a:endParaRPr lang="en-US" sz="1150" dirty="0"/>
          </a:p>
        </p:txBody>
      </p:sp>
      <p:sp>
        <p:nvSpPr>
          <p:cNvPr id="19" name="Shape 17"/>
          <p:cNvSpPr/>
          <p:nvPr/>
        </p:nvSpPr>
        <p:spPr>
          <a:xfrm>
            <a:off x="6446520" y="3776472"/>
            <a:ext cx="5349240" cy="1920240"/>
          </a:xfrm>
          <a:prstGeom prst="roundRect">
            <a:avLst>
              <a:gd name="adj" fmla="val 3810"/>
            </a:avLst>
          </a:prstGeom>
          <a:solidFill>
            <a:srgbClr val="F4F6F8"/>
          </a:solidFill>
          <a:ln w="12700">
            <a:solidFill>
              <a:srgbClr val="E3E8EE"/>
            </a:solidFill>
            <a:prstDash val="solid"/>
          </a:ln>
        </p:spPr>
      </p:sp>
      <p:sp>
        <p:nvSpPr>
          <p:cNvPr id="20" name="Shape 18"/>
          <p:cNvSpPr/>
          <p:nvPr/>
        </p:nvSpPr>
        <p:spPr>
          <a:xfrm>
            <a:off x="6739128" y="4050792"/>
            <a:ext cx="384048" cy="384048"/>
          </a:xfrm>
          <a:prstGeom prst="ellipse">
            <a:avLst/>
          </a:prstGeom>
          <a:solidFill>
            <a:srgbClr val="F59E0B"/>
          </a:solidFill>
          <a:ln w="12700">
            <a:solidFill>
              <a:srgbClr val="F59E0B"/>
            </a:solidFill>
            <a:prstDash val="solid"/>
          </a:ln>
        </p:spPr>
      </p:sp>
      <p:sp>
        <p:nvSpPr>
          <p:cNvPr id="21" name="Text 19"/>
          <p:cNvSpPr/>
          <p:nvPr/>
        </p:nvSpPr>
        <p:spPr>
          <a:xfrm>
            <a:off x="7251192" y="4014216"/>
            <a:ext cx="4297680" cy="292608"/>
          </a:xfrm>
          <a:prstGeom prst="rect">
            <a:avLst/>
          </a:prstGeom>
          <a:noFill/>
          <a:ln/>
        </p:spPr>
        <p:txBody>
          <a:bodyPr wrap="square" lIns="0" tIns="0" rIns="0" bIns="0" rtlCol="0" anchor="ctr"/>
          <a:lstStyle/>
          <a:p>
            <a:pPr indent="0" marL="0">
              <a:buNone/>
            </a:pPr>
            <a:r>
              <a:rPr lang="en-US" sz="1650" b="1" dirty="0">
                <a:solidFill>
                  <a:srgbClr val="16232F"/>
                </a:solidFill>
                <a:latin typeface="Cambria" pitchFamily="34" charset="0"/>
                <a:ea typeface="Cambria" pitchFamily="34" charset="-122"/>
                <a:cs typeface="Cambria" pitchFamily="34" charset="-120"/>
              </a:rPr>
              <a:t>Bespoke market studies</a:t>
            </a:r>
            <a:endParaRPr lang="en-US" sz="1650" dirty="0"/>
          </a:p>
        </p:txBody>
      </p:sp>
      <p:sp>
        <p:nvSpPr>
          <p:cNvPr id="22" name="Text 20"/>
          <p:cNvSpPr/>
          <p:nvPr/>
        </p:nvSpPr>
        <p:spPr>
          <a:xfrm>
            <a:off x="7251192" y="4325112"/>
            <a:ext cx="4297680" cy="237744"/>
          </a:xfrm>
          <a:prstGeom prst="rect">
            <a:avLst/>
          </a:prstGeom>
          <a:noFill/>
          <a:ln/>
        </p:spPr>
        <p:txBody>
          <a:bodyPr wrap="square" lIns="0" tIns="0" rIns="0" bIns="0" rtlCol="0" anchor="ctr"/>
          <a:lstStyle/>
          <a:p>
            <a:pPr indent="0" marL="0">
              <a:buNone/>
            </a:pPr>
            <a:r>
              <a:rPr lang="en-US" sz="950" b="1" spc="100" kern="0" dirty="0">
                <a:solidFill>
                  <a:srgbClr val="F59E0B"/>
                </a:solidFill>
                <a:latin typeface="Calibri" pitchFamily="34" charset="0"/>
                <a:ea typeface="Calibri" pitchFamily="34" charset="-122"/>
                <a:cs typeface="Calibri" pitchFamily="34" charset="-120"/>
              </a:rPr>
              <a:t>PROJECT FEE</a:t>
            </a:r>
            <a:endParaRPr lang="en-US" sz="950" dirty="0"/>
          </a:p>
        </p:txBody>
      </p:sp>
      <p:sp>
        <p:nvSpPr>
          <p:cNvPr id="23" name="Text 21"/>
          <p:cNvSpPr/>
          <p:nvPr/>
        </p:nvSpPr>
        <p:spPr>
          <a:xfrm>
            <a:off x="6757416" y="4645152"/>
            <a:ext cx="4754880" cy="914400"/>
          </a:xfrm>
          <a:prstGeom prst="rect">
            <a:avLst/>
          </a:prstGeom>
          <a:noFill/>
          <a:ln/>
        </p:spPr>
        <p:txBody>
          <a:bodyPr wrap="square" lIns="0" tIns="0" rIns="0" bIns="0" rtlCol="0" anchor="ctr"/>
          <a:lstStyle/>
          <a:p>
            <a:pPr indent="0" marL="0">
              <a:lnSpc>
                <a:spcPts val="1500"/>
              </a:lnSpc>
              <a:buNone/>
            </a:pPr>
            <a:r>
              <a:rPr lang="en-US" sz="1150" dirty="0">
                <a:solidFill>
                  <a:srgbClr val="44586B"/>
                </a:solidFill>
                <a:latin typeface="Calibri" pitchFamily="34" charset="0"/>
                <a:ea typeface="Calibri" pitchFamily="34" charset="-122"/>
                <a:cs typeface="Calibri" pitchFamily="34" charset="-120"/>
              </a:rPr>
              <a:t>Point-in-time reports for a transaction or board decision, produced on the platform and delivered as a signed deliverable.</a:t>
            </a:r>
            <a:endParaRPr lang="en-US" sz="1150" dirty="0"/>
          </a:p>
        </p:txBody>
      </p:sp>
      <p:sp>
        <p:nvSpPr>
          <p:cNvPr id="24" name="Text 22"/>
          <p:cNvSpPr/>
          <p:nvPr/>
        </p:nvSpPr>
        <p:spPr>
          <a:xfrm>
            <a:off x="640080" y="5989320"/>
            <a:ext cx="11155680" cy="411480"/>
          </a:xfrm>
          <a:prstGeom prst="rect">
            <a:avLst/>
          </a:prstGeom>
          <a:noFill/>
          <a:ln/>
        </p:spPr>
        <p:txBody>
          <a:bodyPr wrap="square" lIns="0" tIns="0" rIns="0" bIns="0"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The pipeline and metrics layer are shared across all four — marginal cost per additional client or market is small relative to the initial build.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F59E0B"/>
                </a:solidFill>
                <a:latin typeface="Calibri" pitchFamily="34" charset="0"/>
                <a:ea typeface="Calibri" pitchFamily="34" charset="-122"/>
                <a:cs typeface="Calibri" pitchFamily="34" charset="-120"/>
              </a:rPr>
              <a:t>HONEST POSITION</a:t>
            </a:r>
            <a:endParaRPr lang="en-US" sz="1200" dirty="0"/>
          </a:p>
        </p:txBody>
      </p:sp>
      <p:sp>
        <p:nvSpPr>
          <p:cNvPr id="3" name="Text 1"/>
          <p:cNvSpPr/>
          <p:nvPr/>
        </p:nvSpPr>
        <p:spPr>
          <a:xfrm>
            <a:off x="640080" y="475488"/>
            <a:ext cx="10881360" cy="777240"/>
          </a:xfrm>
          <a:prstGeom prst="rect">
            <a:avLst/>
          </a:prstGeom>
          <a:noFill/>
          <a:ln/>
        </p:spPr>
        <p:txBody>
          <a:bodyPr wrap="square" lIns="0" tIns="0" rIns="0" bIns="0" rtlCol="0" anchor="ctr"/>
          <a:lstStyle/>
          <a:p>
            <a:pPr algn="l" indent="0" marL="0">
              <a:buNone/>
            </a:pPr>
            <a:r>
              <a:rPr lang="en-US" sz="3700" b="1" dirty="0">
                <a:solidFill>
                  <a:srgbClr val="FFFFFF"/>
                </a:solidFill>
                <a:latin typeface="Cambria" pitchFamily="34" charset="0"/>
                <a:ea typeface="Cambria" pitchFamily="34" charset="-122"/>
                <a:cs typeface="Cambria" pitchFamily="34" charset="-120"/>
              </a:rPr>
              <a:t>What exists, and what productisation requires</a:t>
            </a:r>
            <a:endParaRPr lang="en-US" sz="3700" dirty="0"/>
          </a:p>
        </p:txBody>
      </p:sp>
      <p:sp>
        <p:nvSpPr>
          <p:cNvPr id="4" name="Shape 2"/>
          <p:cNvSpPr/>
          <p:nvPr/>
        </p:nvSpPr>
        <p:spPr>
          <a:xfrm>
            <a:off x="640080" y="1600200"/>
            <a:ext cx="5394960" cy="3200400"/>
          </a:xfrm>
          <a:prstGeom prst="roundRect">
            <a:avLst>
              <a:gd name="adj" fmla="val 2286"/>
            </a:avLst>
          </a:prstGeom>
          <a:solidFill>
            <a:srgbClr val="1B2B44"/>
          </a:solidFill>
          <a:ln w="12700">
            <a:solidFill>
              <a:srgbClr val="1F6E5F"/>
            </a:solidFill>
            <a:prstDash val="solid"/>
          </a:ln>
        </p:spPr>
      </p:sp>
      <p:sp>
        <p:nvSpPr>
          <p:cNvPr id="5" name="Text 3"/>
          <p:cNvSpPr/>
          <p:nvPr/>
        </p:nvSpPr>
        <p:spPr>
          <a:xfrm>
            <a:off x="960120" y="1801368"/>
            <a:ext cx="4754880" cy="292608"/>
          </a:xfrm>
          <a:prstGeom prst="rect">
            <a:avLst/>
          </a:prstGeom>
          <a:noFill/>
          <a:ln/>
        </p:spPr>
        <p:txBody>
          <a:bodyPr wrap="square" lIns="0" tIns="0" rIns="0" bIns="0"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Working today</a:t>
            </a:r>
            <a:endParaRPr lang="en-US" sz="1400" dirty="0"/>
          </a:p>
        </p:txBody>
      </p:sp>
      <p:sp>
        <p:nvSpPr>
          <p:cNvPr id="6" name="Text 4"/>
          <p:cNvSpPr/>
          <p:nvPr/>
        </p:nvSpPr>
        <p:spPr>
          <a:xfrm>
            <a:off x="960120" y="2212848"/>
            <a:ext cx="4800600" cy="246888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C9D6E2"/>
                </a:solidFill>
                <a:latin typeface="Calibri" pitchFamily="34" charset="0"/>
                <a:ea typeface="Calibri" pitchFamily="34" charset="-122"/>
                <a:cs typeface="Calibri" pitchFamily="34" charset="-120"/>
              </a:rPr>
              <a:t>Live deployment across four markets</a:t>
            </a:r>
            <a:endParaRPr lang="en-US" sz="1150" dirty="0"/>
          </a:p>
          <a:p>
            <a:pPr marL="342900" indent="-342900">
              <a:lnSpc>
                <a:spcPts val="1500"/>
              </a:lnSpc>
              <a:spcAft>
                <a:spcPts val="900"/>
              </a:spcAft>
              <a:buSzPct val="100000"/>
              <a:buChar char="•"/>
            </a:pPr>
            <a:r>
              <a:rPr lang="en-US" sz="1150" dirty="0">
                <a:solidFill>
                  <a:srgbClr val="C9D6E2"/>
                </a:solidFill>
                <a:latin typeface="Calibri" pitchFamily="34" charset="0"/>
                <a:ea typeface="Calibri" pitchFamily="34" charset="-122"/>
                <a:cs typeface="Calibri" pitchFamily="34" charset="-120"/>
              </a:rPr>
              <a:t>14.9M metered records, 32.6M nodal prices ingested</a:t>
            </a:r>
            <a:endParaRPr lang="en-US" sz="1150" dirty="0"/>
          </a:p>
          <a:p>
            <a:pPr marL="342900" indent="-342900">
              <a:lnSpc>
                <a:spcPts val="1500"/>
              </a:lnSpc>
              <a:spcAft>
                <a:spcPts val="900"/>
              </a:spcAft>
              <a:buSzPct val="100000"/>
              <a:buChar char="•"/>
            </a:pPr>
            <a:r>
              <a:rPr lang="en-US" sz="1150" dirty="0">
                <a:solidFill>
                  <a:srgbClr val="C9D6E2"/>
                </a:solidFill>
                <a:latin typeface="Calibri" pitchFamily="34" charset="0"/>
                <a:ea typeface="Calibri" pitchFamily="34" charset="-122"/>
                <a:cs typeface="Calibri" pitchFamily="34" charset="-120"/>
              </a:rPr>
              <a:t>Measured capture rate and capacity factor by asset and fuel</a:t>
            </a:r>
            <a:endParaRPr lang="en-US" sz="1150" dirty="0"/>
          </a:p>
          <a:p>
            <a:pPr marL="342900" indent="-342900">
              <a:lnSpc>
                <a:spcPts val="1500"/>
              </a:lnSpc>
              <a:spcAft>
                <a:spcPts val="900"/>
              </a:spcAft>
              <a:buSzPct val="100000"/>
              <a:buChar char="•"/>
            </a:pPr>
            <a:r>
              <a:rPr lang="en-US" sz="1150" dirty="0">
                <a:solidFill>
                  <a:srgbClr val="C9D6E2"/>
                </a:solidFill>
                <a:latin typeface="Calibri" pitchFamily="34" charset="0"/>
                <a:ea typeface="Calibri" pitchFamily="34" charset="-122"/>
                <a:cs typeface="Calibri" pitchFamily="34" charset="-120"/>
              </a:rPr>
              <a:t>DCF against a real forward power and gas curve</a:t>
            </a:r>
            <a:endParaRPr lang="en-US" sz="1150" dirty="0"/>
          </a:p>
          <a:p>
            <a:pPr marL="342900" indent="-342900">
              <a:lnSpc>
                <a:spcPts val="1500"/>
              </a:lnSpc>
              <a:spcAft>
                <a:spcPts val="900"/>
              </a:spcAft>
              <a:buSzPct val="100000"/>
              <a:buChar char="•"/>
            </a:pPr>
            <a:r>
              <a:rPr lang="en-US" sz="1150" dirty="0">
                <a:solidFill>
                  <a:srgbClr val="C9D6E2"/>
                </a:solidFill>
                <a:latin typeface="Calibri" pitchFamily="34" charset="0"/>
                <a:ea typeface="Calibri" pitchFamily="34" charset="-122"/>
                <a:cs typeface="Calibri" pitchFamily="34" charset="-120"/>
              </a:rPr>
              <a:t>PPA and VPPA structuring with basis exposure flagged</a:t>
            </a:r>
            <a:endParaRPr lang="en-US" sz="1150" dirty="0"/>
          </a:p>
          <a:p>
            <a:pPr marL="342900" indent="-342900">
              <a:lnSpc>
                <a:spcPts val="1500"/>
              </a:lnSpc>
              <a:spcAft>
                <a:spcPts val="900"/>
              </a:spcAft>
              <a:buSzPct val="100000"/>
              <a:buChar char="•"/>
            </a:pPr>
            <a:r>
              <a:rPr lang="en-US" sz="1150" dirty="0">
                <a:solidFill>
                  <a:srgbClr val="C9D6E2"/>
                </a:solidFill>
                <a:latin typeface="Calibri" pitchFamily="34" charset="0"/>
                <a:ea typeface="Calibri" pitchFamily="34" charset="-122"/>
                <a:cs typeface="Calibri" pitchFamily="34" charset="-120"/>
              </a:rPr>
              <a:t>Automated weekly refresh of regulatory and market sources</a:t>
            </a:r>
            <a:endParaRPr lang="en-US" sz="1150" dirty="0"/>
          </a:p>
        </p:txBody>
      </p:sp>
      <p:sp>
        <p:nvSpPr>
          <p:cNvPr id="7" name="Shape 5"/>
          <p:cNvSpPr/>
          <p:nvPr/>
        </p:nvSpPr>
        <p:spPr>
          <a:xfrm>
            <a:off x="6400800" y="1600200"/>
            <a:ext cx="5394960" cy="3200400"/>
          </a:xfrm>
          <a:prstGeom prst="roundRect">
            <a:avLst>
              <a:gd name="adj" fmla="val 2286"/>
            </a:avLst>
          </a:prstGeom>
          <a:solidFill>
            <a:srgbClr val="3A2A16"/>
          </a:solidFill>
          <a:ln w="12700">
            <a:solidFill>
              <a:srgbClr val="6B5020"/>
            </a:solidFill>
            <a:prstDash val="solid"/>
          </a:ln>
        </p:spPr>
      </p:sp>
      <p:sp>
        <p:nvSpPr>
          <p:cNvPr id="8" name="Text 6"/>
          <p:cNvSpPr/>
          <p:nvPr/>
        </p:nvSpPr>
        <p:spPr>
          <a:xfrm>
            <a:off x="6720840" y="1801368"/>
            <a:ext cx="4754880" cy="292608"/>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Required before a client deployment</a:t>
            </a:r>
            <a:endParaRPr lang="en-US" sz="1400" dirty="0"/>
          </a:p>
        </p:txBody>
      </p:sp>
      <p:sp>
        <p:nvSpPr>
          <p:cNvPr id="9" name="Text 7"/>
          <p:cNvSpPr/>
          <p:nvPr/>
        </p:nvSpPr>
        <p:spPr>
          <a:xfrm>
            <a:off x="6720840" y="2212848"/>
            <a:ext cx="4800600" cy="246888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F0C98A"/>
                </a:solidFill>
                <a:latin typeface="Calibri" pitchFamily="34" charset="0"/>
                <a:ea typeface="Calibri" pitchFamily="34" charset="-122"/>
                <a:cs typeface="Calibri" pitchFamily="34" charset="-120"/>
              </a:rPr>
              <a:t>Authentication, TLS and per-client data isolation</a:t>
            </a:r>
            <a:endParaRPr lang="en-US" sz="1150" dirty="0"/>
          </a:p>
          <a:p>
            <a:pPr marL="342900" indent="-342900">
              <a:lnSpc>
                <a:spcPts val="1500"/>
              </a:lnSpc>
              <a:spcAft>
                <a:spcPts val="900"/>
              </a:spcAft>
              <a:buSzPct val="100000"/>
              <a:buChar char="•"/>
            </a:pPr>
            <a:r>
              <a:rPr lang="en-US" sz="1150" dirty="0">
                <a:solidFill>
                  <a:srgbClr val="F0C98A"/>
                </a:solidFill>
                <a:latin typeface="Calibri" pitchFamily="34" charset="0"/>
                <a:ea typeface="Calibri" pitchFamily="34" charset="-122"/>
                <a:cs typeface="Calibri" pitchFamily="34" charset="-120"/>
              </a:rPr>
              <a:t>Server-side model execution for reproducibility and audit trail</a:t>
            </a:r>
            <a:endParaRPr lang="en-US" sz="1150" dirty="0"/>
          </a:p>
          <a:p>
            <a:pPr marL="342900" indent="-342900">
              <a:lnSpc>
                <a:spcPts val="1500"/>
              </a:lnSpc>
              <a:spcAft>
                <a:spcPts val="900"/>
              </a:spcAft>
              <a:buSzPct val="100000"/>
              <a:buChar char="•"/>
            </a:pPr>
            <a:r>
              <a:rPr lang="en-US" sz="1150" dirty="0">
                <a:solidFill>
                  <a:srgbClr val="F0C98A"/>
                </a:solidFill>
                <a:latin typeface="Calibri" pitchFamily="34" charset="0"/>
                <a:ea typeface="Calibri" pitchFamily="34" charset="-122"/>
                <a:cs typeface="Calibri" pitchFamily="34" charset="-120"/>
              </a:rPr>
              <a:t>Data licensing review where a source restricts redistribution</a:t>
            </a:r>
            <a:endParaRPr lang="en-US" sz="1150" dirty="0"/>
          </a:p>
          <a:p>
            <a:pPr marL="342900" indent="-342900">
              <a:lnSpc>
                <a:spcPts val="1500"/>
              </a:lnSpc>
              <a:spcAft>
                <a:spcPts val="900"/>
              </a:spcAft>
              <a:buSzPct val="100000"/>
              <a:buChar char="•"/>
            </a:pPr>
            <a:r>
              <a:rPr lang="en-US" sz="1150" dirty="0">
                <a:solidFill>
                  <a:srgbClr val="F0C98A"/>
                </a:solidFill>
                <a:latin typeface="Calibri" pitchFamily="34" charset="0"/>
                <a:ea typeface="Calibri" pitchFamily="34" charset="-122"/>
                <a:cs typeface="Calibri" pitchFamily="34" charset="-120"/>
              </a:rPr>
              <a:t>Calibration of the network model against settlement history</a:t>
            </a:r>
            <a:endParaRPr lang="en-US" sz="1150" dirty="0"/>
          </a:p>
          <a:p>
            <a:pPr marL="342900" indent="-342900">
              <a:lnSpc>
                <a:spcPts val="1500"/>
              </a:lnSpc>
              <a:spcAft>
                <a:spcPts val="900"/>
              </a:spcAft>
              <a:buSzPct val="100000"/>
              <a:buChar char="•"/>
            </a:pPr>
            <a:r>
              <a:rPr lang="en-US" sz="1150" dirty="0">
                <a:solidFill>
                  <a:srgbClr val="F0C98A"/>
                </a:solidFill>
                <a:latin typeface="Calibri" pitchFamily="34" charset="0"/>
                <a:ea typeface="Calibri" pitchFamily="34" charset="-122"/>
                <a:cs typeface="Calibri" pitchFamily="34" charset="-120"/>
              </a:rPr>
              <a:t>Test coverage and a release process</a:t>
            </a:r>
            <a:endParaRPr lang="en-US" sz="1150" dirty="0"/>
          </a:p>
          <a:p>
            <a:pPr marL="342900" indent="-342900">
              <a:lnSpc>
                <a:spcPts val="1500"/>
              </a:lnSpc>
              <a:spcAft>
                <a:spcPts val="900"/>
              </a:spcAft>
              <a:buSzPct val="100000"/>
              <a:buChar char="•"/>
            </a:pPr>
            <a:r>
              <a:rPr lang="en-US" sz="1150" dirty="0">
                <a:solidFill>
                  <a:srgbClr val="F0C98A"/>
                </a:solidFill>
                <a:latin typeface="Calibri" pitchFamily="34" charset="0"/>
                <a:ea typeface="Calibri" pitchFamily="34" charset="-122"/>
                <a:cs typeface="Calibri" pitchFamily="34" charset="-120"/>
              </a:rPr>
              <a:t>Support model and refresh guarantees</a:t>
            </a:r>
            <a:endParaRPr lang="en-US" sz="1150" dirty="0"/>
          </a:p>
        </p:txBody>
      </p:sp>
      <p:sp>
        <p:nvSpPr>
          <p:cNvPr id="10" name="Shape 8"/>
          <p:cNvSpPr/>
          <p:nvPr/>
        </p:nvSpPr>
        <p:spPr>
          <a:xfrm>
            <a:off x="640080" y="5029200"/>
            <a:ext cx="11155680" cy="1234440"/>
          </a:xfrm>
          <a:prstGeom prst="roundRect">
            <a:avLst>
              <a:gd name="adj" fmla="val 5926"/>
            </a:avLst>
          </a:prstGeom>
          <a:solidFill>
            <a:srgbClr val="1B2B44"/>
          </a:solidFill>
          <a:ln w="12700">
            <a:solidFill>
              <a:srgbClr val="24374F"/>
            </a:solidFill>
            <a:prstDash val="solid"/>
          </a:ln>
        </p:spPr>
      </p:sp>
      <p:sp>
        <p:nvSpPr>
          <p:cNvPr id="11" name="Text 9"/>
          <p:cNvSpPr/>
          <p:nvPr/>
        </p:nvSpPr>
        <p:spPr>
          <a:xfrm>
            <a:off x="960120" y="5285232"/>
            <a:ext cx="10515600" cy="731520"/>
          </a:xfrm>
          <a:prstGeom prst="rect">
            <a:avLst/>
          </a:prstGeom>
          <a:noFill/>
          <a:ln/>
        </p:spPr>
        <p:txBody>
          <a:bodyPr wrap="square" lIns="0" tIns="0" rIns="0" bIns="0" rtlCol="0" anchor="ctr"/>
          <a:lstStyle/>
          <a:p>
            <a:pPr indent="0" marL="0">
              <a:lnSpc>
                <a:spcPts val="1800"/>
              </a:lnSpc>
              <a:buNone/>
            </a:pPr>
            <a:r>
              <a:rPr lang="en-US" sz="1300" dirty="0">
                <a:solidFill>
                  <a:srgbClr val="C9D6E2"/>
                </a:solidFill>
                <a:latin typeface="Calibri" pitchFamily="34" charset="0"/>
                <a:ea typeface="Calibri" pitchFamily="34" charset="-122"/>
                <a:cs typeface="Calibri" pitchFamily="34" charset="-120"/>
              </a:rPr>
              <a:t>The internal accelerator case needs none of the right-hand column. It can be used on a live mandate now, which is also the cheapest way to test whether the evidence it produces actually changes a deal team's conclusion.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881360" cy="274320"/>
          </a:xfrm>
          <a:prstGeom prst="rect">
            <a:avLst/>
          </a:prstGeom>
          <a:noFill/>
          <a:ln/>
        </p:spPr>
        <p:txBody>
          <a:bodyPr wrap="square" lIns="0" tIns="0" rIns="0" bIns="0" rtlCol="0" anchor="ctr"/>
          <a:lstStyle/>
          <a:p>
            <a:pPr indent="0" marL="0">
              <a:buNone/>
            </a:pPr>
            <a:r>
              <a:rPr lang="en-US" sz="1200" b="1" spc="200" kern="0" dirty="0">
                <a:solidFill>
                  <a:srgbClr val="14B8A6"/>
                </a:solidFill>
                <a:latin typeface="Calibri" pitchFamily="34" charset="0"/>
                <a:ea typeface="Calibri" pitchFamily="34" charset="-122"/>
                <a:cs typeface="Calibri" pitchFamily="34" charset="-120"/>
              </a:rPr>
              <a:t>PROPOSED NEXT STEP</a:t>
            </a:r>
            <a:endParaRPr lang="en-US" sz="1200" dirty="0"/>
          </a:p>
        </p:txBody>
      </p:sp>
      <p:sp>
        <p:nvSpPr>
          <p:cNvPr id="3" name="Text 1"/>
          <p:cNvSpPr/>
          <p:nvPr/>
        </p:nvSpPr>
        <p:spPr>
          <a:xfrm>
            <a:off x="640080" y="475488"/>
            <a:ext cx="10881360" cy="777240"/>
          </a:xfrm>
          <a:prstGeom prst="rect">
            <a:avLst/>
          </a:prstGeom>
          <a:noFill/>
          <a:ln/>
        </p:spPr>
        <p:txBody>
          <a:bodyPr wrap="square" lIns="0" tIns="0" rIns="0" bIns="0" rtlCol="0" anchor="ctr"/>
          <a:lstStyle/>
          <a:p>
            <a:pPr algn="l" indent="0" marL="0">
              <a:buNone/>
            </a:pPr>
            <a:r>
              <a:rPr lang="en-US" sz="3700" b="1" dirty="0">
                <a:solidFill>
                  <a:srgbClr val="16232F"/>
                </a:solidFill>
                <a:latin typeface="Cambria" pitchFamily="34" charset="0"/>
                <a:ea typeface="Cambria" pitchFamily="34" charset="-122"/>
                <a:cs typeface="Cambria" pitchFamily="34" charset="-120"/>
              </a:rPr>
              <a:t>Prove it on one live mandate</a:t>
            </a:r>
            <a:endParaRPr lang="en-US" sz="3700" dirty="0"/>
          </a:p>
        </p:txBody>
      </p:sp>
      <p:sp>
        <p:nvSpPr>
          <p:cNvPr id="4" name="Shape 2"/>
          <p:cNvSpPr/>
          <p:nvPr/>
        </p:nvSpPr>
        <p:spPr>
          <a:xfrm>
            <a:off x="640080" y="1691640"/>
            <a:ext cx="11155680" cy="1234440"/>
          </a:xfrm>
          <a:prstGeom prst="roundRect">
            <a:avLst>
              <a:gd name="adj" fmla="val 5185"/>
            </a:avLst>
          </a:prstGeom>
          <a:solidFill>
            <a:srgbClr val="F4F6F8"/>
          </a:solidFill>
          <a:ln w="12700">
            <a:solidFill>
              <a:srgbClr val="E3E8EE"/>
            </a:solidFill>
            <a:prstDash val="solid"/>
          </a:ln>
        </p:spPr>
      </p:sp>
      <p:sp>
        <p:nvSpPr>
          <p:cNvPr id="5" name="Text 3"/>
          <p:cNvSpPr/>
          <p:nvPr/>
        </p:nvSpPr>
        <p:spPr>
          <a:xfrm>
            <a:off x="914400" y="2020824"/>
            <a:ext cx="914400" cy="548640"/>
          </a:xfrm>
          <a:prstGeom prst="rect">
            <a:avLst/>
          </a:prstGeom>
          <a:noFill/>
          <a:ln/>
        </p:spPr>
        <p:txBody>
          <a:bodyPr wrap="square" lIns="0" tIns="0" rIns="0" bIns="0" rtlCol="0" anchor="ctr"/>
          <a:lstStyle/>
          <a:p>
            <a:pPr indent="0" marL="0">
              <a:buNone/>
            </a:pPr>
            <a:r>
              <a:rPr lang="en-US" sz="2700" b="1" dirty="0">
                <a:solidFill>
                  <a:srgbClr val="14B8A6"/>
                </a:solidFill>
                <a:latin typeface="Cambria" pitchFamily="34" charset="0"/>
                <a:ea typeface="Cambria" pitchFamily="34" charset="-122"/>
                <a:cs typeface="Cambria" pitchFamily="34" charset="-120"/>
              </a:rPr>
              <a:t>01</a:t>
            </a:r>
            <a:endParaRPr lang="en-US" sz="2700" dirty="0"/>
          </a:p>
        </p:txBody>
      </p:sp>
      <p:sp>
        <p:nvSpPr>
          <p:cNvPr id="6" name="Text 4"/>
          <p:cNvSpPr/>
          <p:nvPr/>
        </p:nvSpPr>
        <p:spPr>
          <a:xfrm>
            <a:off x="1920240" y="1874520"/>
            <a:ext cx="9509760" cy="320040"/>
          </a:xfrm>
          <a:prstGeom prst="rect">
            <a:avLst/>
          </a:prstGeom>
          <a:noFill/>
          <a:ln/>
        </p:spPr>
        <p:txBody>
          <a:bodyPr wrap="square" lIns="0" tIns="0" rIns="0" bIns="0" rtlCol="0" anchor="ctr"/>
          <a:lstStyle/>
          <a:p>
            <a:pPr indent="0" marL="0">
              <a:buNone/>
            </a:pPr>
            <a:r>
              <a:rPr lang="en-US" sz="1750" b="1" dirty="0">
                <a:solidFill>
                  <a:srgbClr val="16232F"/>
                </a:solidFill>
                <a:latin typeface="Cambria" pitchFamily="34" charset="0"/>
                <a:ea typeface="Cambria" pitchFamily="34" charset="-122"/>
                <a:cs typeface="Cambria" pitchFamily="34" charset="-120"/>
              </a:rPr>
              <a:t>Pick an active renewable transaction</a:t>
            </a:r>
            <a:endParaRPr lang="en-US" sz="1750" dirty="0"/>
          </a:p>
        </p:txBody>
      </p:sp>
      <p:sp>
        <p:nvSpPr>
          <p:cNvPr id="7" name="Text 5"/>
          <p:cNvSpPr/>
          <p:nvPr/>
        </p:nvSpPr>
        <p:spPr>
          <a:xfrm>
            <a:off x="1920240" y="2258568"/>
            <a:ext cx="9555480" cy="548640"/>
          </a:xfrm>
          <a:prstGeom prst="rect">
            <a:avLst/>
          </a:prstGeom>
          <a:noFill/>
          <a:ln/>
        </p:spPr>
        <p:txBody>
          <a:bodyPr wrap="square" lIns="0" tIns="0" rIns="0" bIns="0" rtlCol="0" anchor="ctr"/>
          <a:lstStyle/>
          <a:p>
            <a:pPr indent="0" marL="0">
              <a:lnSpc>
                <a:spcPts val="1600"/>
              </a:lnSpc>
              <a:buNone/>
            </a:pPr>
            <a:r>
              <a:rPr lang="en-US" sz="1200" dirty="0">
                <a:solidFill>
                  <a:srgbClr val="44586B"/>
                </a:solidFill>
                <a:latin typeface="Calibri" pitchFamily="34" charset="0"/>
                <a:ea typeface="Calibri" pitchFamily="34" charset="-122"/>
                <a:cs typeface="Calibri" pitchFamily="34" charset="-120"/>
              </a:rPr>
              <a:t>Ideally Alberta or ERCOT, where data coverage is deepest and a post-2027 contract tail is in play.</a:t>
            </a:r>
            <a:endParaRPr lang="en-US" sz="1200" dirty="0"/>
          </a:p>
        </p:txBody>
      </p:sp>
      <p:sp>
        <p:nvSpPr>
          <p:cNvPr id="8" name="Shape 6"/>
          <p:cNvSpPr/>
          <p:nvPr/>
        </p:nvSpPr>
        <p:spPr>
          <a:xfrm>
            <a:off x="640080" y="3044952"/>
            <a:ext cx="11155680" cy="1234440"/>
          </a:xfrm>
          <a:prstGeom prst="roundRect">
            <a:avLst>
              <a:gd name="adj" fmla="val 5185"/>
            </a:avLst>
          </a:prstGeom>
          <a:solidFill>
            <a:srgbClr val="F4F6F8"/>
          </a:solidFill>
          <a:ln w="12700">
            <a:solidFill>
              <a:srgbClr val="E3E8EE"/>
            </a:solidFill>
            <a:prstDash val="solid"/>
          </a:ln>
        </p:spPr>
      </p:sp>
      <p:sp>
        <p:nvSpPr>
          <p:cNvPr id="9" name="Text 7"/>
          <p:cNvSpPr/>
          <p:nvPr/>
        </p:nvSpPr>
        <p:spPr>
          <a:xfrm>
            <a:off x="914400" y="3374136"/>
            <a:ext cx="914400" cy="548640"/>
          </a:xfrm>
          <a:prstGeom prst="rect">
            <a:avLst/>
          </a:prstGeom>
          <a:noFill/>
          <a:ln/>
        </p:spPr>
        <p:txBody>
          <a:bodyPr wrap="square" lIns="0" tIns="0" rIns="0" bIns="0" rtlCol="0" anchor="ctr"/>
          <a:lstStyle/>
          <a:p>
            <a:pPr indent="0" marL="0">
              <a:buNone/>
            </a:pPr>
            <a:r>
              <a:rPr lang="en-US" sz="2700" b="1" dirty="0">
                <a:solidFill>
                  <a:srgbClr val="14B8A6"/>
                </a:solidFill>
                <a:latin typeface="Cambria" pitchFamily="34" charset="0"/>
                <a:ea typeface="Cambria" pitchFamily="34" charset="-122"/>
                <a:cs typeface="Cambria" pitchFamily="34" charset="-120"/>
              </a:rPr>
              <a:t>02</a:t>
            </a:r>
            <a:endParaRPr lang="en-US" sz="2700" dirty="0"/>
          </a:p>
        </p:txBody>
      </p:sp>
      <p:sp>
        <p:nvSpPr>
          <p:cNvPr id="10" name="Text 8"/>
          <p:cNvSpPr/>
          <p:nvPr/>
        </p:nvSpPr>
        <p:spPr>
          <a:xfrm>
            <a:off x="1920240" y="3227832"/>
            <a:ext cx="9509760" cy="320040"/>
          </a:xfrm>
          <a:prstGeom prst="rect">
            <a:avLst/>
          </a:prstGeom>
          <a:noFill/>
          <a:ln/>
        </p:spPr>
        <p:txBody>
          <a:bodyPr wrap="square" lIns="0" tIns="0" rIns="0" bIns="0" rtlCol="0" anchor="ctr"/>
          <a:lstStyle/>
          <a:p>
            <a:pPr indent="0" marL="0">
              <a:buNone/>
            </a:pPr>
            <a:r>
              <a:rPr lang="en-US" sz="1750" b="1" dirty="0">
                <a:solidFill>
                  <a:srgbClr val="16232F"/>
                </a:solidFill>
                <a:latin typeface="Cambria" pitchFamily="34" charset="0"/>
                <a:ea typeface="Cambria" pitchFamily="34" charset="-122"/>
                <a:cs typeface="Cambria" pitchFamily="34" charset="-120"/>
              </a:rPr>
              <a:t>Run the evidence in parallel</a:t>
            </a:r>
            <a:endParaRPr lang="en-US" sz="1750" dirty="0"/>
          </a:p>
        </p:txBody>
      </p:sp>
      <p:sp>
        <p:nvSpPr>
          <p:cNvPr id="11" name="Text 9"/>
          <p:cNvSpPr/>
          <p:nvPr/>
        </p:nvSpPr>
        <p:spPr>
          <a:xfrm>
            <a:off x="1920240" y="3611880"/>
            <a:ext cx="9555480" cy="548640"/>
          </a:xfrm>
          <a:prstGeom prst="rect">
            <a:avLst/>
          </a:prstGeom>
          <a:noFill/>
          <a:ln/>
        </p:spPr>
        <p:txBody>
          <a:bodyPr wrap="square" lIns="0" tIns="0" rIns="0" bIns="0" rtlCol="0" anchor="ctr"/>
          <a:lstStyle/>
          <a:p>
            <a:pPr indent="0" marL="0">
              <a:lnSpc>
                <a:spcPts val="1600"/>
              </a:lnSpc>
              <a:buNone/>
            </a:pPr>
            <a:r>
              <a:rPr lang="en-US" sz="1200" dirty="0">
                <a:solidFill>
                  <a:srgbClr val="44586B"/>
                </a:solidFill>
                <a:latin typeface="Calibri" pitchFamily="34" charset="0"/>
                <a:ea typeface="Calibri" pitchFamily="34" charset="-122"/>
                <a:cs typeface="Calibri" pitchFamily="34" charset="-120"/>
              </a:rPr>
              <a:t>Produce measured performance and valuation independently of the vendor model, without changing the existing workflow.</a:t>
            </a:r>
            <a:endParaRPr lang="en-US" sz="1200" dirty="0"/>
          </a:p>
        </p:txBody>
      </p:sp>
      <p:sp>
        <p:nvSpPr>
          <p:cNvPr id="12" name="Shape 10"/>
          <p:cNvSpPr/>
          <p:nvPr/>
        </p:nvSpPr>
        <p:spPr>
          <a:xfrm>
            <a:off x="640080" y="4398264"/>
            <a:ext cx="11155680" cy="1234440"/>
          </a:xfrm>
          <a:prstGeom prst="roundRect">
            <a:avLst>
              <a:gd name="adj" fmla="val 5185"/>
            </a:avLst>
          </a:prstGeom>
          <a:solidFill>
            <a:srgbClr val="F4F6F8"/>
          </a:solidFill>
          <a:ln w="12700">
            <a:solidFill>
              <a:srgbClr val="E3E8EE"/>
            </a:solidFill>
            <a:prstDash val="solid"/>
          </a:ln>
        </p:spPr>
      </p:sp>
      <p:sp>
        <p:nvSpPr>
          <p:cNvPr id="13" name="Text 11"/>
          <p:cNvSpPr/>
          <p:nvPr/>
        </p:nvSpPr>
        <p:spPr>
          <a:xfrm>
            <a:off x="914400" y="4727448"/>
            <a:ext cx="914400" cy="548640"/>
          </a:xfrm>
          <a:prstGeom prst="rect">
            <a:avLst/>
          </a:prstGeom>
          <a:noFill/>
          <a:ln/>
        </p:spPr>
        <p:txBody>
          <a:bodyPr wrap="square" lIns="0" tIns="0" rIns="0" bIns="0" rtlCol="0" anchor="ctr"/>
          <a:lstStyle/>
          <a:p>
            <a:pPr indent="0" marL="0">
              <a:buNone/>
            </a:pPr>
            <a:r>
              <a:rPr lang="en-US" sz="2700" b="1" dirty="0">
                <a:solidFill>
                  <a:srgbClr val="F59E0B"/>
                </a:solidFill>
                <a:latin typeface="Cambria" pitchFamily="34" charset="0"/>
                <a:ea typeface="Cambria" pitchFamily="34" charset="-122"/>
                <a:cs typeface="Cambria" pitchFamily="34" charset="-120"/>
              </a:rPr>
              <a:t>03</a:t>
            </a:r>
            <a:endParaRPr lang="en-US" sz="2700" dirty="0"/>
          </a:p>
        </p:txBody>
      </p:sp>
      <p:sp>
        <p:nvSpPr>
          <p:cNvPr id="14" name="Text 12"/>
          <p:cNvSpPr/>
          <p:nvPr/>
        </p:nvSpPr>
        <p:spPr>
          <a:xfrm>
            <a:off x="1920240" y="4581144"/>
            <a:ext cx="9509760" cy="320040"/>
          </a:xfrm>
          <a:prstGeom prst="rect">
            <a:avLst/>
          </a:prstGeom>
          <a:noFill/>
          <a:ln/>
        </p:spPr>
        <p:txBody>
          <a:bodyPr wrap="square" lIns="0" tIns="0" rIns="0" bIns="0" rtlCol="0" anchor="ctr"/>
          <a:lstStyle/>
          <a:p>
            <a:pPr indent="0" marL="0">
              <a:buNone/>
            </a:pPr>
            <a:r>
              <a:rPr lang="en-US" sz="1750" b="1" dirty="0">
                <a:solidFill>
                  <a:srgbClr val="16232F"/>
                </a:solidFill>
                <a:latin typeface="Cambria" pitchFamily="34" charset="0"/>
                <a:ea typeface="Cambria" pitchFamily="34" charset="-122"/>
                <a:cs typeface="Cambria" pitchFamily="34" charset="-120"/>
              </a:rPr>
              <a:t>Compare and decide</a:t>
            </a:r>
            <a:endParaRPr lang="en-US" sz="1750" dirty="0"/>
          </a:p>
        </p:txBody>
      </p:sp>
      <p:sp>
        <p:nvSpPr>
          <p:cNvPr id="15" name="Text 13"/>
          <p:cNvSpPr/>
          <p:nvPr/>
        </p:nvSpPr>
        <p:spPr>
          <a:xfrm>
            <a:off x="1920240" y="4965192"/>
            <a:ext cx="9555480" cy="548640"/>
          </a:xfrm>
          <a:prstGeom prst="rect">
            <a:avLst/>
          </a:prstGeom>
          <a:noFill/>
          <a:ln/>
        </p:spPr>
        <p:txBody>
          <a:bodyPr wrap="square" lIns="0" tIns="0" rIns="0" bIns="0" rtlCol="0" anchor="ctr"/>
          <a:lstStyle/>
          <a:p>
            <a:pPr indent="0" marL="0">
              <a:lnSpc>
                <a:spcPts val="1600"/>
              </a:lnSpc>
              <a:buNone/>
            </a:pPr>
            <a:r>
              <a:rPr lang="en-US" sz="1200" dirty="0">
                <a:solidFill>
                  <a:srgbClr val="44586B"/>
                </a:solidFill>
                <a:latin typeface="Calibri" pitchFamily="34" charset="0"/>
                <a:ea typeface="Calibri" pitchFamily="34" charset="-122"/>
                <a:cs typeface="Calibri" pitchFamily="34" charset="-120"/>
              </a:rPr>
              <a:t>If the independent figures materially move a conclusion, the accelerator case is proven and productisation is worth funding. If not, that is a cheap and useful answer.</a:t>
            </a:r>
            <a:endParaRPr lang="en-US" sz="1200" dirty="0"/>
          </a:p>
        </p:txBody>
      </p:sp>
      <p:sp>
        <p:nvSpPr>
          <p:cNvPr id="16" name="Shape 14"/>
          <p:cNvSpPr/>
          <p:nvPr/>
        </p:nvSpPr>
        <p:spPr>
          <a:xfrm>
            <a:off x="640080" y="5806440"/>
            <a:ext cx="11155680" cy="777240"/>
          </a:xfrm>
          <a:prstGeom prst="roundRect">
            <a:avLst>
              <a:gd name="adj" fmla="val 9412"/>
            </a:avLst>
          </a:prstGeom>
          <a:solidFill>
            <a:srgbClr val="0F1B2D"/>
          </a:solidFill>
          <a:ln w="12700">
            <a:solidFill>
              <a:srgbClr val="0F1B2D"/>
            </a:solidFill>
            <a:prstDash val="solid"/>
          </a:ln>
        </p:spPr>
      </p:sp>
      <p:sp>
        <p:nvSpPr>
          <p:cNvPr id="17" name="Text 15"/>
          <p:cNvSpPr/>
          <p:nvPr/>
        </p:nvSpPr>
        <p:spPr>
          <a:xfrm>
            <a:off x="960120" y="5943600"/>
            <a:ext cx="10515600" cy="320040"/>
          </a:xfrm>
          <a:prstGeom prst="rect">
            <a:avLst/>
          </a:prstGeom>
          <a:noFill/>
          <a:ln/>
        </p:spPr>
        <p:txBody>
          <a:bodyPr wrap="square" lIns="0" tIns="0" rIns="0" bIns="0"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Low cost to test, and the answer is useful either way</a:t>
            </a:r>
            <a:endParaRPr lang="en-US" sz="1400" dirty="0"/>
          </a:p>
        </p:txBody>
      </p:sp>
      <p:sp>
        <p:nvSpPr>
          <p:cNvPr id="18" name="Text 16"/>
          <p:cNvSpPr/>
          <p:nvPr/>
        </p:nvSpPr>
        <p:spPr>
          <a:xfrm>
            <a:off x="960120" y="6236208"/>
            <a:ext cx="10515600" cy="274320"/>
          </a:xfrm>
          <a:prstGeom prst="rect">
            <a:avLst/>
          </a:prstGeom>
          <a:noFill/>
          <a:ln/>
        </p:spPr>
        <p:txBody>
          <a:bodyPr wrap="square" lIns="0" tIns="0" rIns="0" bIns="0" rtlCol="0" anchor="ctr"/>
          <a:lstStyle/>
          <a:p>
            <a:pPr indent="0" marL="0">
              <a:buNone/>
            </a:pPr>
            <a:r>
              <a:rPr lang="en-US" sz="1150" dirty="0">
                <a:solidFill>
                  <a:srgbClr val="8FA3B8"/>
                </a:solidFill>
                <a:latin typeface="Calibri" pitchFamily="34" charset="0"/>
                <a:ea typeface="Calibri" pitchFamily="34" charset="-122"/>
                <a:cs typeface="Calibri" pitchFamily="34" charset="-120"/>
              </a:rPr>
              <a:t>The platform is already running. Applying it to one mandate costs analyst time, not build budget.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 Intelligence — Capabilities and Commercial Model</dc:title>
  <dc:subject>PptxGenJS Presentation</dc:subject>
  <dc:creator>Amol Javahire</dc:creator>
  <cp:lastModifiedBy>Amol Javahire</cp:lastModifiedBy>
  <cp:revision>1</cp:revision>
  <dcterms:created xsi:type="dcterms:W3CDTF">2026-07-29T16:07:26Z</dcterms:created>
  <dcterms:modified xsi:type="dcterms:W3CDTF">2026-07-29T16:07:26Z</dcterms:modified>
</cp:coreProperties>
</file>