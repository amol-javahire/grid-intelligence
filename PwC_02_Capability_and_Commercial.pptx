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Capture rate vs system average</c:v>
                </c:pt>
              </c:strCache>
            </c:strRef>
          </c:tx>
          <c:spPr>
            <a:solidFill>
              <a:srgbClr val="E8A33D"/>
            </a:solidFill>
            <a:effectLst/>
          </c:spPr>
          <c:invertIfNegative val="0"/>
          <c:dLbls>
            <c:numFmt formatCode="0.00&quot;x&quot;" sourceLinked="0"/>
            <c:txPr>
              <a:bodyPr/>
              <a:lstStyle/>
              <a:p>
                <a:pPr>
                  <a:defRPr b="0" i="0" strike="noStrike" sz="1000" u="none">
                    <a:solidFill>
                      <a:srgbClr val="0E1A2B"/>
                    </a:solidFill>
                    <a:latin typeface="Calibri"/>
                  </a:defRPr>
                </a:pPr>
              </a:p>
            </c:txPr>
            <c:showLegendKey val="0"/>
            <c:showVal val="1"/>
            <c:showCatName val="0"/>
            <c:showSerName val="0"/>
            <c:showPercent val="0"/>
            <c:showBubbleSize val="0"/>
            <c:showLeaderLines val="0"/>
          </c:dLbls>
          <c:dPt>
            <c:idx val="0"/>
            <c:invertIfNegative val="0"/>
            <c:bubble3D val="0"/>
            <c:spPr>
              <a:solidFill>
                <a:srgbClr val="E8A33D"/>
              </a:solidFill>
              <a:effectLst/>
            </c:spPr>
          </c:dPt>
          <c:dPt>
            <c:idx val="1"/>
            <c:invertIfNegative val="0"/>
            <c:bubble3D val="0"/>
            <c:spPr>
              <a:solidFill>
                <a:srgbClr val="02C39A"/>
              </a:solidFill>
              <a:effectLst/>
            </c:spPr>
          </c:dPt>
          <c:dPt>
            <c:idx val="2"/>
            <c:invertIfNegative val="0"/>
            <c:bubble3D val="0"/>
            <c:spPr>
              <a:solidFill>
                <a:srgbClr val="2E86AB"/>
              </a:solidFill>
              <a:effectLst/>
            </c:spPr>
          </c:dPt>
          <c:dPt>
            <c:idx val="3"/>
            <c:invertIfNegative val="0"/>
            <c:bubble3D val="0"/>
            <c:spPr>
              <a:solidFill>
                <a:srgbClr val="5A6E85"/>
              </a:solidFill>
              <a:effectLst/>
            </c:spPr>
          </c:dPt>
          <c:dPt>
            <c:idx val="4"/>
            <c:invertIfNegative val="0"/>
            <c:bubble3D val="0"/>
            <c:spPr>
              <a:solidFill>
                <a:srgbClr val="5A6E85"/>
              </a:solidFill>
              <a:effectLst/>
            </c:spPr>
          </c:dPt>
          <c:dPt>
            <c:idx val="5"/>
            <c:invertIfNegative val="0"/>
            <c:bubble3D val="0"/>
            <c:spPr>
              <a:solidFill>
                <a:srgbClr val="5A6E85"/>
              </a:solidFill>
              <a:effectLst/>
            </c:spPr>
          </c:dPt>
          <c:dPt>
            <c:idx val="6"/>
            <c:invertIfNegative val="0"/>
            <c:bubble3D val="0"/>
            <c:spPr>
              <a:solidFill>
                <a:srgbClr val="5A6E85"/>
              </a:solidFill>
              <a:effectLst/>
            </c:spPr>
          </c:dPt>
          <c:dPt>
            <c:idx val="7"/>
            <c:invertIfNegative val="0"/>
            <c:bubble3D val="0"/>
            <c:spPr>
              <a:solidFill>
                <a:srgbClr val="5A6E85"/>
              </a:solidFill>
              <a:effectLst/>
            </c:spPr>
          </c:dPt>
          <c:cat>
            <c:multiLvlStrRef>
              <c:f>Sheet1!$A$2:$A$9</c:f>
              <c:multiLvlStrCache>
                <c:ptCount val="8"/>
                <c:lvl>
                  <c:pt idx="0">
                    <c:v>Solar</c:v>
                  </c:pt>
                  <c:pt idx="1">
                    <c:v>Wind</c:v>
                  </c:pt>
                  <c:pt idx="2">
                    <c:v>Hydro</c:v>
                  </c:pt>
                  <c:pt idx="3">
                    <c:v>Natural gas</c:v>
                  </c:pt>
                  <c:pt idx="4">
                    <c:v>Coal</c:v>
                  </c:pt>
                  <c:pt idx="5">
                    <c:v>Storage</c:v>
                  </c:pt>
                  <c:pt idx="6">
                    <c:v>Nuclear</c:v>
                  </c:pt>
                  <c:pt idx="7">
                    <c:v>Other</c:v>
                  </c:pt>
                </c:lvl>
              </c:multiLvlStrCache>
            </c:multiLvlStrRef>
          </c:cat>
          <c:val>
            <c:numRef>
              <c:f>Sheet1!$B$2:$B$9</c:f>
              <c:numCache>
                <c:formatCode>General</c:formatCode>
                <c:ptCount val="8"/>
                <c:pt idx="0">
                  <c:v>1.27</c:v>
                </c:pt>
                <c:pt idx="1">
                  <c:v>1.12</c:v>
                </c:pt>
                <c:pt idx="2">
                  <c:v>1.11</c:v>
                </c:pt>
                <c:pt idx="3">
                  <c:v>1.09</c:v>
                </c:pt>
                <c:pt idx="4">
                  <c:v>1.08</c:v>
                </c:pt>
                <c:pt idx="5">
                  <c:v>1.06</c:v>
                </c:pt>
                <c:pt idx="6">
                  <c:v>1.06</c:v>
                </c:pt>
                <c:pt idx="7">
                  <c:v>1.01</c:v>
                </c:pt>
              </c:numCache>
            </c:numRef>
          </c:val>
        </c:ser>
        <c:dLbls>
          <c:numFmt formatCode="0.00&quot;x&quot;" sourceLinked="0"/>
          <c:txPr>
            <a:bodyPr/>
            <a:lstStyle/>
            <a:p>
              <a:pPr>
                <a:defRPr b="0" i="0" strike="noStrike" sz="1000" u="none">
                  <a:solidFill>
                    <a:srgbClr val="0E1A2B"/>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E1A2B"/>
                </a:solidFill>
                <a:latin typeface="Calibri"/>
              </a:defRPr>
            </a:pPr>
            <a:endParaRPr lang="en-US"/>
          </a:p>
        </c:txPr>
        <c:crossAx val="2094734552"/>
        <c:crosses val="autoZero"/>
        <c:auto val="1"/>
        <c:lblAlgn val="ctr"/>
        <c:noMultiLvlLbl val="1"/>
      </c:catAx>
      <c:valAx>
        <c:axId val="2094734552"/>
        <c:scaling>
          <c:orientation val="minMax"/>
          <c:max val="1.35"/>
          <c:min val="0.9"/>
        </c:scaling>
        <c:delete val="0"/>
        <c:axPos val="l"/>
        <c:majorGridlines>
          <c:spPr>
            <a:ln w="12700" cap="flat">
              <a:solidFill>
                <a:srgbClr val="E2E9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E8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audience frame than deck one. Here the question is not 'can he build it' but 'can we sell it'. I'll walk the capability quickly, then spend real time on the service plays and which client conversations this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pain, not the product. Every one of these four is something a corporate energy buyer or an infra fund has been burned by. The HB_PAN versus Houston contrast is the single most persuasive number I have — a tenfold difference in curtailment exposure inside one market, which regional averages completely hide.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two use cases clearly separated in the client's mind — they map to different buyers. Origination screening sells to corporate buyers and funds. Siting sells to developers, IPPs and increasingly data-centre operators looking for powered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commercial moat, not just a data inventory. Two consequences: there's no per-seat data licence eating the margin on an engagement, and in diligence we can evidence provenance line by line. Vendors who resell modelled data cannot do the second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credibility point: curtailment and congestion together carry 40% of the weight, and both come from measured settlement outturn rather than a vendor's regional estimate. When I regenerated these from hourly data, HB_PAN's curtailment score dropped sharply and West Texas wind rose — the ranking materially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Commercially this is the most useful screen in a client meeting. You sit with the head of energy procurement, ask what their mandate actually is, click that objective, and the shortlist reorders in front of them. It turns a demo into a working session — and working sessions become scopes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live if the meeting allows. The narrative arc matters: an open question, a ranked answer, then three independent challenges to that answer — basis, deliverability, forward congestion — and finally a price. That sequence is exactly how a deal team thinks, which is why the tool lands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suite is the strongest single differentiator against generic market-data tools. Six screens all built on the same measured basis data, ending in a dollar-denominated backtest. When a client asks 'what has this cost us historically', the backtest answers it with their own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 at 1.27 in June is seasonally flattering — peak solar output coinciding with high afternoon prices. I'd show a winter month alongside it in a real client session so nobody anchors on the best case. The methodological point is that this is measured per resource, not assumed per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Uri preset is a strong demo moment for utility and regulator conversations — it shows the model reproduces a known catastrophic outturn rather than only benign scenarios. Worth being precise that the solver is a planning tool calibrated against actuals, not a replacement for the ISO's own market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Bachelier detail is worth mentioning to a technical audience — using Black-Scholes on spark spreads is a common and material error, because the spread genuinely goes negative in ERCOT. Getting that right signals the financial modelling is as considered as the data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in any data-centre or hyperscaler conversation. The killer framing: they are simultaneously the cause of load growth and the party most exposed to it. Being able to model their own contribution to the constraint they'll face is a genuinely differentiated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to segment this way is that the same platform supports five different first meetings. You never demo all 35 screens — you demo the four that answer that buyer's question. Data-centre developers are the hottest of these right now and the one where PwC's existing relationships are probably strongest.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sequencing. A diagnostic is an easy yes — small, fixed scope, and the output is a finding about their own portfolio. If the finding is material, the implementation and managed-service conversations follow naturally because the client has already seen the value in their own data rather than in our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independence argument is the strongest one and I'd lead with it. LevelTen and Pexapark sit in the transaction; Enverus and Wood Mackenzie sell data to everyone. Nobody is selling an independent, auditable, client-tenant-deployed view of nodal risk with governance built in. That is a genuinely defensible position for a Big Four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not to overclaim here — these are all serious businesses with far more coverage than we have. The honest position is that we occupy a different square: independent and deployed inside the client's own governed environment. If asked about parity on data breadth, concede it immediately and pivot to auditability and independence.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that ERCOT is the deep market and the other two are shallower today. It's a credibility risk to imply parity. The good news is the pattern is proven — extending CAISO to ERCOT depth is execution against a known template, not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concrete, small ask rather than a vision. Naming a four-week diagnostic gives them something they can actually approve. And the closing line separates the two things cleanly: the build demonstrates I can do the work; the diagnostic demonstrates the client should pay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548640" y="960120"/>
            <a:ext cx="2286000" cy="310896"/>
          </a:xfrm>
          <a:prstGeom prst="roundRect">
            <a:avLst>
              <a:gd name="adj" fmla="val 17647"/>
            </a:avLst>
          </a:prstGeom>
          <a:solidFill>
            <a:srgbClr val="E8A33D"/>
          </a:solidFill>
          <a:ln w="12700">
            <a:solidFill>
              <a:srgbClr val="E8A33D"/>
            </a:solidFill>
            <a:prstDash val="solid"/>
          </a:ln>
        </p:spPr>
      </p:sp>
      <p:sp>
        <p:nvSpPr>
          <p:cNvPr id="3" name="Text 1"/>
          <p:cNvSpPr/>
          <p:nvPr/>
        </p:nvSpPr>
        <p:spPr>
          <a:xfrm>
            <a:off x="548640" y="960120"/>
            <a:ext cx="2286000" cy="310896"/>
          </a:xfrm>
          <a:prstGeom prst="rect">
            <a:avLst/>
          </a:prstGeom>
          <a:noFill/>
          <a:ln/>
        </p:spPr>
        <p:txBody>
          <a:bodyPr wrap="square" lIns="0" tIns="0" rIns="0" bIns="0" rtlCol="0" anchor="ctr"/>
          <a:lstStyle/>
          <a:p>
            <a:pPr algn="ctr" indent="0" marL="0">
              <a:buNone/>
            </a:pPr>
            <a:r>
              <a:rPr lang="en-US" sz="850" b="1" spc="80" kern="0" dirty="0">
                <a:solidFill>
                  <a:srgbClr val="0E1A2B"/>
                </a:solidFill>
                <a:latin typeface="Calibri" pitchFamily="34" charset="0"/>
                <a:ea typeface="Calibri" pitchFamily="34" charset="-122"/>
                <a:cs typeface="Calibri" pitchFamily="34" charset="-120"/>
              </a:rPr>
              <a:t>CAPABILITY &amp; GO-TO-MARKET</a:t>
            </a:r>
            <a:endParaRPr lang="en-US" sz="850" dirty="0"/>
          </a:p>
        </p:txBody>
      </p:sp>
      <p:sp>
        <p:nvSpPr>
          <p:cNvPr id="4" name="Text 2"/>
          <p:cNvSpPr/>
          <p:nvPr/>
        </p:nvSpPr>
        <p:spPr>
          <a:xfrm>
            <a:off x="548640" y="1600200"/>
            <a:ext cx="7863840" cy="1737360"/>
          </a:xfrm>
          <a:prstGeom prst="rect">
            <a:avLst/>
          </a:prstGeom>
          <a:noFill/>
          <a:ln/>
        </p:spPr>
        <p:txBody>
          <a:bodyPr wrap="square" lIns="0" tIns="0" rIns="0" bIns="0" rtlCol="0" anchor="ctr"/>
          <a:lstStyle/>
          <a:p>
            <a:pPr indent="0" marL="0">
              <a:lnSpc>
                <a:spcPct val="95000"/>
              </a:lnSpc>
              <a:buNone/>
            </a:pPr>
            <a:r>
              <a:rPr lang="en-US" sz="4200" b="1" dirty="0">
                <a:solidFill>
                  <a:srgbClr val="FFFFFF"/>
                </a:solidFill>
                <a:latin typeface="Cambria" pitchFamily="34" charset="0"/>
                <a:ea typeface="Cambria" pitchFamily="34" charset="-122"/>
                <a:cs typeface="Cambria" pitchFamily="34" charset="-120"/>
              </a:rPr>
              <a:t>From market data</a:t>
            </a:r>
            <a:endParaRPr lang="en-US" sz="4200" dirty="0"/>
          </a:p>
          <a:p>
            <a:pPr indent="0" marL="0">
              <a:lnSpc>
                <a:spcPct val="95000"/>
              </a:lnSpc>
              <a:buNone/>
            </a:pPr>
            <a:r>
              <a:rPr lang="en-US" sz="4200" b="1" dirty="0">
                <a:solidFill>
                  <a:srgbClr val="FFFFFF"/>
                </a:solidFill>
                <a:latin typeface="Cambria" pitchFamily="34" charset="0"/>
                <a:ea typeface="Cambria" pitchFamily="34" charset="-122"/>
                <a:cs typeface="Cambria" pitchFamily="34" charset="-120"/>
              </a:rPr>
              <a:t>to signed PPAs</a:t>
            </a:r>
            <a:endParaRPr lang="en-US" sz="4200" dirty="0"/>
          </a:p>
        </p:txBody>
      </p:sp>
      <p:sp>
        <p:nvSpPr>
          <p:cNvPr id="5" name="Text 3"/>
          <p:cNvSpPr/>
          <p:nvPr/>
        </p:nvSpPr>
        <p:spPr>
          <a:xfrm>
            <a:off x="548640" y="3456432"/>
            <a:ext cx="8046720" cy="457200"/>
          </a:xfrm>
          <a:prstGeom prst="rect">
            <a:avLst/>
          </a:prstGeom>
          <a:noFill/>
          <a:ln/>
        </p:spPr>
        <p:txBody>
          <a:bodyPr wrap="square" lIns="0" tIns="0" rIns="0" bIns="0" rtlCol="0" anchor="ctr"/>
          <a:lstStyle/>
          <a:p>
            <a:pPr indent="0" marL="0">
              <a:buNone/>
            </a:pPr>
            <a:r>
              <a:rPr lang="en-US" sz="1550" dirty="0">
                <a:solidFill>
                  <a:srgbClr val="D6E4F0"/>
                </a:solidFill>
                <a:latin typeface="Calibri" pitchFamily="34" charset="0"/>
                <a:ea typeface="Calibri" pitchFamily="34" charset="-122"/>
                <a:cs typeface="Calibri" pitchFamily="34" charset="-120"/>
              </a:rPr>
              <a:t>What the platform does, how a deal team uses it, and where PwC monetises it</a:t>
            </a:r>
            <a:endParaRPr lang="en-US" sz="1550" dirty="0"/>
          </a:p>
        </p:txBody>
      </p:sp>
      <p:sp>
        <p:nvSpPr>
          <p:cNvPr id="6" name="Text 4"/>
          <p:cNvSpPr/>
          <p:nvPr/>
        </p:nvSpPr>
        <p:spPr>
          <a:xfrm>
            <a:off x="9052560" y="1572768"/>
            <a:ext cx="27432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35</a:t>
            </a:r>
            <a:endParaRPr lang="en-US" sz="2400" dirty="0"/>
          </a:p>
        </p:txBody>
      </p:sp>
      <p:sp>
        <p:nvSpPr>
          <p:cNvPr id="7" name="Text 5"/>
          <p:cNvSpPr/>
          <p:nvPr/>
        </p:nvSpPr>
        <p:spPr>
          <a:xfrm>
            <a:off x="9052560" y="1975104"/>
            <a:ext cx="2743200" cy="274320"/>
          </a:xfrm>
          <a:prstGeom prst="rect">
            <a:avLst/>
          </a:prstGeom>
          <a:noFill/>
          <a:ln/>
        </p:spPr>
        <p:txBody>
          <a:bodyPr wrap="square" lIns="0" tIns="0" rIns="0" bIns="0" rtlCol="0" anchor="ctr"/>
          <a:lstStyle/>
          <a:p>
            <a:pPr indent="0" marL="0">
              <a:buNone/>
            </a:pPr>
            <a:r>
              <a:rPr lang="en-US" sz="1050" dirty="0">
                <a:solidFill>
                  <a:srgbClr val="8CA3BC"/>
                </a:solidFill>
                <a:latin typeface="Calibri" pitchFamily="34" charset="0"/>
                <a:ea typeface="Calibri" pitchFamily="34" charset="-122"/>
                <a:cs typeface="Calibri" pitchFamily="34" charset="-120"/>
              </a:rPr>
              <a:t>analytical screens</a:t>
            </a:r>
            <a:endParaRPr lang="en-US" sz="1050" dirty="0"/>
          </a:p>
        </p:txBody>
      </p:sp>
      <p:sp>
        <p:nvSpPr>
          <p:cNvPr id="8" name="Text 6"/>
          <p:cNvSpPr/>
          <p:nvPr/>
        </p:nvSpPr>
        <p:spPr>
          <a:xfrm>
            <a:off x="9052560" y="2505456"/>
            <a:ext cx="27432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6,163</a:t>
            </a:r>
            <a:endParaRPr lang="en-US" sz="2400" dirty="0"/>
          </a:p>
        </p:txBody>
      </p:sp>
      <p:sp>
        <p:nvSpPr>
          <p:cNvPr id="9" name="Text 7"/>
          <p:cNvSpPr/>
          <p:nvPr/>
        </p:nvSpPr>
        <p:spPr>
          <a:xfrm>
            <a:off x="9052560" y="2907792"/>
            <a:ext cx="2743200" cy="274320"/>
          </a:xfrm>
          <a:prstGeom prst="rect">
            <a:avLst/>
          </a:prstGeom>
          <a:noFill/>
          <a:ln/>
        </p:spPr>
        <p:txBody>
          <a:bodyPr wrap="square" lIns="0" tIns="0" rIns="0" bIns="0" rtlCol="0" anchor="ctr"/>
          <a:lstStyle/>
          <a:p>
            <a:pPr indent="0" marL="0">
              <a:buNone/>
            </a:pPr>
            <a:r>
              <a:rPr lang="en-US" sz="1050" dirty="0">
                <a:solidFill>
                  <a:srgbClr val="8CA3BC"/>
                </a:solidFill>
                <a:latin typeface="Calibri" pitchFamily="34" charset="0"/>
                <a:ea typeface="Calibri" pitchFamily="34" charset="-122"/>
                <a:cs typeface="Calibri" pitchFamily="34" charset="-120"/>
              </a:rPr>
              <a:t>screened generators</a:t>
            </a:r>
            <a:endParaRPr lang="en-US" sz="1050" dirty="0"/>
          </a:p>
        </p:txBody>
      </p:sp>
      <p:sp>
        <p:nvSpPr>
          <p:cNvPr id="10" name="Text 8"/>
          <p:cNvSpPr/>
          <p:nvPr/>
        </p:nvSpPr>
        <p:spPr>
          <a:xfrm>
            <a:off x="9052560" y="3438144"/>
            <a:ext cx="27432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3</a:t>
            </a:r>
            <a:endParaRPr lang="en-US" sz="2400" dirty="0"/>
          </a:p>
        </p:txBody>
      </p:sp>
      <p:sp>
        <p:nvSpPr>
          <p:cNvPr id="11" name="Text 9"/>
          <p:cNvSpPr/>
          <p:nvPr/>
        </p:nvSpPr>
        <p:spPr>
          <a:xfrm>
            <a:off x="9052560" y="3840480"/>
            <a:ext cx="2743200" cy="274320"/>
          </a:xfrm>
          <a:prstGeom prst="rect">
            <a:avLst/>
          </a:prstGeom>
          <a:noFill/>
          <a:ln/>
        </p:spPr>
        <p:txBody>
          <a:bodyPr wrap="square" lIns="0" tIns="0" rIns="0" bIns="0" rtlCol="0" anchor="ctr"/>
          <a:lstStyle/>
          <a:p>
            <a:pPr indent="0" marL="0">
              <a:buNone/>
            </a:pPr>
            <a:r>
              <a:rPr lang="en-US" sz="1050" dirty="0">
                <a:solidFill>
                  <a:srgbClr val="8CA3BC"/>
                </a:solidFill>
                <a:latin typeface="Calibri" pitchFamily="34" charset="0"/>
                <a:ea typeface="Calibri" pitchFamily="34" charset="-122"/>
                <a:cs typeface="Calibri" pitchFamily="34" charset="-120"/>
              </a:rPr>
              <a:t>ISO markets covered</a:t>
            </a:r>
            <a:endParaRPr lang="en-US" sz="1050" dirty="0"/>
          </a:p>
        </p:txBody>
      </p:sp>
      <p:sp>
        <p:nvSpPr>
          <p:cNvPr id="12" name="Text 10"/>
          <p:cNvSpPr/>
          <p:nvPr/>
        </p:nvSpPr>
        <p:spPr>
          <a:xfrm>
            <a:off x="9052560" y="4370832"/>
            <a:ext cx="2743200" cy="457200"/>
          </a:xfrm>
          <a:prstGeom prst="rect">
            <a:avLst/>
          </a:prstGeom>
          <a:noFill/>
          <a:ln/>
        </p:spPr>
        <p:txBody>
          <a:bodyPr wrap="square" lIns="0" tIns="0" rIns="0" bIns="0" rtlCol="0" anchor="ctr"/>
          <a:lstStyle/>
          <a:p>
            <a:pPr indent="0" marL="0">
              <a:buNone/>
            </a:pPr>
            <a:r>
              <a:rPr lang="en-US" sz="2400" b="1" dirty="0">
                <a:solidFill>
                  <a:srgbClr val="E8A33D"/>
                </a:solidFill>
                <a:latin typeface="Cambria" pitchFamily="34" charset="0"/>
                <a:ea typeface="Cambria" pitchFamily="34" charset="-122"/>
                <a:cs typeface="Cambria" pitchFamily="34" charset="-120"/>
              </a:rPr>
              <a:t>8</a:t>
            </a:r>
            <a:endParaRPr lang="en-US" sz="2400" dirty="0"/>
          </a:p>
        </p:txBody>
      </p:sp>
      <p:sp>
        <p:nvSpPr>
          <p:cNvPr id="13" name="Text 11"/>
          <p:cNvSpPr/>
          <p:nvPr/>
        </p:nvSpPr>
        <p:spPr>
          <a:xfrm>
            <a:off x="9052560" y="4773168"/>
            <a:ext cx="2743200" cy="274320"/>
          </a:xfrm>
          <a:prstGeom prst="rect">
            <a:avLst/>
          </a:prstGeom>
          <a:noFill/>
          <a:ln/>
        </p:spPr>
        <p:txBody>
          <a:bodyPr wrap="square" lIns="0" tIns="0" rIns="0" bIns="0" rtlCol="0" anchor="ctr"/>
          <a:lstStyle/>
          <a:p>
            <a:pPr indent="0" marL="0">
              <a:buNone/>
            </a:pPr>
            <a:r>
              <a:rPr lang="en-US" sz="1050" dirty="0">
                <a:solidFill>
                  <a:srgbClr val="8CA3BC"/>
                </a:solidFill>
                <a:latin typeface="Calibri" pitchFamily="34" charset="0"/>
                <a:ea typeface="Calibri" pitchFamily="34" charset="-122"/>
                <a:cs typeface="Calibri" pitchFamily="34" charset="-120"/>
              </a:rPr>
              <a:t>risk dimensions scored</a:t>
            </a:r>
            <a:endParaRPr lang="en-US" sz="1050" dirty="0"/>
          </a:p>
        </p:txBody>
      </p:sp>
      <p:sp>
        <p:nvSpPr>
          <p:cNvPr id="14" name="Text 12"/>
          <p:cNvSpPr/>
          <p:nvPr/>
        </p:nvSpPr>
        <p:spPr>
          <a:xfrm>
            <a:off x="548640" y="5943600"/>
            <a:ext cx="7315200" cy="320040"/>
          </a:xfrm>
          <a:prstGeom prst="rect">
            <a:avLst/>
          </a:prstGeom>
          <a:noFill/>
          <a:ln/>
        </p:spPr>
        <p:txBody>
          <a:bodyPr wrap="square" lIns="0" tIns="0" rIns="0" bIns="0" rtlCol="0" anchor="ctr"/>
          <a:lstStyle/>
          <a:p>
            <a:pPr indent="0" marL="0">
              <a:buNone/>
            </a:pPr>
            <a:r>
              <a:rPr lang="en-US" sz="1200" dirty="0">
                <a:solidFill>
                  <a:srgbClr val="8CA3BC"/>
                </a:solidFill>
                <a:latin typeface="Calibri" pitchFamily="34" charset="0"/>
                <a:ea typeface="Calibri" pitchFamily="34" charset="-122"/>
                <a:cs typeface="Calibri" pitchFamily="34" charset="-120"/>
              </a:rPr>
              <a:t>Amol Javahire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D9544D"/>
                </a:solidFill>
                <a:latin typeface="Calibri" pitchFamily="34" charset="0"/>
                <a:ea typeface="Calibri" pitchFamily="34" charset="-122"/>
                <a:cs typeface="Calibri" pitchFamily="34" charset="-120"/>
              </a:rPr>
              <a:t>THE PROBLEM</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Why renewable PPAs go wrong</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The contract is signed on a price the project never actually captures</a:t>
            </a:r>
            <a:endParaRPr lang="en-US" sz="1350" dirty="0"/>
          </a:p>
        </p:txBody>
      </p:sp>
      <p:sp>
        <p:nvSpPr>
          <p:cNvPr id="5" name="Shape 3"/>
          <p:cNvSpPr/>
          <p:nvPr/>
        </p:nvSpPr>
        <p:spPr>
          <a:xfrm>
            <a:off x="548640" y="1664208"/>
            <a:ext cx="11064240" cy="1005840"/>
          </a:xfrm>
          <a:prstGeom prst="roundRect">
            <a:avLst>
              <a:gd name="adj" fmla="val 727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6" name="Shape 4"/>
          <p:cNvSpPr/>
          <p:nvPr/>
        </p:nvSpPr>
        <p:spPr>
          <a:xfrm>
            <a:off x="566928" y="2107692"/>
            <a:ext cx="118872" cy="118872"/>
          </a:xfrm>
          <a:prstGeom prst="ellipse">
            <a:avLst/>
          </a:prstGeom>
          <a:solidFill>
            <a:srgbClr val="D9544D"/>
          </a:solidFill>
          <a:ln w="12700">
            <a:solidFill>
              <a:srgbClr val="D9544D"/>
            </a:solidFill>
            <a:prstDash val="solid"/>
          </a:ln>
        </p:spPr>
      </p:sp>
      <p:sp>
        <p:nvSpPr>
          <p:cNvPr id="7" name="Text 5"/>
          <p:cNvSpPr/>
          <p:nvPr/>
        </p:nvSpPr>
        <p:spPr>
          <a:xfrm>
            <a:off x="841248" y="1810512"/>
            <a:ext cx="731520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Basis risk is invisible at signing</a:t>
            </a:r>
            <a:endParaRPr lang="en-US" sz="1400" dirty="0"/>
          </a:p>
        </p:txBody>
      </p:sp>
      <p:sp>
        <p:nvSpPr>
          <p:cNvPr id="8" name="Text 6"/>
          <p:cNvSpPr/>
          <p:nvPr/>
        </p:nvSpPr>
        <p:spPr>
          <a:xfrm>
            <a:off x="841248" y="2157984"/>
            <a:ext cx="10515600" cy="457200"/>
          </a:xfrm>
          <a:prstGeom prst="rect">
            <a:avLst/>
          </a:prstGeom>
          <a:noFill/>
          <a:ln/>
        </p:spPr>
        <p:txBody>
          <a:bodyPr wrap="square" lIns="0" tIns="0" rIns="0" bIns="0" rtlCol="0" anchor="t"/>
          <a:lstStyle/>
          <a:p>
            <a:pPr algn="l" indent="0" marL="0">
              <a:lnSpc>
                <a:spcPct val="115000"/>
              </a:lnSpc>
              <a:buNone/>
            </a:pPr>
            <a:r>
              <a:rPr lang="en-US" sz="1150" dirty="0">
                <a:solidFill>
                  <a:srgbClr val="5A6E85"/>
                </a:solidFill>
                <a:latin typeface="Calibri" pitchFamily="34" charset="0"/>
                <a:ea typeface="Calibri" pitchFamily="34" charset="-122"/>
                <a:cs typeface="Calibri" pitchFamily="34" charset="-120"/>
              </a:rPr>
              <a:t>A buyer contracts at a hub price. The project settles at its own node, which can trade persistently below that hub — the gap is permanent margin erosion.</a:t>
            </a:r>
            <a:endParaRPr lang="en-US" sz="1150" dirty="0"/>
          </a:p>
        </p:txBody>
      </p:sp>
      <p:sp>
        <p:nvSpPr>
          <p:cNvPr id="9" name="Shape 7"/>
          <p:cNvSpPr/>
          <p:nvPr/>
        </p:nvSpPr>
        <p:spPr>
          <a:xfrm>
            <a:off x="548640" y="2834640"/>
            <a:ext cx="11064240" cy="1005840"/>
          </a:xfrm>
          <a:prstGeom prst="roundRect">
            <a:avLst>
              <a:gd name="adj" fmla="val 727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0" name="Shape 8"/>
          <p:cNvSpPr/>
          <p:nvPr/>
        </p:nvSpPr>
        <p:spPr>
          <a:xfrm>
            <a:off x="566928" y="3278124"/>
            <a:ext cx="118872" cy="118872"/>
          </a:xfrm>
          <a:prstGeom prst="ellipse">
            <a:avLst/>
          </a:prstGeom>
          <a:solidFill>
            <a:srgbClr val="E8A33D"/>
          </a:solidFill>
          <a:ln w="12700">
            <a:solidFill>
              <a:srgbClr val="E8A33D"/>
            </a:solidFill>
            <a:prstDash val="solid"/>
          </a:ln>
        </p:spPr>
      </p:sp>
      <p:sp>
        <p:nvSpPr>
          <p:cNvPr id="11" name="Text 9"/>
          <p:cNvSpPr/>
          <p:nvPr/>
        </p:nvSpPr>
        <p:spPr>
          <a:xfrm>
            <a:off x="841248" y="2980944"/>
            <a:ext cx="731520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Curtailment is estimated, not measured</a:t>
            </a:r>
            <a:endParaRPr lang="en-US" sz="1400" dirty="0"/>
          </a:p>
        </p:txBody>
      </p:sp>
      <p:sp>
        <p:nvSpPr>
          <p:cNvPr id="12" name="Text 10"/>
          <p:cNvSpPr/>
          <p:nvPr/>
        </p:nvSpPr>
        <p:spPr>
          <a:xfrm>
            <a:off x="841248" y="3328416"/>
            <a:ext cx="10515600" cy="457200"/>
          </a:xfrm>
          <a:prstGeom prst="rect">
            <a:avLst/>
          </a:prstGeom>
          <a:noFill/>
          <a:ln/>
        </p:spPr>
        <p:txBody>
          <a:bodyPr wrap="square" lIns="0" tIns="0" rIns="0" bIns="0" rtlCol="0" anchor="t"/>
          <a:lstStyle/>
          <a:p>
            <a:pPr algn="l" indent="0" marL="0">
              <a:lnSpc>
                <a:spcPct val="115000"/>
              </a:lnSpc>
              <a:buNone/>
            </a:pPr>
            <a:r>
              <a:rPr lang="en-US" sz="1150" dirty="0">
                <a:solidFill>
                  <a:srgbClr val="5A6E85"/>
                </a:solidFill>
                <a:latin typeface="Calibri" pitchFamily="34" charset="0"/>
                <a:ea typeface="Calibri" pitchFamily="34" charset="-122"/>
                <a:cs typeface="Calibri" pitchFamily="34" charset="-120"/>
              </a:rPr>
              <a:t>Most screening uses regional averages. Real negative-price exposure varies from under 2% to over 20% between nodes in the same market.</a:t>
            </a:r>
            <a:endParaRPr lang="en-US" sz="1150" dirty="0"/>
          </a:p>
        </p:txBody>
      </p:sp>
      <p:sp>
        <p:nvSpPr>
          <p:cNvPr id="13" name="Shape 11"/>
          <p:cNvSpPr/>
          <p:nvPr/>
        </p:nvSpPr>
        <p:spPr>
          <a:xfrm>
            <a:off x="548640" y="4005072"/>
            <a:ext cx="11064240" cy="1005840"/>
          </a:xfrm>
          <a:prstGeom prst="roundRect">
            <a:avLst>
              <a:gd name="adj" fmla="val 727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4" name="Shape 12"/>
          <p:cNvSpPr/>
          <p:nvPr/>
        </p:nvSpPr>
        <p:spPr>
          <a:xfrm>
            <a:off x="566928" y="4448556"/>
            <a:ext cx="118872" cy="118872"/>
          </a:xfrm>
          <a:prstGeom prst="ellipse">
            <a:avLst/>
          </a:prstGeom>
          <a:solidFill>
            <a:srgbClr val="E8A33D"/>
          </a:solidFill>
          <a:ln w="12700">
            <a:solidFill>
              <a:srgbClr val="E8A33D"/>
            </a:solidFill>
            <a:prstDash val="solid"/>
          </a:ln>
        </p:spPr>
      </p:sp>
      <p:sp>
        <p:nvSpPr>
          <p:cNvPr id="15" name="Text 13"/>
          <p:cNvSpPr/>
          <p:nvPr/>
        </p:nvSpPr>
        <p:spPr>
          <a:xfrm>
            <a:off x="841248" y="4151376"/>
            <a:ext cx="731520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Congestion is a forward risk, not a historic footnote</a:t>
            </a:r>
            <a:endParaRPr lang="en-US" sz="1400" dirty="0"/>
          </a:p>
        </p:txBody>
      </p:sp>
      <p:sp>
        <p:nvSpPr>
          <p:cNvPr id="16" name="Text 14"/>
          <p:cNvSpPr/>
          <p:nvPr/>
        </p:nvSpPr>
        <p:spPr>
          <a:xfrm>
            <a:off x="841248" y="4498848"/>
            <a:ext cx="10515600" cy="457200"/>
          </a:xfrm>
          <a:prstGeom prst="rect">
            <a:avLst/>
          </a:prstGeom>
          <a:noFill/>
          <a:ln/>
        </p:spPr>
        <p:txBody>
          <a:bodyPr wrap="square" lIns="0" tIns="0" rIns="0" bIns="0" rtlCol="0" anchor="t"/>
          <a:lstStyle/>
          <a:p>
            <a:pPr algn="l" indent="0" marL="0">
              <a:lnSpc>
                <a:spcPct val="115000"/>
              </a:lnSpc>
              <a:buNone/>
            </a:pPr>
            <a:r>
              <a:rPr lang="en-US" sz="1150" dirty="0">
                <a:solidFill>
                  <a:srgbClr val="5A6E85"/>
                </a:solidFill>
                <a:latin typeface="Calibri" pitchFamily="34" charset="0"/>
                <a:ea typeface="Calibri" pitchFamily="34" charset="-122"/>
                <a:cs typeface="Calibri" pitchFamily="34" charset="-120"/>
              </a:rPr>
              <a:t>Queue backlogs and transmission limits determine whether a site is deliverable in 2030 — not whether it looked good in 2024.</a:t>
            </a:r>
            <a:endParaRPr lang="en-US" sz="1150" dirty="0"/>
          </a:p>
        </p:txBody>
      </p:sp>
      <p:sp>
        <p:nvSpPr>
          <p:cNvPr id="17" name="Shape 15"/>
          <p:cNvSpPr/>
          <p:nvPr/>
        </p:nvSpPr>
        <p:spPr>
          <a:xfrm>
            <a:off x="548640" y="5175504"/>
            <a:ext cx="11064240" cy="1005840"/>
          </a:xfrm>
          <a:prstGeom prst="roundRect">
            <a:avLst>
              <a:gd name="adj" fmla="val 727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8" name="Shape 16"/>
          <p:cNvSpPr/>
          <p:nvPr/>
        </p:nvSpPr>
        <p:spPr>
          <a:xfrm>
            <a:off x="566928" y="5618988"/>
            <a:ext cx="118872" cy="118872"/>
          </a:xfrm>
          <a:prstGeom prst="ellipse">
            <a:avLst/>
          </a:prstGeom>
          <a:solidFill>
            <a:srgbClr val="2E86AB"/>
          </a:solidFill>
          <a:ln w="12700">
            <a:solidFill>
              <a:srgbClr val="2E86AB"/>
            </a:solidFill>
            <a:prstDash val="solid"/>
          </a:ln>
        </p:spPr>
      </p:sp>
      <p:sp>
        <p:nvSpPr>
          <p:cNvPr id="19" name="Text 17"/>
          <p:cNvSpPr/>
          <p:nvPr/>
        </p:nvSpPr>
        <p:spPr>
          <a:xfrm>
            <a:off x="841248" y="5321808"/>
            <a:ext cx="731520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Diligence is spreadsheet-bound</a:t>
            </a:r>
            <a:endParaRPr lang="en-US" sz="1400" dirty="0"/>
          </a:p>
        </p:txBody>
      </p:sp>
      <p:sp>
        <p:nvSpPr>
          <p:cNvPr id="20" name="Text 18"/>
          <p:cNvSpPr/>
          <p:nvPr/>
        </p:nvSpPr>
        <p:spPr>
          <a:xfrm>
            <a:off x="841248" y="5669280"/>
            <a:ext cx="10515600" cy="457200"/>
          </a:xfrm>
          <a:prstGeom prst="rect">
            <a:avLst/>
          </a:prstGeom>
          <a:noFill/>
          <a:ln/>
        </p:spPr>
        <p:txBody>
          <a:bodyPr wrap="square" lIns="0" tIns="0" rIns="0" bIns="0" rtlCol="0" anchor="t"/>
          <a:lstStyle/>
          <a:p>
            <a:pPr algn="l" indent="0" marL="0">
              <a:lnSpc>
                <a:spcPct val="115000"/>
              </a:lnSpc>
              <a:buNone/>
            </a:pPr>
            <a:r>
              <a:rPr lang="en-US" sz="1150" dirty="0">
                <a:solidFill>
                  <a:srgbClr val="5A6E85"/>
                </a:solidFill>
                <a:latin typeface="Calibri" pitchFamily="34" charset="0"/>
                <a:ea typeface="Calibri" pitchFamily="34" charset="-122"/>
                <a:cs typeface="Calibri" pitchFamily="34" charset="-120"/>
              </a:rPr>
              <a:t>Deal teams reconcile vendor extracts by hand. There is no auditable line from a regulator filing to the number in the investment memo.</a:t>
            </a:r>
            <a:endParaRPr lang="en-US" sz="1150" dirty="0"/>
          </a:p>
        </p:txBody>
      </p:sp>
      <p:sp>
        <p:nvSpPr>
          <p:cNvPr id="21" name="Text 19"/>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5A6E85"/>
                </a:solidFill>
                <a:latin typeface="Calibri" pitchFamily="34" charset="0"/>
                <a:ea typeface="Calibri" pitchFamily="34" charset="-122"/>
                <a:cs typeface="Calibri" pitchFamily="34" charset="-120"/>
              </a:rPr>
              <a:t>Illustrative example from the platform: HB_PAN shows ~21% negative-price hours vs ~2% at HB_HOUSTON — same market, same year.</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02C39A"/>
                </a:solidFill>
                <a:latin typeface="Calibri" pitchFamily="34" charset="0"/>
                <a:ea typeface="Calibri" pitchFamily="34" charset="-122"/>
                <a:cs typeface="Calibri" pitchFamily="34" charset="-120"/>
              </a:rPr>
              <a:t>CORE CAPABILITY</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Two questions the platform answers</a:t>
            </a:r>
            <a:endParaRPr lang="en-US" sz="3000" dirty="0"/>
          </a:p>
        </p:txBody>
      </p:sp>
      <p:sp>
        <p:nvSpPr>
          <p:cNvPr id="4" name="Shape 2"/>
          <p:cNvSpPr/>
          <p:nvPr/>
        </p:nvSpPr>
        <p:spPr>
          <a:xfrm>
            <a:off x="548640" y="1645920"/>
            <a:ext cx="5440680" cy="3931920"/>
          </a:xfrm>
          <a:prstGeom prst="roundRect">
            <a:avLst>
              <a:gd name="adj" fmla="val 1860"/>
            </a:avLst>
          </a:prstGeom>
          <a:solidFill>
            <a:srgbClr val="17263C"/>
          </a:solidFill>
          <a:ln w="12700">
            <a:solidFill>
              <a:srgbClr val="1F3350"/>
            </a:solidFill>
            <a:prstDash val="solid"/>
          </a:ln>
        </p:spPr>
      </p:sp>
      <p:sp>
        <p:nvSpPr>
          <p:cNvPr id="5" name="Shape 3"/>
          <p:cNvSpPr/>
          <p:nvPr/>
        </p:nvSpPr>
        <p:spPr>
          <a:xfrm>
            <a:off x="822960" y="1874520"/>
            <a:ext cx="475488" cy="475488"/>
          </a:xfrm>
          <a:prstGeom prst="ellipse">
            <a:avLst/>
          </a:prstGeom>
          <a:solidFill>
            <a:srgbClr val="02C39A"/>
          </a:solidFill>
          <a:ln w="12700">
            <a:solidFill>
              <a:srgbClr val="02C39A"/>
            </a:solidFill>
            <a:prstDash val="solid"/>
          </a:ln>
        </p:spPr>
      </p:sp>
      <p:sp>
        <p:nvSpPr>
          <p:cNvPr id="6" name="Text 4"/>
          <p:cNvSpPr/>
          <p:nvPr/>
        </p:nvSpPr>
        <p:spPr>
          <a:xfrm>
            <a:off x="822960" y="1874520"/>
            <a:ext cx="475488" cy="475488"/>
          </a:xfrm>
          <a:prstGeom prst="rect">
            <a:avLst/>
          </a:prstGeom>
          <a:noFill/>
          <a:ln/>
        </p:spPr>
        <p:txBody>
          <a:bodyPr wrap="square" lIns="0" tIns="0" rIns="0" bIns="0" rtlCol="0" anchor="ctr"/>
          <a:lstStyle/>
          <a:p>
            <a:pPr algn="ctr" indent="0" marL="0">
              <a:buNone/>
            </a:pPr>
            <a:r>
              <a:rPr lang="en-US" sz="1500" b="1" dirty="0">
                <a:solidFill>
                  <a:srgbClr val="0E1A2B"/>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22960" y="2514600"/>
            <a:ext cx="4754880" cy="292608"/>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PPA origination screening</a:t>
            </a:r>
            <a:endParaRPr lang="en-US" sz="1700" dirty="0"/>
          </a:p>
        </p:txBody>
      </p:sp>
      <p:sp>
        <p:nvSpPr>
          <p:cNvPr id="8" name="Text 6"/>
          <p:cNvSpPr/>
          <p:nvPr/>
        </p:nvSpPr>
        <p:spPr>
          <a:xfrm>
            <a:off x="822960" y="2880360"/>
            <a:ext cx="4892040" cy="457200"/>
          </a:xfrm>
          <a:prstGeom prst="rect">
            <a:avLst/>
          </a:prstGeom>
          <a:noFill/>
          <a:ln/>
        </p:spPr>
        <p:txBody>
          <a:bodyPr wrap="square" lIns="0" tIns="0" rIns="0" bIns="0" rtlCol="0" anchor="t"/>
          <a:lstStyle/>
          <a:p>
            <a:pPr algn="l" indent="0" marL="0">
              <a:lnSpc>
                <a:spcPct val="115000"/>
              </a:lnSpc>
              <a:buNone/>
            </a:pPr>
            <a:r>
              <a:rPr lang="en-US" sz="1150" i="1" dirty="0">
                <a:solidFill>
                  <a:srgbClr val="02C39A"/>
                </a:solidFill>
                <a:latin typeface="Calibri" pitchFamily="34" charset="0"/>
                <a:ea typeface="Calibri" pitchFamily="34" charset="-122"/>
                <a:cs typeface="Calibri" pitchFamily="34" charset="-120"/>
              </a:rPr>
              <a:t>“Of every operating project in this market, which should we contract with — and at what price?”</a:t>
            </a:r>
            <a:endParaRPr lang="en-US" sz="1150" dirty="0"/>
          </a:p>
        </p:txBody>
      </p:sp>
      <p:sp>
        <p:nvSpPr>
          <p:cNvPr id="9" name="Text 7"/>
          <p:cNvSpPr/>
          <p:nvPr/>
        </p:nvSpPr>
        <p:spPr>
          <a:xfrm>
            <a:off x="822960" y="3493008"/>
            <a:ext cx="4892040" cy="192024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6,163 operating generators scored on 8 risk dimensions</a:t>
            </a:r>
            <a:endParaRPr lang="en-US" sz="1100" dirty="0"/>
          </a:p>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Real nodal capture price, not hub proxy</a:t>
            </a:r>
            <a:endParaRPr lang="en-US" sz="1100" dirty="0"/>
          </a:p>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Basis and curtailment from measured settlement data</a:t>
            </a:r>
            <a:endParaRPr lang="en-US" sz="1100" dirty="0"/>
          </a:p>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PPA / VPPA NPV with P10 / P50 / P90 outcomes</a:t>
            </a:r>
            <a:endParaRPr lang="en-US" sz="1100" dirty="0"/>
          </a:p>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Exportable ranked shortlist for the deal team</a:t>
            </a:r>
            <a:endParaRPr lang="en-US" sz="1100" dirty="0"/>
          </a:p>
        </p:txBody>
      </p:sp>
      <p:sp>
        <p:nvSpPr>
          <p:cNvPr id="10" name="Shape 8"/>
          <p:cNvSpPr/>
          <p:nvPr/>
        </p:nvSpPr>
        <p:spPr>
          <a:xfrm>
            <a:off x="6172200" y="1645920"/>
            <a:ext cx="5440680" cy="3931920"/>
          </a:xfrm>
          <a:prstGeom prst="roundRect">
            <a:avLst>
              <a:gd name="adj" fmla="val 1860"/>
            </a:avLst>
          </a:prstGeom>
          <a:solidFill>
            <a:srgbClr val="17263C"/>
          </a:solidFill>
          <a:ln w="12700">
            <a:solidFill>
              <a:srgbClr val="1F3350"/>
            </a:solidFill>
            <a:prstDash val="solid"/>
          </a:ln>
        </p:spPr>
      </p:sp>
      <p:sp>
        <p:nvSpPr>
          <p:cNvPr id="11" name="Shape 9"/>
          <p:cNvSpPr/>
          <p:nvPr/>
        </p:nvSpPr>
        <p:spPr>
          <a:xfrm>
            <a:off x="6446520" y="1874520"/>
            <a:ext cx="475488" cy="475488"/>
          </a:xfrm>
          <a:prstGeom prst="ellipse">
            <a:avLst/>
          </a:prstGeom>
          <a:solidFill>
            <a:srgbClr val="E8A33D"/>
          </a:solidFill>
          <a:ln w="12700">
            <a:solidFill>
              <a:srgbClr val="E8A33D"/>
            </a:solidFill>
            <a:prstDash val="solid"/>
          </a:ln>
        </p:spPr>
      </p:sp>
      <p:sp>
        <p:nvSpPr>
          <p:cNvPr id="12" name="Text 10"/>
          <p:cNvSpPr/>
          <p:nvPr/>
        </p:nvSpPr>
        <p:spPr>
          <a:xfrm>
            <a:off x="6446520" y="1874520"/>
            <a:ext cx="475488" cy="475488"/>
          </a:xfrm>
          <a:prstGeom prst="rect">
            <a:avLst/>
          </a:prstGeom>
          <a:noFill/>
          <a:ln/>
        </p:spPr>
        <p:txBody>
          <a:bodyPr wrap="square" lIns="0" tIns="0" rIns="0" bIns="0" rtlCol="0" anchor="ctr"/>
          <a:lstStyle/>
          <a:p>
            <a:pPr algn="ctr" indent="0" marL="0">
              <a:buNone/>
            </a:pPr>
            <a:r>
              <a:rPr lang="en-US" sz="1500" b="1" dirty="0">
                <a:solidFill>
                  <a:srgbClr val="0E1A2B"/>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6446520" y="2514600"/>
            <a:ext cx="4754880" cy="292608"/>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Greenfield siting &amp; interconnection</a:t>
            </a:r>
            <a:endParaRPr lang="en-US" sz="1700" dirty="0"/>
          </a:p>
        </p:txBody>
      </p:sp>
      <p:sp>
        <p:nvSpPr>
          <p:cNvPr id="14" name="Text 12"/>
          <p:cNvSpPr/>
          <p:nvPr/>
        </p:nvSpPr>
        <p:spPr>
          <a:xfrm>
            <a:off x="6446520" y="2880360"/>
            <a:ext cx="4892040" cy="457200"/>
          </a:xfrm>
          <a:prstGeom prst="rect">
            <a:avLst/>
          </a:prstGeom>
          <a:noFill/>
          <a:ln/>
        </p:spPr>
        <p:txBody>
          <a:bodyPr wrap="square" lIns="0" tIns="0" rIns="0" bIns="0" rtlCol="0" anchor="t"/>
          <a:lstStyle/>
          <a:p>
            <a:pPr algn="l" indent="0" marL="0">
              <a:lnSpc>
                <a:spcPct val="115000"/>
              </a:lnSpc>
              <a:buNone/>
            </a:pPr>
            <a:r>
              <a:rPr lang="en-US" sz="1150" i="1" dirty="0">
                <a:solidFill>
                  <a:srgbClr val="E8A33D"/>
                </a:solidFill>
                <a:latin typeface="Calibri" pitchFamily="34" charset="0"/>
                <a:ea typeface="Calibri" pitchFamily="34" charset="-122"/>
                <a:cs typeface="Calibri" pitchFamily="34" charset="-120"/>
              </a:rPr>
              <a:t>“If we build new capacity, where does it survive congestion and actually reach the grid?”</a:t>
            </a:r>
            <a:endParaRPr lang="en-US" sz="1150" dirty="0"/>
          </a:p>
        </p:txBody>
      </p:sp>
      <p:sp>
        <p:nvSpPr>
          <p:cNvPr id="15" name="Text 13"/>
          <p:cNvSpPr/>
          <p:nvPr/>
        </p:nvSpPr>
        <p:spPr>
          <a:xfrm>
            <a:off x="6446520" y="3493008"/>
            <a:ext cx="4892040" cy="192024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Interconnection queue depth by zone as a deliverability signal</a:t>
            </a:r>
            <a:endParaRPr lang="en-US" sz="1100" dirty="0"/>
          </a:p>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340-bus power-flow model for congestion and curtailment</a:t>
            </a:r>
            <a:endParaRPr lang="en-US" sz="1100" dirty="0"/>
          </a:p>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Transmission-relief scenarios: what an upgrade unlocks</a:t>
            </a:r>
            <a:endParaRPr lang="en-US" sz="1100" dirty="0"/>
          </a:p>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Scarcity and load-shed stress testing to 85 GW peak</a:t>
            </a:r>
            <a:endParaRPr lang="en-US" sz="1100" dirty="0"/>
          </a:p>
          <a:p>
            <a:pPr marL="342900" indent="-342900">
              <a:spcAft>
                <a:spcPts val="700"/>
              </a:spcAft>
              <a:buSzPct val="100000"/>
              <a:buChar char="•"/>
            </a:pPr>
            <a:r>
              <a:rPr lang="en-US" sz="1100" dirty="0">
                <a:solidFill>
                  <a:srgbClr val="D6E4F0"/>
                </a:solidFill>
                <a:latin typeface="Calibri" pitchFamily="34" charset="0"/>
                <a:ea typeface="Calibri" pitchFamily="34" charset="-122"/>
                <a:cs typeface="Calibri" pitchFamily="34" charset="-120"/>
              </a:rPr>
              <a:t>Demand-side overlay: data centres, EV load, weather</a:t>
            </a:r>
            <a:endParaRPr lang="en-US" sz="1100" dirty="0"/>
          </a:p>
        </p:txBody>
      </p:sp>
      <p:sp>
        <p:nvSpPr>
          <p:cNvPr id="16" name="Text 14"/>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8CA3BC"/>
                </a:solidFill>
                <a:latin typeface="Calibri" pitchFamily="34" charset="0"/>
                <a:ea typeface="Calibri" pitchFamily="34" charset="-122"/>
                <a:cs typeface="Calibri" pitchFamily="34" charset="-120"/>
              </a:rPr>
              <a:t>Same data foundation, two directions: contract with what exists, or decide where to build.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CREDIBILITY</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Everything traces to a primary source</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No vendor black box, no synthetic estimates — this is the differentiator in diligence</a:t>
            </a:r>
            <a:endParaRPr lang="en-US" sz="1350" dirty="0"/>
          </a:p>
        </p:txBody>
      </p:sp>
      <p:sp>
        <p:nvSpPr>
          <p:cNvPr id="5" name="Text 3"/>
          <p:cNvSpPr/>
          <p:nvPr/>
        </p:nvSpPr>
        <p:spPr>
          <a:xfrm>
            <a:off x="822960" y="1481328"/>
            <a:ext cx="1828800" cy="219456"/>
          </a:xfrm>
          <a:prstGeom prst="rect">
            <a:avLst/>
          </a:prstGeom>
          <a:noFill/>
          <a:ln/>
        </p:spPr>
        <p:txBody>
          <a:bodyPr wrap="square" lIns="0" tIns="0" rIns="0" bIns="0" rtlCol="0" anchor="ctr"/>
          <a:lstStyle/>
          <a:p>
            <a:pPr indent="0" marL="0">
              <a:buNone/>
            </a:pPr>
            <a:r>
              <a:rPr lang="en-US" sz="900" b="1" spc="150" kern="0" dirty="0">
                <a:solidFill>
                  <a:srgbClr val="5A6E85"/>
                </a:solidFill>
                <a:latin typeface="Calibri" pitchFamily="34" charset="0"/>
                <a:ea typeface="Calibri" pitchFamily="34" charset="-122"/>
                <a:cs typeface="Calibri" pitchFamily="34" charset="-120"/>
              </a:rPr>
              <a:t>SOURCE</a:t>
            </a:r>
            <a:endParaRPr lang="en-US" sz="900" dirty="0"/>
          </a:p>
        </p:txBody>
      </p:sp>
      <p:sp>
        <p:nvSpPr>
          <p:cNvPr id="6" name="Text 4"/>
          <p:cNvSpPr/>
          <p:nvPr/>
        </p:nvSpPr>
        <p:spPr>
          <a:xfrm>
            <a:off x="2834640" y="1481328"/>
            <a:ext cx="5029200" cy="219456"/>
          </a:xfrm>
          <a:prstGeom prst="rect">
            <a:avLst/>
          </a:prstGeom>
          <a:noFill/>
          <a:ln/>
        </p:spPr>
        <p:txBody>
          <a:bodyPr wrap="square" lIns="0" tIns="0" rIns="0" bIns="0" rtlCol="0" anchor="ctr"/>
          <a:lstStyle/>
          <a:p>
            <a:pPr indent="0" marL="0">
              <a:buNone/>
            </a:pPr>
            <a:r>
              <a:rPr lang="en-US" sz="900" b="1" spc="150" kern="0" dirty="0">
                <a:solidFill>
                  <a:srgbClr val="5A6E85"/>
                </a:solidFill>
                <a:latin typeface="Calibri" pitchFamily="34" charset="0"/>
                <a:ea typeface="Calibri" pitchFamily="34" charset="-122"/>
                <a:cs typeface="Calibri" pitchFamily="34" charset="-120"/>
              </a:rPr>
              <a:t>WHAT WE PULL</a:t>
            </a:r>
            <a:endParaRPr lang="en-US" sz="900" dirty="0"/>
          </a:p>
        </p:txBody>
      </p:sp>
      <p:sp>
        <p:nvSpPr>
          <p:cNvPr id="7" name="Text 5"/>
          <p:cNvSpPr/>
          <p:nvPr/>
        </p:nvSpPr>
        <p:spPr>
          <a:xfrm>
            <a:off x="8138160" y="1481328"/>
            <a:ext cx="3474720" cy="219456"/>
          </a:xfrm>
          <a:prstGeom prst="rect">
            <a:avLst/>
          </a:prstGeom>
          <a:noFill/>
          <a:ln/>
        </p:spPr>
        <p:txBody>
          <a:bodyPr wrap="square" lIns="0" tIns="0" rIns="0" bIns="0" rtlCol="0" anchor="ctr"/>
          <a:lstStyle/>
          <a:p>
            <a:pPr indent="0" marL="0">
              <a:buNone/>
            </a:pPr>
            <a:r>
              <a:rPr lang="en-US" sz="900" b="1" spc="150" kern="0" dirty="0">
                <a:solidFill>
                  <a:srgbClr val="5A6E85"/>
                </a:solidFill>
                <a:latin typeface="Calibri" pitchFamily="34" charset="0"/>
                <a:ea typeface="Calibri" pitchFamily="34" charset="-122"/>
                <a:cs typeface="Calibri" pitchFamily="34" charset="-120"/>
              </a:rPr>
              <a:t>VOLUME ON PLATFORM</a:t>
            </a:r>
            <a:endParaRPr lang="en-US" sz="900" dirty="0"/>
          </a:p>
        </p:txBody>
      </p:sp>
      <p:sp>
        <p:nvSpPr>
          <p:cNvPr id="8" name="Shape 6"/>
          <p:cNvSpPr/>
          <p:nvPr/>
        </p:nvSpPr>
        <p:spPr>
          <a:xfrm>
            <a:off x="548640" y="1773936"/>
            <a:ext cx="11064240" cy="612648"/>
          </a:xfrm>
          <a:prstGeom prst="roundRect">
            <a:avLst>
              <a:gd name="adj" fmla="val 1194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9" name="Text 7"/>
          <p:cNvSpPr/>
          <p:nvPr/>
        </p:nvSpPr>
        <p:spPr>
          <a:xfrm>
            <a:off x="822960" y="1956816"/>
            <a:ext cx="1920240" cy="274320"/>
          </a:xfrm>
          <a:prstGeom prst="rect">
            <a:avLst/>
          </a:prstGeom>
          <a:noFill/>
          <a:ln/>
        </p:spPr>
        <p:txBody>
          <a:bodyPr wrap="square" lIns="0" tIns="0" rIns="0" bIns="0" rtlCol="0" anchor="t"/>
          <a:lstStyle/>
          <a:p>
            <a:pPr algn="l" indent="0" marL="0">
              <a:lnSpc>
                <a:spcPct val="112000"/>
              </a:lnSpc>
              <a:buNone/>
            </a:pPr>
            <a:r>
              <a:rPr lang="en-US" sz="1200" b="1" dirty="0">
                <a:solidFill>
                  <a:srgbClr val="2E86AB"/>
                </a:solidFill>
                <a:latin typeface="Calibri" pitchFamily="34" charset="0"/>
                <a:ea typeface="Calibri" pitchFamily="34" charset="-122"/>
                <a:cs typeface="Calibri" pitchFamily="34" charset="-120"/>
              </a:rPr>
              <a:t>ERCOT</a:t>
            </a:r>
            <a:endParaRPr lang="en-US" sz="1200" dirty="0"/>
          </a:p>
        </p:txBody>
      </p:sp>
      <p:sp>
        <p:nvSpPr>
          <p:cNvPr id="10" name="Text 8"/>
          <p:cNvSpPr/>
          <p:nvPr/>
        </p:nvSpPr>
        <p:spPr>
          <a:xfrm>
            <a:off x="2834640" y="1965960"/>
            <a:ext cx="5166360" cy="292608"/>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Settlement point prices (DA + RT), SCED 60-day disclosure, GIS interconnection queue</a:t>
            </a:r>
            <a:endParaRPr lang="en-US" sz="1050" dirty="0"/>
          </a:p>
        </p:txBody>
      </p:sp>
      <p:sp>
        <p:nvSpPr>
          <p:cNvPr id="11" name="Text 9"/>
          <p:cNvSpPr/>
          <p:nvPr/>
        </p:nvSpPr>
        <p:spPr>
          <a:xfrm>
            <a:off x="8138160" y="1965960"/>
            <a:ext cx="3383280" cy="292608"/>
          </a:xfrm>
          <a:prstGeom prst="rect">
            <a:avLst/>
          </a:prstGeom>
          <a:noFill/>
          <a:ln/>
        </p:spPr>
        <p:txBody>
          <a:bodyPr wrap="square" lIns="0" tIns="0" rIns="0" bIns="0" rtlCol="0" anchor="t"/>
          <a:lstStyle/>
          <a:p>
            <a:pPr algn="l" indent="0" marL="0">
              <a:lnSpc>
                <a:spcPct val="112000"/>
              </a:lnSpc>
              <a:buNone/>
            </a:pPr>
            <a:r>
              <a:rPr lang="en-US" sz="1050" b="1" dirty="0">
                <a:solidFill>
                  <a:srgbClr val="02C39A"/>
                </a:solidFill>
                <a:latin typeface="Calibri" pitchFamily="34" charset="0"/>
                <a:ea typeface="Calibri" pitchFamily="34" charset="-122"/>
                <a:cs typeface="Calibri" pitchFamily="34" charset="-120"/>
              </a:rPr>
              <a:t>11.7M node-hours · 25.5M dispatch rows</a:t>
            </a:r>
            <a:endParaRPr lang="en-US" sz="1050" dirty="0"/>
          </a:p>
        </p:txBody>
      </p:sp>
      <p:sp>
        <p:nvSpPr>
          <p:cNvPr id="12" name="Shape 10"/>
          <p:cNvSpPr/>
          <p:nvPr/>
        </p:nvSpPr>
        <p:spPr>
          <a:xfrm>
            <a:off x="548640" y="2496312"/>
            <a:ext cx="11064240" cy="612648"/>
          </a:xfrm>
          <a:prstGeom prst="roundRect">
            <a:avLst>
              <a:gd name="adj" fmla="val 1194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3" name="Text 11"/>
          <p:cNvSpPr/>
          <p:nvPr/>
        </p:nvSpPr>
        <p:spPr>
          <a:xfrm>
            <a:off x="822960" y="2679192"/>
            <a:ext cx="1920240" cy="274320"/>
          </a:xfrm>
          <a:prstGeom prst="rect">
            <a:avLst/>
          </a:prstGeom>
          <a:noFill/>
          <a:ln/>
        </p:spPr>
        <p:txBody>
          <a:bodyPr wrap="square" lIns="0" tIns="0" rIns="0" bIns="0" rtlCol="0" anchor="t"/>
          <a:lstStyle/>
          <a:p>
            <a:pPr algn="l" indent="0" marL="0">
              <a:lnSpc>
                <a:spcPct val="112000"/>
              </a:lnSpc>
              <a:buNone/>
            </a:pPr>
            <a:r>
              <a:rPr lang="en-US" sz="1200" b="1" dirty="0">
                <a:solidFill>
                  <a:srgbClr val="2E86AB"/>
                </a:solidFill>
                <a:latin typeface="Calibri" pitchFamily="34" charset="0"/>
                <a:ea typeface="Calibri" pitchFamily="34" charset="-122"/>
                <a:cs typeface="Calibri" pitchFamily="34" charset="-120"/>
              </a:rPr>
              <a:t>CAISO</a:t>
            </a:r>
            <a:endParaRPr lang="en-US" sz="1200" dirty="0"/>
          </a:p>
        </p:txBody>
      </p:sp>
      <p:sp>
        <p:nvSpPr>
          <p:cNvPr id="14" name="Text 12"/>
          <p:cNvSpPr/>
          <p:nvPr/>
        </p:nvSpPr>
        <p:spPr>
          <a:xfrm>
            <a:off x="2834640" y="2688336"/>
            <a:ext cx="5166360" cy="292608"/>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OASIS day-ahead and HASP real-time LMPs</a:t>
            </a:r>
            <a:endParaRPr lang="en-US" sz="1050" dirty="0"/>
          </a:p>
        </p:txBody>
      </p:sp>
      <p:sp>
        <p:nvSpPr>
          <p:cNvPr id="15" name="Text 13"/>
          <p:cNvSpPr/>
          <p:nvPr/>
        </p:nvSpPr>
        <p:spPr>
          <a:xfrm>
            <a:off x="8138160" y="2688336"/>
            <a:ext cx="3383280" cy="292608"/>
          </a:xfrm>
          <a:prstGeom prst="rect">
            <a:avLst/>
          </a:prstGeom>
          <a:noFill/>
          <a:ln/>
        </p:spPr>
        <p:txBody>
          <a:bodyPr wrap="square" lIns="0" tIns="0" rIns="0" bIns="0" rtlCol="0" anchor="t"/>
          <a:lstStyle/>
          <a:p>
            <a:pPr algn="l" indent="0" marL="0">
              <a:lnSpc>
                <a:spcPct val="112000"/>
              </a:lnSpc>
              <a:buNone/>
            </a:pPr>
            <a:r>
              <a:rPr lang="en-US" sz="1050" b="1" dirty="0">
                <a:solidFill>
                  <a:srgbClr val="02C39A"/>
                </a:solidFill>
                <a:latin typeface="Calibri" pitchFamily="34" charset="0"/>
                <a:ea typeface="Calibri" pitchFamily="34" charset="-122"/>
                <a:cs typeface="Calibri" pitchFamily="34" charset="-120"/>
              </a:rPr>
              <a:t>65,655 hourly records</a:t>
            </a:r>
            <a:endParaRPr lang="en-US" sz="1050" dirty="0"/>
          </a:p>
        </p:txBody>
      </p:sp>
      <p:sp>
        <p:nvSpPr>
          <p:cNvPr id="16" name="Shape 14"/>
          <p:cNvSpPr/>
          <p:nvPr/>
        </p:nvSpPr>
        <p:spPr>
          <a:xfrm>
            <a:off x="548640" y="3218688"/>
            <a:ext cx="11064240" cy="612648"/>
          </a:xfrm>
          <a:prstGeom prst="roundRect">
            <a:avLst>
              <a:gd name="adj" fmla="val 1194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7" name="Text 15"/>
          <p:cNvSpPr/>
          <p:nvPr/>
        </p:nvSpPr>
        <p:spPr>
          <a:xfrm>
            <a:off x="822960" y="3401568"/>
            <a:ext cx="1920240" cy="274320"/>
          </a:xfrm>
          <a:prstGeom prst="rect">
            <a:avLst/>
          </a:prstGeom>
          <a:noFill/>
          <a:ln/>
        </p:spPr>
        <p:txBody>
          <a:bodyPr wrap="square" lIns="0" tIns="0" rIns="0" bIns="0" rtlCol="0" anchor="t"/>
          <a:lstStyle/>
          <a:p>
            <a:pPr algn="l" indent="0" marL="0">
              <a:lnSpc>
                <a:spcPct val="112000"/>
              </a:lnSpc>
              <a:buNone/>
            </a:pPr>
            <a:r>
              <a:rPr lang="en-US" sz="1200" b="1" dirty="0">
                <a:solidFill>
                  <a:srgbClr val="2E86AB"/>
                </a:solidFill>
                <a:latin typeface="Calibri" pitchFamily="34" charset="0"/>
                <a:ea typeface="Calibri" pitchFamily="34" charset="-122"/>
                <a:cs typeface="Calibri" pitchFamily="34" charset="-120"/>
              </a:rPr>
              <a:t>PJM</a:t>
            </a:r>
            <a:endParaRPr lang="en-US" sz="1200" dirty="0"/>
          </a:p>
        </p:txBody>
      </p:sp>
      <p:sp>
        <p:nvSpPr>
          <p:cNvPr id="18" name="Text 16"/>
          <p:cNvSpPr/>
          <p:nvPr/>
        </p:nvSpPr>
        <p:spPr>
          <a:xfrm>
            <a:off x="2834640" y="3410712"/>
            <a:ext cx="5166360" cy="292608"/>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Hub and zone nodal statistics</a:t>
            </a:r>
            <a:endParaRPr lang="en-US" sz="1050" dirty="0"/>
          </a:p>
        </p:txBody>
      </p:sp>
      <p:sp>
        <p:nvSpPr>
          <p:cNvPr id="19" name="Text 17"/>
          <p:cNvSpPr/>
          <p:nvPr/>
        </p:nvSpPr>
        <p:spPr>
          <a:xfrm>
            <a:off x="8138160" y="3410712"/>
            <a:ext cx="3383280" cy="292608"/>
          </a:xfrm>
          <a:prstGeom prst="rect">
            <a:avLst/>
          </a:prstGeom>
          <a:noFill/>
          <a:ln/>
        </p:spPr>
        <p:txBody>
          <a:bodyPr wrap="square" lIns="0" tIns="0" rIns="0" bIns="0" rtlCol="0" anchor="t"/>
          <a:lstStyle/>
          <a:p>
            <a:pPr algn="l" indent="0" marL="0">
              <a:lnSpc>
                <a:spcPct val="112000"/>
              </a:lnSpc>
              <a:buNone/>
            </a:pPr>
            <a:r>
              <a:rPr lang="en-US" sz="1050" b="1" dirty="0">
                <a:solidFill>
                  <a:srgbClr val="02C39A"/>
                </a:solidFill>
                <a:latin typeface="Calibri" pitchFamily="34" charset="0"/>
                <a:ea typeface="Calibri" pitchFamily="34" charset="-122"/>
                <a:cs typeface="Calibri" pitchFamily="34" charset="-120"/>
              </a:rPr>
              <a:t>14,336 records</a:t>
            </a:r>
            <a:endParaRPr lang="en-US" sz="1050" dirty="0"/>
          </a:p>
        </p:txBody>
      </p:sp>
      <p:sp>
        <p:nvSpPr>
          <p:cNvPr id="20" name="Shape 18"/>
          <p:cNvSpPr/>
          <p:nvPr/>
        </p:nvSpPr>
        <p:spPr>
          <a:xfrm>
            <a:off x="548640" y="3941064"/>
            <a:ext cx="11064240" cy="612648"/>
          </a:xfrm>
          <a:prstGeom prst="roundRect">
            <a:avLst>
              <a:gd name="adj" fmla="val 1194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1" name="Text 19"/>
          <p:cNvSpPr/>
          <p:nvPr/>
        </p:nvSpPr>
        <p:spPr>
          <a:xfrm>
            <a:off x="822960" y="4123944"/>
            <a:ext cx="1920240" cy="274320"/>
          </a:xfrm>
          <a:prstGeom prst="rect">
            <a:avLst/>
          </a:prstGeom>
          <a:noFill/>
          <a:ln/>
        </p:spPr>
        <p:txBody>
          <a:bodyPr wrap="square" lIns="0" tIns="0" rIns="0" bIns="0" rtlCol="0" anchor="t"/>
          <a:lstStyle/>
          <a:p>
            <a:pPr algn="l" indent="0" marL="0">
              <a:lnSpc>
                <a:spcPct val="112000"/>
              </a:lnSpc>
              <a:buNone/>
            </a:pPr>
            <a:r>
              <a:rPr lang="en-US" sz="1200" b="1" dirty="0">
                <a:solidFill>
                  <a:srgbClr val="2E86AB"/>
                </a:solidFill>
                <a:latin typeface="Calibri" pitchFamily="34" charset="0"/>
                <a:ea typeface="Calibri" pitchFamily="34" charset="-122"/>
                <a:cs typeface="Calibri" pitchFamily="34" charset="-120"/>
              </a:rPr>
              <a:t>EIA</a:t>
            </a:r>
            <a:endParaRPr lang="en-US" sz="1200" dirty="0"/>
          </a:p>
        </p:txBody>
      </p:sp>
      <p:sp>
        <p:nvSpPr>
          <p:cNvPr id="22" name="Text 20"/>
          <p:cNvSpPr/>
          <p:nvPr/>
        </p:nvSpPr>
        <p:spPr>
          <a:xfrm>
            <a:off x="2834640" y="4133088"/>
            <a:ext cx="5166360" cy="292608"/>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Form 860 generator universe; EIA-930 load and fuel mix by zone</a:t>
            </a:r>
            <a:endParaRPr lang="en-US" sz="1050" dirty="0"/>
          </a:p>
        </p:txBody>
      </p:sp>
      <p:sp>
        <p:nvSpPr>
          <p:cNvPr id="23" name="Text 21"/>
          <p:cNvSpPr/>
          <p:nvPr/>
        </p:nvSpPr>
        <p:spPr>
          <a:xfrm>
            <a:off x="8138160" y="4133088"/>
            <a:ext cx="3383280" cy="292608"/>
          </a:xfrm>
          <a:prstGeom prst="rect">
            <a:avLst/>
          </a:prstGeom>
          <a:noFill/>
          <a:ln/>
        </p:spPr>
        <p:txBody>
          <a:bodyPr wrap="square" lIns="0" tIns="0" rIns="0" bIns="0" rtlCol="0" anchor="t"/>
          <a:lstStyle/>
          <a:p>
            <a:pPr algn="l" indent="0" marL="0">
              <a:lnSpc>
                <a:spcPct val="112000"/>
              </a:lnSpc>
              <a:buNone/>
            </a:pPr>
            <a:r>
              <a:rPr lang="en-US" sz="1050" b="1" dirty="0">
                <a:solidFill>
                  <a:srgbClr val="02C39A"/>
                </a:solidFill>
                <a:latin typeface="Calibri" pitchFamily="34" charset="0"/>
                <a:ea typeface="Calibri" pitchFamily="34" charset="-122"/>
                <a:cs typeface="Calibri" pitchFamily="34" charset="-120"/>
              </a:rPr>
              <a:t>6,163 plants · 341K load/fuel rows</a:t>
            </a:r>
            <a:endParaRPr lang="en-US" sz="1050" dirty="0"/>
          </a:p>
        </p:txBody>
      </p:sp>
      <p:sp>
        <p:nvSpPr>
          <p:cNvPr id="24" name="Shape 22"/>
          <p:cNvSpPr/>
          <p:nvPr/>
        </p:nvSpPr>
        <p:spPr>
          <a:xfrm>
            <a:off x="548640" y="4663440"/>
            <a:ext cx="11064240" cy="612648"/>
          </a:xfrm>
          <a:prstGeom prst="roundRect">
            <a:avLst>
              <a:gd name="adj" fmla="val 1194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5" name="Text 23"/>
          <p:cNvSpPr/>
          <p:nvPr/>
        </p:nvSpPr>
        <p:spPr>
          <a:xfrm>
            <a:off x="822960" y="4846320"/>
            <a:ext cx="1920240" cy="274320"/>
          </a:xfrm>
          <a:prstGeom prst="rect">
            <a:avLst/>
          </a:prstGeom>
          <a:noFill/>
          <a:ln/>
        </p:spPr>
        <p:txBody>
          <a:bodyPr wrap="square" lIns="0" tIns="0" rIns="0" bIns="0" rtlCol="0" anchor="t"/>
          <a:lstStyle/>
          <a:p>
            <a:pPr algn="l" indent="0" marL="0">
              <a:lnSpc>
                <a:spcPct val="112000"/>
              </a:lnSpc>
              <a:buNone/>
            </a:pPr>
            <a:r>
              <a:rPr lang="en-US" sz="1200" b="1" dirty="0">
                <a:solidFill>
                  <a:srgbClr val="2E86AB"/>
                </a:solidFill>
                <a:latin typeface="Calibri" pitchFamily="34" charset="0"/>
                <a:ea typeface="Calibri" pitchFamily="34" charset="-122"/>
                <a:cs typeface="Calibri" pitchFamily="34" charset="-120"/>
              </a:rPr>
              <a:t>HIFLD</a:t>
            </a:r>
            <a:endParaRPr lang="en-US" sz="1200" dirty="0"/>
          </a:p>
        </p:txBody>
      </p:sp>
      <p:sp>
        <p:nvSpPr>
          <p:cNvPr id="26" name="Text 24"/>
          <p:cNvSpPr/>
          <p:nvPr/>
        </p:nvSpPr>
        <p:spPr>
          <a:xfrm>
            <a:off x="2834640" y="4855464"/>
            <a:ext cx="5166360" cy="292608"/>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Electric power transmission lines, 115 kV and above</a:t>
            </a:r>
            <a:endParaRPr lang="en-US" sz="1050" dirty="0"/>
          </a:p>
        </p:txBody>
      </p:sp>
      <p:sp>
        <p:nvSpPr>
          <p:cNvPr id="27" name="Text 25"/>
          <p:cNvSpPr/>
          <p:nvPr/>
        </p:nvSpPr>
        <p:spPr>
          <a:xfrm>
            <a:off x="8138160" y="4855464"/>
            <a:ext cx="3383280" cy="292608"/>
          </a:xfrm>
          <a:prstGeom prst="rect">
            <a:avLst/>
          </a:prstGeom>
          <a:noFill/>
          <a:ln/>
        </p:spPr>
        <p:txBody>
          <a:bodyPr wrap="square" lIns="0" tIns="0" rIns="0" bIns="0" rtlCol="0" anchor="t"/>
          <a:lstStyle/>
          <a:p>
            <a:pPr algn="l" indent="0" marL="0">
              <a:lnSpc>
                <a:spcPct val="112000"/>
              </a:lnSpc>
              <a:buNone/>
            </a:pPr>
            <a:r>
              <a:rPr lang="en-US" sz="1050" b="1" dirty="0">
                <a:solidFill>
                  <a:srgbClr val="02C39A"/>
                </a:solidFill>
                <a:latin typeface="Calibri" pitchFamily="34" charset="0"/>
                <a:ea typeface="Calibri" pitchFamily="34" charset="-122"/>
                <a:cs typeface="Calibri" pitchFamily="34" charset="-120"/>
              </a:rPr>
              <a:t>23,674 line segments</a:t>
            </a:r>
            <a:endParaRPr lang="en-US" sz="1050" dirty="0"/>
          </a:p>
        </p:txBody>
      </p:sp>
      <p:sp>
        <p:nvSpPr>
          <p:cNvPr id="28" name="Shape 26"/>
          <p:cNvSpPr/>
          <p:nvPr/>
        </p:nvSpPr>
        <p:spPr>
          <a:xfrm>
            <a:off x="548640" y="5385816"/>
            <a:ext cx="11064240" cy="612648"/>
          </a:xfrm>
          <a:prstGeom prst="roundRect">
            <a:avLst>
              <a:gd name="adj" fmla="val 1194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9" name="Text 27"/>
          <p:cNvSpPr/>
          <p:nvPr/>
        </p:nvSpPr>
        <p:spPr>
          <a:xfrm>
            <a:off x="822960" y="5568696"/>
            <a:ext cx="1920240" cy="274320"/>
          </a:xfrm>
          <a:prstGeom prst="rect">
            <a:avLst/>
          </a:prstGeom>
          <a:noFill/>
          <a:ln/>
        </p:spPr>
        <p:txBody>
          <a:bodyPr wrap="square" lIns="0" tIns="0" rIns="0" bIns="0" rtlCol="0" anchor="t"/>
          <a:lstStyle/>
          <a:p>
            <a:pPr algn="l" indent="0" marL="0">
              <a:lnSpc>
                <a:spcPct val="112000"/>
              </a:lnSpc>
              <a:buNone/>
            </a:pPr>
            <a:r>
              <a:rPr lang="en-US" sz="1200" b="1" dirty="0">
                <a:solidFill>
                  <a:srgbClr val="2E86AB"/>
                </a:solidFill>
                <a:latin typeface="Calibri" pitchFamily="34" charset="0"/>
                <a:ea typeface="Calibri" pitchFamily="34" charset="-122"/>
                <a:cs typeface="Calibri" pitchFamily="34" charset="-120"/>
              </a:rPr>
              <a:t>NOAA / Open-Meteo</a:t>
            </a:r>
            <a:endParaRPr lang="en-US" sz="1200" dirty="0"/>
          </a:p>
        </p:txBody>
      </p:sp>
      <p:sp>
        <p:nvSpPr>
          <p:cNvPr id="30" name="Text 28"/>
          <p:cNvSpPr/>
          <p:nvPr/>
        </p:nvSpPr>
        <p:spPr>
          <a:xfrm>
            <a:off x="2834640" y="5577840"/>
            <a:ext cx="5166360" cy="292608"/>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Climate normals and forward temperature projections</a:t>
            </a:r>
            <a:endParaRPr lang="en-US" sz="1050" dirty="0"/>
          </a:p>
        </p:txBody>
      </p:sp>
      <p:sp>
        <p:nvSpPr>
          <p:cNvPr id="31" name="Text 29"/>
          <p:cNvSpPr/>
          <p:nvPr/>
        </p:nvSpPr>
        <p:spPr>
          <a:xfrm>
            <a:off x="8138160" y="5577840"/>
            <a:ext cx="3383280" cy="292608"/>
          </a:xfrm>
          <a:prstGeom prst="rect">
            <a:avLst/>
          </a:prstGeom>
          <a:noFill/>
          <a:ln/>
        </p:spPr>
        <p:txBody>
          <a:bodyPr wrap="square" lIns="0" tIns="0" rIns="0" bIns="0" rtlCol="0" anchor="t"/>
          <a:lstStyle/>
          <a:p>
            <a:pPr algn="l" indent="0" marL="0">
              <a:lnSpc>
                <a:spcPct val="112000"/>
              </a:lnSpc>
              <a:buNone/>
            </a:pPr>
            <a:r>
              <a:rPr lang="en-US" sz="1050" b="1" dirty="0">
                <a:solidFill>
                  <a:srgbClr val="02C39A"/>
                </a:solidFill>
                <a:latin typeface="Calibri" pitchFamily="34" charset="0"/>
                <a:ea typeface="Calibri" pitchFamily="34" charset="-122"/>
                <a:cs typeface="Calibri" pitchFamily="34" charset="-120"/>
              </a:rPr>
              <a:t>233K hourly · 12K forecast days</a:t>
            </a:r>
            <a:endParaRPr lang="en-US" sz="1050" dirty="0"/>
          </a:p>
        </p:txBody>
      </p:sp>
      <p:sp>
        <p:nvSpPr>
          <p:cNvPr id="32" name="Text 30"/>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5A6E85"/>
                </a:solidFill>
                <a:latin typeface="Calibri" pitchFamily="34" charset="0"/>
                <a:ea typeface="Calibri" pitchFamily="34" charset="-122"/>
                <a:cs typeface="Calibri" pitchFamily="34" charset="-120"/>
              </a:rPr>
              <a:t>All sources are public regulator or federal data. No third-party market-data licence is required to operate the platform.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02C39A"/>
                </a:solidFill>
                <a:latin typeface="Calibri" pitchFamily="34" charset="0"/>
                <a:ea typeface="Calibri" pitchFamily="34" charset="-122"/>
                <a:cs typeface="Calibri" pitchFamily="34" charset="-120"/>
              </a:rPr>
              <a:t>METHODOLOGY</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Eight dimensions, all from measured data</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02C39A"/>
                </a:solidFill>
                <a:latin typeface="Calibri" pitchFamily="34" charset="0"/>
                <a:ea typeface="Calibri" pitchFamily="34" charset="-122"/>
                <a:cs typeface="Calibri" pitchFamily="34" charset="-120"/>
              </a:rPr>
              <a:t>Default weights shown — every dimension is 0–100, higher is better</a:t>
            </a:r>
            <a:endParaRPr lang="en-US" sz="1350" dirty="0"/>
          </a:p>
        </p:txBody>
      </p:sp>
      <p:sp>
        <p:nvSpPr>
          <p:cNvPr id="5" name="Shape 3"/>
          <p:cNvSpPr/>
          <p:nvPr/>
        </p:nvSpPr>
        <p:spPr>
          <a:xfrm>
            <a:off x="548640" y="1664208"/>
            <a:ext cx="5440680" cy="896112"/>
          </a:xfrm>
          <a:prstGeom prst="roundRect">
            <a:avLst>
              <a:gd name="adj" fmla="val 8163"/>
            </a:avLst>
          </a:prstGeom>
          <a:solidFill>
            <a:srgbClr val="17263C"/>
          </a:solidFill>
          <a:ln w="12700">
            <a:solidFill>
              <a:srgbClr val="1F3350"/>
            </a:solidFill>
            <a:prstDash val="solid"/>
          </a:ln>
        </p:spPr>
      </p:sp>
      <p:sp>
        <p:nvSpPr>
          <p:cNvPr id="6" name="Text 4"/>
          <p:cNvSpPr/>
          <p:nvPr/>
        </p:nvSpPr>
        <p:spPr>
          <a:xfrm>
            <a:off x="731520" y="1865376"/>
            <a:ext cx="777240" cy="457200"/>
          </a:xfrm>
          <a:prstGeom prst="rect">
            <a:avLst/>
          </a:prstGeom>
          <a:noFill/>
          <a:ln/>
        </p:spPr>
        <p:txBody>
          <a:bodyPr wrap="square" lIns="0" tIns="0" rIns="0" bIns="0" rtlCol="0" anchor="ctr"/>
          <a:lstStyle/>
          <a:p>
            <a:pPr algn="l" indent="0" marL="0">
              <a:buNone/>
            </a:pPr>
            <a:r>
              <a:rPr lang="en-US" sz="1900" b="1" dirty="0">
                <a:solidFill>
                  <a:srgbClr val="02C39A"/>
                </a:solidFill>
                <a:latin typeface="Cambria" pitchFamily="34" charset="0"/>
                <a:ea typeface="Cambria" pitchFamily="34" charset="-122"/>
                <a:cs typeface="Cambria" pitchFamily="34" charset="-120"/>
              </a:rPr>
              <a:t>22%</a:t>
            </a:r>
            <a:endParaRPr lang="en-US" sz="1900" dirty="0"/>
          </a:p>
        </p:txBody>
      </p:sp>
      <p:sp>
        <p:nvSpPr>
          <p:cNvPr id="7" name="Text 5"/>
          <p:cNvSpPr/>
          <p:nvPr/>
        </p:nvSpPr>
        <p:spPr>
          <a:xfrm>
            <a:off x="1645920" y="1810512"/>
            <a:ext cx="42062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Curtailment</a:t>
            </a:r>
            <a:endParaRPr lang="en-US" sz="1250" dirty="0"/>
          </a:p>
        </p:txBody>
      </p:sp>
      <p:sp>
        <p:nvSpPr>
          <p:cNvPr id="8" name="Text 6"/>
          <p:cNvSpPr/>
          <p:nvPr/>
        </p:nvSpPr>
        <p:spPr>
          <a:xfrm>
            <a:off x="1645920" y="2139696"/>
            <a:ext cx="4206240" cy="310896"/>
          </a:xfrm>
          <a:prstGeom prst="rect">
            <a:avLst/>
          </a:prstGeom>
          <a:noFill/>
          <a:ln/>
        </p:spPr>
        <p:txBody>
          <a:bodyPr wrap="square" lIns="0" tIns="0" rIns="0" bIns="0" rtlCol="0" anchor="t"/>
          <a:lstStyle/>
          <a:p>
            <a:pPr algn="l" indent="0" marL="0">
              <a:lnSpc>
                <a:spcPct val="112000"/>
              </a:lnSpc>
              <a:buNone/>
            </a:pPr>
            <a:r>
              <a:rPr lang="en-US" sz="1000" dirty="0">
                <a:solidFill>
                  <a:srgbClr val="D6E4F0"/>
                </a:solidFill>
                <a:latin typeface="Calibri" pitchFamily="34" charset="0"/>
                <a:ea typeface="Calibri" pitchFamily="34" charset="-122"/>
                <a:cs typeface="Calibri" pitchFamily="34" charset="-120"/>
              </a:rPr>
              <a:t>Real negative-price rate at the node</a:t>
            </a:r>
            <a:endParaRPr lang="en-US" sz="1000" dirty="0"/>
          </a:p>
        </p:txBody>
      </p:sp>
      <p:sp>
        <p:nvSpPr>
          <p:cNvPr id="9" name="Shape 7"/>
          <p:cNvSpPr/>
          <p:nvPr/>
        </p:nvSpPr>
        <p:spPr>
          <a:xfrm>
            <a:off x="6172200" y="1664208"/>
            <a:ext cx="5440680" cy="896112"/>
          </a:xfrm>
          <a:prstGeom prst="roundRect">
            <a:avLst>
              <a:gd name="adj" fmla="val 8163"/>
            </a:avLst>
          </a:prstGeom>
          <a:solidFill>
            <a:srgbClr val="17263C"/>
          </a:solidFill>
          <a:ln w="12700">
            <a:solidFill>
              <a:srgbClr val="1F3350"/>
            </a:solidFill>
            <a:prstDash val="solid"/>
          </a:ln>
        </p:spPr>
      </p:sp>
      <p:sp>
        <p:nvSpPr>
          <p:cNvPr id="10" name="Text 8"/>
          <p:cNvSpPr/>
          <p:nvPr/>
        </p:nvSpPr>
        <p:spPr>
          <a:xfrm>
            <a:off x="6355080" y="1865376"/>
            <a:ext cx="777240" cy="457200"/>
          </a:xfrm>
          <a:prstGeom prst="rect">
            <a:avLst/>
          </a:prstGeom>
          <a:noFill/>
          <a:ln/>
        </p:spPr>
        <p:txBody>
          <a:bodyPr wrap="square" lIns="0" tIns="0" rIns="0" bIns="0" rtlCol="0" anchor="ctr"/>
          <a:lstStyle/>
          <a:p>
            <a:pPr algn="l" indent="0" marL="0">
              <a:buNone/>
            </a:pPr>
            <a:r>
              <a:rPr lang="en-US" sz="1900" b="1" dirty="0">
                <a:solidFill>
                  <a:srgbClr val="02C39A"/>
                </a:solidFill>
                <a:latin typeface="Cambria" pitchFamily="34" charset="0"/>
                <a:ea typeface="Cambria" pitchFamily="34" charset="-122"/>
                <a:cs typeface="Cambria" pitchFamily="34" charset="-120"/>
              </a:rPr>
              <a:t>18%</a:t>
            </a:r>
            <a:endParaRPr lang="en-US" sz="1900" dirty="0"/>
          </a:p>
        </p:txBody>
      </p:sp>
      <p:sp>
        <p:nvSpPr>
          <p:cNvPr id="11" name="Text 9"/>
          <p:cNvSpPr/>
          <p:nvPr/>
        </p:nvSpPr>
        <p:spPr>
          <a:xfrm>
            <a:off x="7269480" y="1810512"/>
            <a:ext cx="42062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Congestion</a:t>
            </a:r>
            <a:endParaRPr lang="en-US" sz="1250" dirty="0"/>
          </a:p>
        </p:txBody>
      </p:sp>
      <p:sp>
        <p:nvSpPr>
          <p:cNvPr id="12" name="Text 10"/>
          <p:cNvSpPr/>
          <p:nvPr/>
        </p:nvSpPr>
        <p:spPr>
          <a:xfrm>
            <a:off x="7269480" y="2139696"/>
            <a:ext cx="4206240" cy="310896"/>
          </a:xfrm>
          <a:prstGeom prst="rect">
            <a:avLst/>
          </a:prstGeom>
          <a:noFill/>
          <a:ln/>
        </p:spPr>
        <p:txBody>
          <a:bodyPr wrap="square" lIns="0" tIns="0" rIns="0" bIns="0" rtlCol="0" anchor="t"/>
          <a:lstStyle/>
          <a:p>
            <a:pPr algn="l" indent="0" marL="0">
              <a:lnSpc>
                <a:spcPct val="112000"/>
              </a:lnSpc>
              <a:buNone/>
            </a:pPr>
            <a:r>
              <a:rPr lang="en-US" sz="1000" dirty="0">
                <a:solidFill>
                  <a:srgbClr val="D6E4F0"/>
                </a:solidFill>
                <a:latin typeface="Calibri" pitchFamily="34" charset="0"/>
                <a:ea typeface="Calibri" pitchFamily="34" charset="-122"/>
                <a:cs typeface="Calibri" pitchFamily="34" charset="-120"/>
              </a:rPr>
              <a:t>DA basis vs hub plus volatility penalty</a:t>
            </a:r>
            <a:endParaRPr lang="en-US" sz="1000" dirty="0"/>
          </a:p>
        </p:txBody>
      </p:sp>
      <p:sp>
        <p:nvSpPr>
          <p:cNvPr id="13" name="Shape 11"/>
          <p:cNvSpPr/>
          <p:nvPr/>
        </p:nvSpPr>
        <p:spPr>
          <a:xfrm>
            <a:off x="548640" y="2706624"/>
            <a:ext cx="5440680" cy="896112"/>
          </a:xfrm>
          <a:prstGeom prst="roundRect">
            <a:avLst>
              <a:gd name="adj" fmla="val 8163"/>
            </a:avLst>
          </a:prstGeom>
          <a:solidFill>
            <a:srgbClr val="17263C"/>
          </a:solidFill>
          <a:ln w="12700">
            <a:solidFill>
              <a:srgbClr val="1F3350"/>
            </a:solidFill>
            <a:prstDash val="solid"/>
          </a:ln>
        </p:spPr>
      </p:sp>
      <p:sp>
        <p:nvSpPr>
          <p:cNvPr id="14" name="Text 12"/>
          <p:cNvSpPr/>
          <p:nvPr/>
        </p:nvSpPr>
        <p:spPr>
          <a:xfrm>
            <a:off x="731520" y="2907792"/>
            <a:ext cx="777240" cy="457200"/>
          </a:xfrm>
          <a:prstGeom prst="rect">
            <a:avLst/>
          </a:prstGeom>
          <a:noFill/>
          <a:ln/>
        </p:spPr>
        <p:txBody>
          <a:bodyPr wrap="square" lIns="0" tIns="0" rIns="0" bIns="0" rtlCol="0" anchor="ctr"/>
          <a:lstStyle/>
          <a:p>
            <a:pPr algn="l" indent="0" marL="0">
              <a:buNone/>
            </a:pPr>
            <a:r>
              <a:rPr lang="en-US" sz="1900" b="1" dirty="0">
                <a:solidFill>
                  <a:srgbClr val="2E86AB"/>
                </a:solidFill>
                <a:latin typeface="Cambria" pitchFamily="34" charset="0"/>
                <a:ea typeface="Cambria" pitchFamily="34" charset="-122"/>
                <a:cs typeface="Cambria" pitchFamily="34" charset="-120"/>
              </a:rPr>
              <a:t>15%</a:t>
            </a:r>
            <a:endParaRPr lang="en-US" sz="1900" dirty="0"/>
          </a:p>
        </p:txBody>
      </p:sp>
      <p:sp>
        <p:nvSpPr>
          <p:cNvPr id="15" name="Text 13"/>
          <p:cNvSpPr/>
          <p:nvPr/>
        </p:nvSpPr>
        <p:spPr>
          <a:xfrm>
            <a:off x="1645920" y="2852928"/>
            <a:ext cx="42062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Basis risk</a:t>
            </a:r>
            <a:endParaRPr lang="en-US" sz="1250" dirty="0"/>
          </a:p>
        </p:txBody>
      </p:sp>
      <p:sp>
        <p:nvSpPr>
          <p:cNvPr id="16" name="Text 14"/>
          <p:cNvSpPr/>
          <p:nvPr/>
        </p:nvSpPr>
        <p:spPr>
          <a:xfrm>
            <a:off x="1645920" y="3182112"/>
            <a:ext cx="4206240" cy="310896"/>
          </a:xfrm>
          <a:prstGeom prst="rect">
            <a:avLst/>
          </a:prstGeom>
          <a:noFill/>
          <a:ln/>
        </p:spPr>
        <p:txBody>
          <a:bodyPr wrap="square" lIns="0" tIns="0" rIns="0" bIns="0" rtlCol="0" anchor="t"/>
          <a:lstStyle/>
          <a:p>
            <a:pPr algn="l" indent="0" marL="0">
              <a:lnSpc>
                <a:spcPct val="112000"/>
              </a:lnSpc>
              <a:buNone/>
            </a:pPr>
            <a:r>
              <a:rPr lang="en-US" sz="1000" dirty="0">
                <a:solidFill>
                  <a:srgbClr val="D6E4F0"/>
                </a:solidFill>
                <a:latin typeface="Calibri" pitchFamily="34" charset="0"/>
                <a:ea typeface="Calibri" pitchFamily="34" charset="-122"/>
                <a:cs typeface="Calibri" pitchFamily="34" charset="-120"/>
              </a:rPr>
              <a:t>Dispersion of monthly DA prices</a:t>
            </a:r>
            <a:endParaRPr lang="en-US" sz="1000" dirty="0"/>
          </a:p>
        </p:txBody>
      </p:sp>
      <p:sp>
        <p:nvSpPr>
          <p:cNvPr id="17" name="Shape 15"/>
          <p:cNvSpPr/>
          <p:nvPr/>
        </p:nvSpPr>
        <p:spPr>
          <a:xfrm>
            <a:off x="6172200" y="2706624"/>
            <a:ext cx="5440680" cy="896112"/>
          </a:xfrm>
          <a:prstGeom prst="roundRect">
            <a:avLst>
              <a:gd name="adj" fmla="val 8163"/>
            </a:avLst>
          </a:prstGeom>
          <a:solidFill>
            <a:srgbClr val="17263C"/>
          </a:solidFill>
          <a:ln w="12700">
            <a:solidFill>
              <a:srgbClr val="1F3350"/>
            </a:solidFill>
            <a:prstDash val="solid"/>
          </a:ln>
        </p:spPr>
      </p:sp>
      <p:sp>
        <p:nvSpPr>
          <p:cNvPr id="18" name="Text 16"/>
          <p:cNvSpPr/>
          <p:nvPr/>
        </p:nvSpPr>
        <p:spPr>
          <a:xfrm>
            <a:off x="6355080" y="2907792"/>
            <a:ext cx="777240" cy="457200"/>
          </a:xfrm>
          <a:prstGeom prst="rect">
            <a:avLst/>
          </a:prstGeom>
          <a:noFill/>
          <a:ln/>
        </p:spPr>
        <p:txBody>
          <a:bodyPr wrap="square" lIns="0" tIns="0" rIns="0" bIns="0" rtlCol="0" anchor="ctr"/>
          <a:lstStyle/>
          <a:p>
            <a:pPr algn="l" indent="0" marL="0">
              <a:buNone/>
            </a:pPr>
            <a:r>
              <a:rPr lang="en-US" sz="1900" b="1" dirty="0">
                <a:solidFill>
                  <a:srgbClr val="2E86AB"/>
                </a:solidFill>
                <a:latin typeface="Cambria" pitchFamily="34" charset="0"/>
                <a:ea typeface="Cambria" pitchFamily="34" charset="-122"/>
                <a:cs typeface="Cambria" pitchFamily="34" charset="-120"/>
              </a:rPr>
              <a:t>12%</a:t>
            </a:r>
            <a:endParaRPr lang="en-US" sz="1900" dirty="0"/>
          </a:p>
        </p:txBody>
      </p:sp>
      <p:sp>
        <p:nvSpPr>
          <p:cNvPr id="19" name="Text 17"/>
          <p:cNvSpPr/>
          <p:nvPr/>
        </p:nvSpPr>
        <p:spPr>
          <a:xfrm>
            <a:off x="7269480" y="2852928"/>
            <a:ext cx="42062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Capture price</a:t>
            </a:r>
            <a:endParaRPr lang="en-US" sz="1250" dirty="0"/>
          </a:p>
        </p:txBody>
      </p:sp>
      <p:sp>
        <p:nvSpPr>
          <p:cNvPr id="20" name="Text 18"/>
          <p:cNvSpPr/>
          <p:nvPr/>
        </p:nvSpPr>
        <p:spPr>
          <a:xfrm>
            <a:off x="7269480" y="3182112"/>
            <a:ext cx="4206240" cy="310896"/>
          </a:xfrm>
          <a:prstGeom prst="rect">
            <a:avLst/>
          </a:prstGeom>
          <a:noFill/>
          <a:ln/>
        </p:spPr>
        <p:txBody>
          <a:bodyPr wrap="square" lIns="0" tIns="0" rIns="0" bIns="0" rtlCol="0" anchor="t"/>
          <a:lstStyle/>
          <a:p>
            <a:pPr algn="l" indent="0" marL="0">
              <a:lnSpc>
                <a:spcPct val="112000"/>
              </a:lnSpc>
              <a:buNone/>
            </a:pPr>
            <a:r>
              <a:rPr lang="en-US" sz="1000" dirty="0">
                <a:solidFill>
                  <a:srgbClr val="D6E4F0"/>
                </a:solidFill>
                <a:latin typeface="Calibri" pitchFamily="34" charset="0"/>
                <a:ea typeface="Calibri" pitchFamily="34" charset="-122"/>
                <a:cs typeface="Calibri" pitchFamily="34" charset="-120"/>
              </a:rPr>
              <a:t>Hub DA × technology timing profile</a:t>
            </a:r>
            <a:endParaRPr lang="en-US" sz="1000" dirty="0"/>
          </a:p>
        </p:txBody>
      </p:sp>
      <p:sp>
        <p:nvSpPr>
          <p:cNvPr id="21" name="Shape 19"/>
          <p:cNvSpPr/>
          <p:nvPr/>
        </p:nvSpPr>
        <p:spPr>
          <a:xfrm>
            <a:off x="548640" y="3749040"/>
            <a:ext cx="5440680" cy="896112"/>
          </a:xfrm>
          <a:prstGeom prst="roundRect">
            <a:avLst>
              <a:gd name="adj" fmla="val 8163"/>
            </a:avLst>
          </a:prstGeom>
          <a:solidFill>
            <a:srgbClr val="17263C"/>
          </a:solidFill>
          <a:ln w="12700">
            <a:solidFill>
              <a:srgbClr val="1F3350"/>
            </a:solidFill>
            <a:prstDash val="solid"/>
          </a:ln>
        </p:spPr>
      </p:sp>
      <p:sp>
        <p:nvSpPr>
          <p:cNvPr id="22" name="Text 20"/>
          <p:cNvSpPr/>
          <p:nvPr/>
        </p:nvSpPr>
        <p:spPr>
          <a:xfrm>
            <a:off x="731520" y="3950208"/>
            <a:ext cx="777240" cy="457200"/>
          </a:xfrm>
          <a:prstGeom prst="rect">
            <a:avLst/>
          </a:prstGeom>
          <a:noFill/>
          <a:ln/>
        </p:spPr>
        <p:txBody>
          <a:bodyPr wrap="square" lIns="0" tIns="0" rIns="0" bIns="0" rtlCol="0" anchor="ctr"/>
          <a:lstStyle/>
          <a:p>
            <a:pPr algn="l" indent="0" marL="0">
              <a:buNone/>
            </a:pPr>
            <a:r>
              <a:rPr lang="en-US" sz="1900" b="1" dirty="0">
                <a:solidFill>
                  <a:srgbClr val="E8A33D"/>
                </a:solidFill>
                <a:latin typeface="Cambria" pitchFamily="34" charset="0"/>
                <a:ea typeface="Cambria" pitchFamily="34" charset="-122"/>
                <a:cs typeface="Cambria" pitchFamily="34" charset="-120"/>
              </a:rPr>
              <a:t>10%</a:t>
            </a:r>
            <a:endParaRPr lang="en-US" sz="1900" dirty="0"/>
          </a:p>
        </p:txBody>
      </p:sp>
      <p:sp>
        <p:nvSpPr>
          <p:cNvPr id="23" name="Text 21"/>
          <p:cNvSpPr/>
          <p:nvPr/>
        </p:nvSpPr>
        <p:spPr>
          <a:xfrm>
            <a:off x="1645920" y="3895344"/>
            <a:ext cx="42062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Market revenue</a:t>
            </a:r>
            <a:endParaRPr lang="en-US" sz="1250" dirty="0"/>
          </a:p>
        </p:txBody>
      </p:sp>
      <p:sp>
        <p:nvSpPr>
          <p:cNvPr id="24" name="Text 22"/>
          <p:cNvSpPr/>
          <p:nvPr/>
        </p:nvSpPr>
        <p:spPr>
          <a:xfrm>
            <a:off x="1645920" y="4224528"/>
            <a:ext cx="4206240" cy="310896"/>
          </a:xfrm>
          <a:prstGeom prst="rect">
            <a:avLst/>
          </a:prstGeom>
          <a:noFill/>
          <a:ln/>
        </p:spPr>
        <p:txBody>
          <a:bodyPr wrap="square" lIns="0" tIns="0" rIns="0" bIns="0" rtlCol="0" anchor="t"/>
          <a:lstStyle/>
          <a:p>
            <a:pPr algn="l" indent="0" marL="0">
              <a:lnSpc>
                <a:spcPct val="112000"/>
              </a:lnSpc>
              <a:buNone/>
            </a:pPr>
            <a:r>
              <a:rPr lang="en-US" sz="1000" dirty="0">
                <a:solidFill>
                  <a:srgbClr val="D6E4F0"/>
                </a:solidFill>
                <a:latin typeface="Calibri" pitchFamily="34" charset="0"/>
                <a:ea typeface="Calibri" pitchFamily="34" charset="-122"/>
                <a:cs typeface="Calibri" pitchFamily="34" charset="-120"/>
              </a:rPr>
              <a:t>MW × CF × capture × 8,760 h</a:t>
            </a:r>
            <a:endParaRPr lang="en-US" sz="1000" dirty="0"/>
          </a:p>
        </p:txBody>
      </p:sp>
      <p:sp>
        <p:nvSpPr>
          <p:cNvPr id="25" name="Shape 23"/>
          <p:cNvSpPr/>
          <p:nvPr/>
        </p:nvSpPr>
        <p:spPr>
          <a:xfrm>
            <a:off x="6172200" y="3749040"/>
            <a:ext cx="5440680" cy="896112"/>
          </a:xfrm>
          <a:prstGeom prst="roundRect">
            <a:avLst>
              <a:gd name="adj" fmla="val 8163"/>
            </a:avLst>
          </a:prstGeom>
          <a:solidFill>
            <a:srgbClr val="17263C"/>
          </a:solidFill>
          <a:ln w="12700">
            <a:solidFill>
              <a:srgbClr val="1F3350"/>
            </a:solidFill>
            <a:prstDash val="solid"/>
          </a:ln>
        </p:spPr>
      </p:sp>
      <p:sp>
        <p:nvSpPr>
          <p:cNvPr id="26" name="Text 24"/>
          <p:cNvSpPr/>
          <p:nvPr/>
        </p:nvSpPr>
        <p:spPr>
          <a:xfrm>
            <a:off x="6355080" y="3950208"/>
            <a:ext cx="777240" cy="457200"/>
          </a:xfrm>
          <a:prstGeom prst="rect">
            <a:avLst/>
          </a:prstGeom>
          <a:noFill/>
          <a:ln/>
        </p:spPr>
        <p:txBody>
          <a:bodyPr wrap="square" lIns="0" tIns="0" rIns="0" bIns="0" rtlCol="0" anchor="ctr"/>
          <a:lstStyle/>
          <a:p>
            <a:pPr algn="l" indent="0" marL="0">
              <a:buNone/>
            </a:pPr>
            <a:r>
              <a:rPr lang="en-US" sz="1900" b="1" dirty="0">
                <a:solidFill>
                  <a:srgbClr val="E8A33D"/>
                </a:solidFill>
                <a:latin typeface="Cambria" pitchFamily="34" charset="0"/>
                <a:ea typeface="Cambria" pitchFamily="34" charset="-122"/>
                <a:cs typeface="Cambria" pitchFamily="34" charset="-120"/>
              </a:rPr>
              <a:t>10%</a:t>
            </a:r>
            <a:endParaRPr lang="en-US" sz="1900" dirty="0"/>
          </a:p>
        </p:txBody>
      </p:sp>
      <p:sp>
        <p:nvSpPr>
          <p:cNvPr id="27" name="Text 25"/>
          <p:cNvSpPr/>
          <p:nvPr/>
        </p:nvSpPr>
        <p:spPr>
          <a:xfrm>
            <a:off x="7269480" y="3895344"/>
            <a:ext cx="42062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Capacity</a:t>
            </a:r>
            <a:endParaRPr lang="en-US" sz="1250" dirty="0"/>
          </a:p>
        </p:txBody>
      </p:sp>
      <p:sp>
        <p:nvSpPr>
          <p:cNvPr id="28" name="Text 26"/>
          <p:cNvSpPr/>
          <p:nvPr/>
        </p:nvSpPr>
        <p:spPr>
          <a:xfrm>
            <a:off x="7269480" y="4224528"/>
            <a:ext cx="4206240" cy="310896"/>
          </a:xfrm>
          <a:prstGeom prst="rect">
            <a:avLst/>
          </a:prstGeom>
          <a:noFill/>
          <a:ln/>
        </p:spPr>
        <p:txBody>
          <a:bodyPr wrap="square" lIns="0" tIns="0" rIns="0" bIns="0" rtlCol="0" anchor="t"/>
          <a:lstStyle/>
          <a:p>
            <a:pPr algn="l" indent="0" marL="0">
              <a:lnSpc>
                <a:spcPct val="112000"/>
              </a:lnSpc>
              <a:buNone/>
            </a:pPr>
            <a:r>
              <a:rPr lang="en-US" sz="1000" dirty="0">
                <a:solidFill>
                  <a:srgbClr val="D6E4F0"/>
                </a:solidFill>
                <a:latin typeface="Calibri" pitchFamily="34" charset="0"/>
                <a:ea typeface="Calibri" pitchFamily="34" charset="-122"/>
                <a:cs typeface="Calibri" pitchFamily="34" charset="-120"/>
              </a:rPr>
              <a:t>Log-scaled nameplate MW</a:t>
            </a:r>
            <a:endParaRPr lang="en-US" sz="1000" dirty="0"/>
          </a:p>
        </p:txBody>
      </p:sp>
      <p:sp>
        <p:nvSpPr>
          <p:cNvPr id="29" name="Shape 27"/>
          <p:cNvSpPr/>
          <p:nvPr/>
        </p:nvSpPr>
        <p:spPr>
          <a:xfrm>
            <a:off x="548640" y="4791456"/>
            <a:ext cx="5440680" cy="896112"/>
          </a:xfrm>
          <a:prstGeom prst="roundRect">
            <a:avLst>
              <a:gd name="adj" fmla="val 8163"/>
            </a:avLst>
          </a:prstGeom>
          <a:solidFill>
            <a:srgbClr val="17263C"/>
          </a:solidFill>
          <a:ln w="12700">
            <a:solidFill>
              <a:srgbClr val="1F3350"/>
            </a:solidFill>
            <a:prstDash val="solid"/>
          </a:ln>
        </p:spPr>
      </p:sp>
      <p:sp>
        <p:nvSpPr>
          <p:cNvPr id="30" name="Text 28"/>
          <p:cNvSpPr/>
          <p:nvPr/>
        </p:nvSpPr>
        <p:spPr>
          <a:xfrm>
            <a:off x="731520" y="4992624"/>
            <a:ext cx="777240" cy="457200"/>
          </a:xfrm>
          <a:prstGeom prst="rect">
            <a:avLst/>
          </a:prstGeom>
          <a:noFill/>
          <a:ln/>
        </p:spPr>
        <p:txBody>
          <a:bodyPr wrap="square" lIns="0" tIns="0" rIns="0" bIns="0" rtlCol="0" anchor="ctr"/>
          <a:lstStyle/>
          <a:p>
            <a:pPr algn="l" indent="0" marL="0">
              <a:buNone/>
            </a:pPr>
            <a:r>
              <a:rPr lang="en-US" sz="1900" b="1" dirty="0">
                <a:solidFill>
                  <a:srgbClr val="3FA372"/>
                </a:solidFill>
                <a:latin typeface="Cambria" pitchFamily="34" charset="0"/>
                <a:ea typeface="Cambria" pitchFamily="34" charset="-122"/>
                <a:cs typeface="Cambria" pitchFamily="34" charset="-120"/>
              </a:rPr>
              <a:t>8%</a:t>
            </a:r>
            <a:endParaRPr lang="en-US" sz="1900" dirty="0"/>
          </a:p>
        </p:txBody>
      </p:sp>
      <p:sp>
        <p:nvSpPr>
          <p:cNvPr id="31" name="Text 29"/>
          <p:cNvSpPr/>
          <p:nvPr/>
        </p:nvSpPr>
        <p:spPr>
          <a:xfrm>
            <a:off x="1645920" y="4937760"/>
            <a:ext cx="42062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Interconnect risk</a:t>
            </a:r>
            <a:endParaRPr lang="en-US" sz="1250" dirty="0"/>
          </a:p>
        </p:txBody>
      </p:sp>
      <p:sp>
        <p:nvSpPr>
          <p:cNvPr id="32" name="Text 30"/>
          <p:cNvSpPr/>
          <p:nvPr/>
        </p:nvSpPr>
        <p:spPr>
          <a:xfrm>
            <a:off x="1645920" y="5266944"/>
            <a:ext cx="4206240" cy="310896"/>
          </a:xfrm>
          <a:prstGeom prst="rect">
            <a:avLst/>
          </a:prstGeom>
          <a:noFill/>
          <a:ln/>
        </p:spPr>
        <p:txBody>
          <a:bodyPr wrap="square" lIns="0" tIns="0" rIns="0" bIns="0" rtlCol="0" anchor="t"/>
          <a:lstStyle/>
          <a:p>
            <a:pPr algn="l" indent="0" marL="0">
              <a:lnSpc>
                <a:spcPct val="112000"/>
              </a:lnSpc>
              <a:buNone/>
            </a:pPr>
            <a:r>
              <a:rPr lang="en-US" sz="1000" dirty="0">
                <a:solidFill>
                  <a:srgbClr val="D6E4F0"/>
                </a:solidFill>
                <a:latin typeface="Calibri" pitchFamily="34" charset="0"/>
                <a:ea typeface="Calibri" pitchFamily="34" charset="-122"/>
                <a:cs typeface="Calibri" pitchFamily="34" charset="-120"/>
              </a:rPr>
              <a:t>Competing queue MW in the same zone</a:t>
            </a:r>
            <a:endParaRPr lang="en-US" sz="1000" dirty="0"/>
          </a:p>
        </p:txBody>
      </p:sp>
      <p:sp>
        <p:nvSpPr>
          <p:cNvPr id="33" name="Shape 31"/>
          <p:cNvSpPr/>
          <p:nvPr/>
        </p:nvSpPr>
        <p:spPr>
          <a:xfrm>
            <a:off x="6172200" y="4791456"/>
            <a:ext cx="5440680" cy="896112"/>
          </a:xfrm>
          <a:prstGeom prst="roundRect">
            <a:avLst>
              <a:gd name="adj" fmla="val 8163"/>
            </a:avLst>
          </a:prstGeom>
          <a:solidFill>
            <a:srgbClr val="17263C"/>
          </a:solidFill>
          <a:ln w="12700">
            <a:solidFill>
              <a:srgbClr val="1F3350"/>
            </a:solidFill>
            <a:prstDash val="solid"/>
          </a:ln>
        </p:spPr>
      </p:sp>
      <p:sp>
        <p:nvSpPr>
          <p:cNvPr id="34" name="Text 32"/>
          <p:cNvSpPr/>
          <p:nvPr/>
        </p:nvSpPr>
        <p:spPr>
          <a:xfrm>
            <a:off x="6355080" y="4992624"/>
            <a:ext cx="777240" cy="457200"/>
          </a:xfrm>
          <a:prstGeom prst="rect">
            <a:avLst/>
          </a:prstGeom>
          <a:noFill/>
          <a:ln/>
        </p:spPr>
        <p:txBody>
          <a:bodyPr wrap="square" lIns="0" tIns="0" rIns="0" bIns="0" rtlCol="0" anchor="ctr"/>
          <a:lstStyle/>
          <a:p>
            <a:pPr algn="l" indent="0" marL="0">
              <a:buNone/>
            </a:pPr>
            <a:r>
              <a:rPr lang="en-US" sz="1900" b="1" dirty="0">
                <a:solidFill>
                  <a:srgbClr val="3FA372"/>
                </a:solidFill>
                <a:latin typeface="Cambria" pitchFamily="34" charset="0"/>
                <a:ea typeface="Cambria" pitchFamily="34" charset="-122"/>
                <a:cs typeface="Cambria" pitchFamily="34" charset="-120"/>
              </a:rPr>
              <a:t>5%</a:t>
            </a:r>
            <a:endParaRPr lang="en-US" sz="1900" dirty="0"/>
          </a:p>
        </p:txBody>
      </p:sp>
      <p:sp>
        <p:nvSpPr>
          <p:cNvPr id="35" name="Text 33"/>
          <p:cNvSpPr/>
          <p:nvPr/>
        </p:nvSpPr>
        <p:spPr>
          <a:xfrm>
            <a:off x="7269480" y="4937760"/>
            <a:ext cx="42062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RECs per year</a:t>
            </a:r>
            <a:endParaRPr lang="en-US" sz="1250" dirty="0"/>
          </a:p>
        </p:txBody>
      </p:sp>
      <p:sp>
        <p:nvSpPr>
          <p:cNvPr id="36" name="Text 34"/>
          <p:cNvSpPr/>
          <p:nvPr/>
        </p:nvSpPr>
        <p:spPr>
          <a:xfrm>
            <a:off x="7269480" y="5266944"/>
            <a:ext cx="4206240" cy="310896"/>
          </a:xfrm>
          <a:prstGeom prst="rect">
            <a:avLst/>
          </a:prstGeom>
          <a:noFill/>
          <a:ln/>
        </p:spPr>
        <p:txBody>
          <a:bodyPr wrap="square" lIns="0" tIns="0" rIns="0" bIns="0" rtlCol="0" anchor="t"/>
          <a:lstStyle/>
          <a:p>
            <a:pPr algn="l" indent="0" marL="0">
              <a:lnSpc>
                <a:spcPct val="112000"/>
              </a:lnSpc>
              <a:buNone/>
            </a:pPr>
            <a:r>
              <a:rPr lang="en-US" sz="1000" dirty="0">
                <a:solidFill>
                  <a:srgbClr val="D6E4F0"/>
                </a:solidFill>
                <a:latin typeface="Calibri" pitchFamily="34" charset="0"/>
                <a:ea typeface="Calibri" pitchFamily="34" charset="-122"/>
                <a:cs typeface="Calibri" pitchFamily="34" charset="-120"/>
              </a:rPr>
              <a:t>Annual MWh × regional REC price</a:t>
            </a:r>
            <a:endParaRPr lang="en-US" sz="1000" dirty="0"/>
          </a:p>
        </p:txBody>
      </p:sp>
      <p:sp>
        <p:nvSpPr>
          <p:cNvPr id="37" name="Text 35"/>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8CA3BC"/>
                </a:solidFill>
                <a:latin typeface="Calibri" pitchFamily="34" charset="0"/>
                <a:ea typeface="Calibri" pitchFamily="34" charset="-122"/>
                <a:cs typeface="Calibri" pitchFamily="34" charset="-120"/>
              </a:rPr>
              <a:t>Composite score is a weighted sum, recomputed client-side — the deal team can reweight instantly without a data refresh.</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SAME DATA, DIFFERENT MANDATE</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Six investment objectives</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One click reweights all eight dimensions — the ranking reshapes to the client's actual mandate</a:t>
            </a:r>
            <a:endParaRPr lang="en-US" sz="1350" dirty="0"/>
          </a:p>
        </p:txBody>
      </p:sp>
      <p:sp>
        <p:nvSpPr>
          <p:cNvPr id="5" name="Shape 3"/>
          <p:cNvSpPr/>
          <p:nvPr/>
        </p:nvSpPr>
        <p:spPr>
          <a:xfrm>
            <a:off x="548640" y="1664208"/>
            <a:ext cx="3520440" cy="2011680"/>
          </a:xfrm>
          <a:prstGeom prst="roundRect">
            <a:avLst>
              <a:gd name="adj" fmla="val 3636"/>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6" name="Shape 4"/>
          <p:cNvSpPr/>
          <p:nvPr/>
        </p:nvSpPr>
        <p:spPr>
          <a:xfrm>
            <a:off x="786384" y="1883664"/>
            <a:ext cx="402336" cy="402336"/>
          </a:xfrm>
          <a:prstGeom prst="ellipse">
            <a:avLst/>
          </a:prstGeom>
          <a:solidFill>
            <a:srgbClr val="02C39A"/>
          </a:solidFill>
          <a:ln w="12700">
            <a:solidFill>
              <a:srgbClr val="02C39A"/>
            </a:solidFill>
            <a:prstDash val="solid"/>
          </a:ln>
        </p:spPr>
      </p:sp>
      <p:sp>
        <p:nvSpPr>
          <p:cNvPr id="7" name="Text 5"/>
          <p:cNvSpPr/>
          <p:nvPr/>
        </p:nvSpPr>
        <p:spPr>
          <a:xfrm>
            <a:off x="786384" y="188366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86384" y="2414016"/>
            <a:ext cx="301752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Risk-adjusted value</a:t>
            </a:r>
            <a:endParaRPr lang="en-US" sz="1400" dirty="0"/>
          </a:p>
        </p:txBody>
      </p:sp>
      <p:sp>
        <p:nvSpPr>
          <p:cNvPr id="9" name="Text 7"/>
          <p:cNvSpPr/>
          <p:nvPr/>
        </p:nvSpPr>
        <p:spPr>
          <a:xfrm>
            <a:off x="786384" y="2743200"/>
            <a:ext cx="3017520" cy="274320"/>
          </a:xfrm>
          <a:prstGeom prst="rect">
            <a:avLst/>
          </a:prstGeom>
          <a:noFill/>
          <a:ln/>
        </p:spPr>
        <p:txBody>
          <a:bodyPr wrap="square" lIns="0" tIns="0" rIns="0" bIns="0" rtlCol="0" anchor="t"/>
          <a:lstStyle/>
          <a:p>
            <a:pPr algn="l" indent="0" marL="0">
              <a:lnSpc>
                <a:spcPct val="112000"/>
              </a:lnSpc>
              <a:buNone/>
            </a:pPr>
            <a:r>
              <a:rPr lang="en-US" sz="1050" b="1" i="1" dirty="0">
                <a:solidFill>
                  <a:srgbClr val="02C39A"/>
                </a:solidFill>
                <a:latin typeface="Calibri" pitchFamily="34" charset="0"/>
                <a:ea typeface="Calibri" pitchFamily="34" charset="-122"/>
                <a:cs typeface="Calibri" pitchFamily="34" charset="-120"/>
              </a:rPr>
              <a:t>Balanced default</a:t>
            </a:r>
            <a:endParaRPr lang="en-US" sz="1050" dirty="0"/>
          </a:p>
        </p:txBody>
      </p:sp>
      <p:sp>
        <p:nvSpPr>
          <p:cNvPr id="10" name="Text 8"/>
          <p:cNvSpPr/>
          <p:nvPr/>
        </p:nvSpPr>
        <p:spPr>
          <a:xfrm>
            <a:off x="786384" y="3081528"/>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Curtailment 22 · Congestion 18 · Basis 15</a:t>
            </a:r>
            <a:endParaRPr lang="en-US" sz="1000" dirty="0"/>
          </a:p>
        </p:txBody>
      </p:sp>
      <p:sp>
        <p:nvSpPr>
          <p:cNvPr id="11" name="Shape 9"/>
          <p:cNvSpPr/>
          <p:nvPr/>
        </p:nvSpPr>
        <p:spPr>
          <a:xfrm>
            <a:off x="4279392" y="1664208"/>
            <a:ext cx="3520440" cy="2011680"/>
          </a:xfrm>
          <a:prstGeom prst="roundRect">
            <a:avLst>
              <a:gd name="adj" fmla="val 3636"/>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2" name="Shape 10"/>
          <p:cNvSpPr/>
          <p:nvPr/>
        </p:nvSpPr>
        <p:spPr>
          <a:xfrm>
            <a:off x="4517136" y="1883664"/>
            <a:ext cx="402336" cy="402336"/>
          </a:xfrm>
          <a:prstGeom prst="ellipse">
            <a:avLst/>
          </a:prstGeom>
          <a:solidFill>
            <a:srgbClr val="2E86AB"/>
          </a:solidFill>
          <a:ln w="12700">
            <a:solidFill>
              <a:srgbClr val="2E86AB"/>
            </a:solidFill>
            <a:prstDash val="solid"/>
          </a:ln>
        </p:spPr>
      </p:sp>
      <p:sp>
        <p:nvSpPr>
          <p:cNvPr id="13" name="Text 11"/>
          <p:cNvSpPr/>
          <p:nvPr/>
        </p:nvSpPr>
        <p:spPr>
          <a:xfrm>
            <a:off x="4517136" y="188366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4517136" y="2414016"/>
            <a:ext cx="301752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Lowest LCOE</a:t>
            </a:r>
            <a:endParaRPr lang="en-US" sz="1400" dirty="0"/>
          </a:p>
        </p:txBody>
      </p:sp>
      <p:sp>
        <p:nvSpPr>
          <p:cNvPr id="15" name="Text 13"/>
          <p:cNvSpPr/>
          <p:nvPr/>
        </p:nvSpPr>
        <p:spPr>
          <a:xfrm>
            <a:off x="4517136" y="2743200"/>
            <a:ext cx="3017520" cy="274320"/>
          </a:xfrm>
          <a:prstGeom prst="rect">
            <a:avLst/>
          </a:prstGeom>
          <a:noFill/>
          <a:ln/>
        </p:spPr>
        <p:txBody>
          <a:bodyPr wrap="square" lIns="0" tIns="0" rIns="0" bIns="0" rtlCol="0" anchor="t"/>
          <a:lstStyle/>
          <a:p>
            <a:pPr algn="l" indent="0" marL="0">
              <a:lnSpc>
                <a:spcPct val="112000"/>
              </a:lnSpc>
              <a:buNone/>
            </a:pPr>
            <a:r>
              <a:rPr lang="en-US" sz="1050" b="1" i="1" dirty="0">
                <a:solidFill>
                  <a:srgbClr val="2E86AB"/>
                </a:solidFill>
                <a:latin typeface="Calibri" pitchFamily="34" charset="0"/>
                <a:ea typeface="Calibri" pitchFamily="34" charset="-122"/>
                <a:cs typeface="Calibri" pitchFamily="34" charset="-120"/>
              </a:rPr>
              <a:t>Cost-focused buyer</a:t>
            </a:r>
            <a:endParaRPr lang="en-US" sz="1050" dirty="0"/>
          </a:p>
        </p:txBody>
      </p:sp>
      <p:sp>
        <p:nvSpPr>
          <p:cNvPr id="16" name="Text 14"/>
          <p:cNvSpPr/>
          <p:nvPr/>
        </p:nvSpPr>
        <p:spPr>
          <a:xfrm>
            <a:off x="4517136" y="3081528"/>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Capture price 30 · Curtailment 22</a:t>
            </a:r>
            <a:endParaRPr lang="en-US" sz="1000" dirty="0"/>
          </a:p>
        </p:txBody>
      </p:sp>
      <p:sp>
        <p:nvSpPr>
          <p:cNvPr id="17" name="Shape 15"/>
          <p:cNvSpPr/>
          <p:nvPr/>
        </p:nvSpPr>
        <p:spPr>
          <a:xfrm>
            <a:off x="8010144" y="1664208"/>
            <a:ext cx="3520440" cy="2011680"/>
          </a:xfrm>
          <a:prstGeom prst="roundRect">
            <a:avLst>
              <a:gd name="adj" fmla="val 3636"/>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8" name="Shape 16"/>
          <p:cNvSpPr/>
          <p:nvPr/>
        </p:nvSpPr>
        <p:spPr>
          <a:xfrm>
            <a:off x="8247888" y="1883664"/>
            <a:ext cx="402336" cy="402336"/>
          </a:xfrm>
          <a:prstGeom prst="ellipse">
            <a:avLst/>
          </a:prstGeom>
          <a:solidFill>
            <a:srgbClr val="02C39A"/>
          </a:solidFill>
          <a:ln w="12700">
            <a:solidFill>
              <a:srgbClr val="02C39A"/>
            </a:solidFill>
            <a:prstDash val="solid"/>
          </a:ln>
        </p:spPr>
      </p:sp>
      <p:sp>
        <p:nvSpPr>
          <p:cNvPr id="19" name="Text 17"/>
          <p:cNvSpPr/>
          <p:nvPr/>
        </p:nvSpPr>
        <p:spPr>
          <a:xfrm>
            <a:off x="8247888" y="188366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8247888" y="2414016"/>
            <a:ext cx="301752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Corporate load hedge</a:t>
            </a:r>
            <a:endParaRPr lang="en-US" sz="1400" dirty="0"/>
          </a:p>
        </p:txBody>
      </p:sp>
      <p:sp>
        <p:nvSpPr>
          <p:cNvPr id="21" name="Text 19"/>
          <p:cNvSpPr/>
          <p:nvPr/>
        </p:nvSpPr>
        <p:spPr>
          <a:xfrm>
            <a:off x="8247888" y="2743200"/>
            <a:ext cx="3017520" cy="274320"/>
          </a:xfrm>
          <a:prstGeom prst="rect">
            <a:avLst/>
          </a:prstGeom>
          <a:noFill/>
          <a:ln/>
        </p:spPr>
        <p:txBody>
          <a:bodyPr wrap="square" lIns="0" tIns="0" rIns="0" bIns="0" rtlCol="0" anchor="t"/>
          <a:lstStyle/>
          <a:p>
            <a:pPr algn="l" indent="0" marL="0">
              <a:lnSpc>
                <a:spcPct val="112000"/>
              </a:lnSpc>
              <a:buNone/>
            </a:pPr>
            <a:r>
              <a:rPr lang="en-US" sz="1050" b="1" i="1" dirty="0">
                <a:solidFill>
                  <a:srgbClr val="02C39A"/>
                </a:solidFill>
                <a:latin typeface="Calibri" pitchFamily="34" charset="0"/>
                <a:ea typeface="Calibri" pitchFamily="34" charset="-122"/>
                <a:cs typeface="Calibri" pitchFamily="34" charset="-120"/>
              </a:rPr>
              <a:t>Matching a load shape</a:t>
            </a:r>
            <a:endParaRPr lang="en-US" sz="1050" dirty="0"/>
          </a:p>
        </p:txBody>
      </p:sp>
      <p:sp>
        <p:nvSpPr>
          <p:cNvPr id="22" name="Text 20"/>
          <p:cNvSpPr/>
          <p:nvPr/>
        </p:nvSpPr>
        <p:spPr>
          <a:xfrm>
            <a:off x="8247888" y="3081528"/>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Curtailment 30 · Congestion 22 · Basis 18</a:t>
            </a:r>
            <a:endParaRPr lang="en-US" sz="1000" dirty="0"/>
          </a:p>
        </p:txBody>
      </p:sp>
      <p:sp>
        <p:nvSpPr>
          <p:cNvPr id="23" name="Shape 21"/>
          <p:cNvSpPr/>
          <p:nvPr/>
        </p:nvSpPr>
        <p:spPr>
          <a:xfrm>
            <a:off x="548640" y="3877056"/>
            <a:ext cx="3520440" cy="2011680"/>
          </a:xfrm>
          <a:prstGeom prst="roundRect">
            <a:avLst>
              <a:gd name="adj" fmla="val 3636"/>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4" name="Shape 22"/>
          <p:cNvSpPr/>
          <p:nvPr/>
        </p:nvSpPr>
        <p:spPr>
          <a:xfrm>
            <a:off x="786384" y="4096512"/>
            <a:ext cx="402336" cy="402336"/>
          </a:xfrm>
          <a:prstGeom prst="ellipse">
            <a:avLst/>
          </a:prstGeom>
          <a:solidFill>
            <a:srgbClr val="3FA372"/>
          </a:solidFill>
          <a:ln w="12700">
            <a:solidFill>
              <a:srgbClr val="3FA372"/>
            </a:solidFill>
            <a:prstDash val="solid"/>
          </a:ln>
        </p:spPr>
      </p:sp>
      <p:sp>
        <p:nvSpPr>
          <p:cNvPr id="25" name="Text 23"/>
          <p:cNvSpPr/>
          <p:nvPr/>
        </p:nvSpPr>
        <p:spPr>
          <a:xfrm>
            <a:off x="786384" y="4096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786384" y="4626864"/>
            <a:ext cx="301752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Decarbonisation</a:t>
            </a:r>
            <a:endParaRPr lang="en-US" sz="1400" dirty="0"/>
          </a:p>
        </p:txBody>
      </p:sp>
      <p:sp>
        <p:nvSpPr>
          <p:cNvPr id="27" name="Text 25"/>
          <p:cNvSpPr/>
          <p:nvPr/>
        </p:nvSpPr>
        <p:spPr>
          <a:xfrm>
            <a:off x="786384" y="4956048"/>
            <a:ext cx="3017520" cy="274320"/>
          </a:xfrm>
          <a:prstGeom prst="rect">
            <a:avLst/>
          </a:prstGeom>
          <a:noFill/>
          <a:ln/>
        </p:spPr>
        <p:txBody>
          <a:bodyPr wrap="square" lIns="0" tIns="0" rIns="0" bIns="0" rtlCol="0" anchor="t"/>
          <a:lstStyle/>
          <a:p>
            <a:pPr algn="l" indent="0" marL="0">
              <a:lnSpc>
                <a:spcPct val="112000"/>
              </a:lnSpc>
              <a:buNone/>
            </a:pPr>
            <a:r>
              <a:rPr lang="en-US" sz="1050" b="1" i="1" dirty="0">
                <a:solidFill>
                  <a:srgbClr val="3FA372"/>
                </a:solidFill>
                <a:latin typeface="Calibri" pitchFamily="34" charset="0"/>
                <a:ea typeface="Calibri" pitchFamily="34" charset="-122"/>
                <a:cs typeface="Calibri" pitchFamily="34" charset="-120"/>
              </a:rPr>
              <a:t>Scope 2 / RE100 target</a:t>
            </a:r>
            <a:endParaRPr lang="en-US" sz="1050" dirty="0"/>
          </a:p>
        </p:txBody>
      </p:sp>
      <p:sp>
        <p:nvSpPr>
          <p:cNvPr id="28" name="Text 26"/>
          <p:cNvSpPr/>
          <p:nvPr/>
        </p:nvSpPr>
        <p:spPr>
          <a:xfrm>
            <a:off x="786384" y="5294376"/>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Capacity 25 · Curtailment 22 · RECs 20</a:t>
            </a:r>
            <a:endParaRPr lang="en-US" sz="1000" dirty="0"/>
          </a:p>
        </p:txBody>
      </p:sp>
      <p:sp>
        <p:nvSpPr>
          <p:cNvPr id="29" name="Shape 27"/>
          <p:cNvSpPr/>
          <p:nvPr/>
        </p:nvSpPr>
        <p:spPr>
          <a:xfrm>
            <a:off x="4279392" y="3877056"/>
            <a:ext cx="3520440" cy="2011680"/>
          </a:xfrm>
          <a:prstGeom prst="roundRect">
            <a:avLst>
              <a:gd name="adj" fmla="val 3636"/>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30" name="Shape 28"/>
          <p:cNvSpPr/>
          <p:nvPr/>
        </p:nvSpPr>
        <p:spPr>
          <a:xfrm>
            <a:off x="4517136" y="4096512"/>
            <a:ext cx="402336" cy="402336"/>
          </a:xfrm>
          <a:prstGeom prst="ellipse">
            <a:avLst/>
          </a:prstGeom>
          <a:solidFill>
            <a:srgbClr val="E8A33D"/>
          </a:solidFill>
          <a:ln w="12700">
            <a:solidFill>
              <a:srgbClr val="E8A33D"/>
            </a:solidFill>
            <a:prstDash val="solid"/>
          </a:ln>
        </p:spPr>
      </p:sp>
      <p:sp>
        <p:nvSpPr>
          <p:cNvPr id="31" name="Text 29"/>
          <p:cNvSpPr/>
          <p:nvPr/>
        </p:nvSpPr>
        <p:spPr>
          <a:xfrm>
            <a:off x="4517136" y="4096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30"/>
          <p:cNvSpPr/>
          <p:nvPr/>
        </p:nvSpPr>
        <p:spPr>
          <a:xfrm>
            <a:off x="4517136" y="4626864"/>
            <a:ext cx="301752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Capacity value</a:t>
            </a:r>
            <a:endParaRPr lang="en-US" sz="1400" dirty="0"/>
          </a:p>
        </p:txBody>
      </p:sp>
      <p:sp>
        <p:nvSpPr>
          <p:cNvPr id="33" name="Text 31"/>
          <p:cNvSpPr/>
          <p:nvPr/>
        </p:nvSpPr>
        <p:spPr>
          <a:xfrm>
            <a:off x="4517136" y="4956048"/>
            <a:ext cx="3017520" cy="274320"/>
          </a:xfrm>
          <a:prstGeom prst="rect">
            <a:avLst/>
          </a:prstGeom>
          <a:noFill/>
          <a:ln/>
        </p:spPr>
        <p:txBody>
          <a:bodyPr wrap="square" lIns="0" tIns="0" rIns="0" bIns="0" rtlCol="0" anchor="t"/>
          <a:lstStyle/>
          <a:p>
            <a:pPr algn="l" indent="0" marL="0">
              <a:lnSpc>
                <a:spcPct val="112000"/>
              </a:lnSpc>
              <a:buNone/>
            </a:pPr>
            <a:r>
              <a:rPr lang="en-US" sz="1050" b="1" i="1" dirty="0">
                <a:solidFill>
                  <a:srgbClr val="E8A33D"/>
                </a:solidFill>
                <a:latin typeface="Calibri" pitchFamily="34" charset="0"/>
                <a:ea typeface="Calibri" pitchFamily="34" charset="-122"/>
                <a:cs typeface="Calibri" pitchFamily="34" charset="-120"/>
              </a:rPr>
              <a:t>Reliability contribution</a:t>
            </a:r>
            <a:endParaRPr lang="en-US" sz="1050" dirty="0"/>
          </a:p>
        </p:txBody>
      </p:sp>
      <p:sp>
        <p:nvSpPr>
          <p:cNvPr id="34" name="Text 32"/>
          <p:cNvSpPr/>
          <p:nvPr/>
        </p:nvSpPr>
        <p:spPr>
          <a:xfrm>
            <a:off x="4517136" y="5294376"/>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Capacity 35 · Curtailment 18</a:t>
            </a:r>
            <a:endParaRPr lang="en-US" sz="1000" dirty="0"/>
          </a:p>
        </p:txBody>
      </p:sp>
      <p:sp>
        <p:nvSpPr>
          <p:cNvPr id="35" name="Shape 33"/>
          <p:cNvSpPr/>
          <p:nvPr/>
        </p:nvSpPr>
        <p:spPr>
          <a:xfrm>
            <a:off x="8010144" y="3877056"/>
            <a:ext cx="3520440" cy="2011680"/>
          </a:xfrm>
          <a:prstGeom prst="roundRect">
            <a:avLst>
              <a:gd name="adj" fmla="val 3636"/>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36" name="Shape 34"/>
          <p:cNvSpPr/>
          <p:nvPr/>
        </p:nvSpPr>
        <p:spPr>
          <a:xfrm>
            <a:off x="8247888" y="4096512"/>
            <a:ext cx="402336" cy="402336"/>
          </a:xfrm>
          <a:prstGeom prst="ellipse">
            <a:avLst/>
          </a:prstGeom>
          <a:solidFill>
            <a:srgbClr val="D9544D"/>
          </a:solidFill>
          <a:ln w="12700">
            <a:solidFill>
              <a:srgbClr val="D9544D"/>
            </a:solidFill>
            <a:prstDash val="solid"/>
          </a:ln>
        </p:spPr>
      </p:sp>
      <p:sp>
        <p:nvSpPr>
          <p:cNvPr id="37" name="Text 35"/>
          <p:cNvSpPr/>
          <p:nvPr/>
        </p:nvSpPr>
        <p:spPr>
          <a:xfrm>
            <a:off x="8247888" y="40965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p:nvPr/>
        </p:nvSpPr>
        <p:spPr>
          <a:xfrm>
            <a:off x="8247888" y="4626864"/>
            <a:ext cx="301752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Merchant upside</a:t>
            </a:r>
            <a:endParaRPr lang="en-US" sz="1400" dirty="0"/>
          </a:p>
        </p:txBody>
      </p:sp>
      <p:sp>
        <p:nvSpPr>
          <p:cNvPr id="39" name="Text 37"/>
          <p:cNvSpPr/>
          <p:nvPr/>
        </p:nvSpPr>
        <p:spPr>
          <a:xfrm>
            <a:off x="8247888" y="4956048"/>
            <a:ext cx="3017520" cy="274320"/>
          </a:xfrm>
          <a:prstGeom prst="rect">
            <a:avLst/>
          </a:prstGeom>
          <a:noFill/>
          <a:ln/>
        </p:spPr>
        <p:txBody>
          <a:bodyPr wrap="square" lIns="0" tIns="0" rIns="0" bIns="0" rtlCol="0" anchor="t"/>
          <a:lstStyle/>
          <a:p>
            <a:pPr algn="l" indent="0" marL="0">
              <a:lnSpc>
                <a:spcPct val="112000"/>
              </a:lnSpc>
              <a:buNone/>
            </a:pPr>
            <a:r>
              <a:rPr lang="en-US" sz="1050" b="1" i="1" dirty="0">
                <a:solidFill>
                  <a:srgbClr val="D9544D"/>
                </a:solidFill>
                <a:latin typeface="Calibri" pitchFamily="34" charset="0"/>
                <a:ea typeface="Calibri" pitchFamily="34" charset="-122"/>
                <a:cs typeface="Calibri" pitchFamily="34" charset="-120"/>
              </a:rPr>
              <a:t>Trading / uncontracted</a:t>
            </a:r>
            <a:endParaRPr lang="en-US" sz="1050" dirty="0"/>
          </a:p>
        </p:txBody>
      </p:sp>
      <p:sp>
        <p:nvSpPr>
          <p:cNvPr id="40" name="Text 38"/>
          <p:cNvSpPr/>
          <p:nvPr/>
        </p:nvSpPr>
        <p:spPr>
          <a:xfrm>
            <a:off x="8247888" y="5294376"/>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Capture 35 · Basis 20 · Revenue 18</a:t>
            </a:r>
            <a:endParaRPr lang="en-US" sz="1000" dirty="0"/>
          </a:p>
        </p:txBody>
      </p:sp>
      <p:sp>
        <p:nvSpPr>
          <p:cNvPr id="41" name="Text 39"/>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5A6E85"/>
                </a:solidFill>
                <a:latin typeface="Calibri" pitchFamily="34" charset="0"/>
                <a:ea typeface="Calibri" pitchFamily="34" charset="-122"/>
                <a:cs typeface="Calibri" pitchFamily="34" charset="-120"/>
              </a:rPr>
              <a:t>In a workshop this is the moment the client sees their own strategy reflected in the shortlist — it reframes the tool as theirs.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HOW A DEAL TEAM USES IT</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Worked example: screening West Texas wind</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Roughly fifteen minutes from open question to a defensible shortlist</a:t>
            </a:r>
            <a:endParaRPr lang="en-US" sz="1350" dirty="0"/>
          </a:p>
        </p:txBody>
      </p:sp>
      <p:sp>
        <p:nvSpPr>
          <p:cNvPr id="5" name="Shape 3"/>
          <p:cNvSpPr/>
          <p:nvPr/>
        </p:nvSpPr>
        <p:spPr>
          <a:xfrm>
            <a:off x="566928" y="1682496"/>
            <a:ext cx="365760" cy="365760"/>
          </a:xfrm>
          <a:prstGeom prst="ellipse">
            <a:avLst/>
          </a:prstGeom>
          <a:solidFill>
            <a:srgbClr val="02C39A"/>
          </a:solidFill>
          <a:ln w="12700">
            <a:solidFill>
              <a:srgbClr val="02C39A"/>
            </a:solidFill>
            <a:prstDash val="solid"/>
          </a:ln>
        </p:spPr>
      </p:sp>
      <p:sp>
        <p:nvSpPr>
          <p:cNvPr id="6" name="Text 4"/>
          <p:cNvSpPr/>
          <p:nvPr/>
        </p:nvSpPr>
        <p:spPr>
          <a:xfrm>
            <a:off x="566928" y="168249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097280" y="1627632"/>
            <a:ext cx="246888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Set the mandate</a:t>
            </a:r>
            <a:endParaRPr lang="en-US" sz="1200" dirty="0"/>
          </a:p>
        </p:txBody>
      </p:sp>
      <p:sp>
        <p:nvSpPr>
          <p:cNvPr id="8" name="Text 6"/>
          <p:cNvSpPr/>
          <p:nvPr/>
        </p:nvSpPr>
        <p:spPr>
          <a:xfrm>
            <a:off x="3703320" y="1636776"/>
            <a:ext cx="7863840" cy="548640"/>
          </a:xfrm>
          <a:prstGeom prst="rect">
            <a:avLst/>
          </a:prstGeom>
          <a:noFill/>
          <a:ln/>
        </p:spPr>
        <p:txBody>
          <a:bodyPr wrap="square" lIns="0" tIns="0" rIns="0" bIns="0" rtlCol="0" anchor="t"/>
          <a:lstStyle/>
          <a:p>
            <a:pPr algn="l" indent="0" marL="0">
              <a:lnSpc>
                <a:spcPct val="110000"/>
              </a:lnSpc>
              <a:buNone/>
            </a:pPr>
            <a:r>
              <a:rPr lang="en-US" sz="1050" dirty="0">
                <a:solidFill>
                  <a:srgbClr val="5A6E85"/>
                </a:solidFill>
                <a:latin typeface="Calibri" pitchFamily="34" charset="0"/>
                <a:ea typeface="Calibri" pitchFamily="34" charset="-122"/>
                <a:cs typeface="Calibri" pitchFamily="34" charset="-120"/>
              </a:rPr>
              <a:t>Dashboard → market ERCOT, technology wind, objective “Corporate load hedge”. Launches a filtered screening session.</a:t>
            </a:r>
            <a:endParaRPr lang="en-US" sz="1050" dirty="0"/>
          </a:p>
        </p:txBody>
      </p:sp>
      <p:sp>
        <p:nvSpPr>
          <p:cNvPr id="9" name="Shape 7"/>
          <p:cNvSpPr/>
          <p:nvPr/>
        </p:nvSpPr>
        <p:spPr>
          <a:xfrm>
            <a:off x="566928" y="2340864"/>
            <a:ext cx="365760" cy="365760"/>
          </a:xfrm>
          <a:prstGeom prst="ellipse">
            <a:avLst/>
          </a:prstGeom>
          <a:solidFill>
            <a:srgbClr val="2E86AB"/>
          </a:solidFill>
          <a:ln w="12700">
            <a:solidFill>
              <a:srgbClr val="2E86AB"/>
            </a:solidFill>
            <a:prstDash val="solid"/>
          </a:ln>
        </p:spPr>
      </p:sp>
      <p:sp>
        <p:nvSpPr>
          <p:cNvPr id="10" name="Text 8"/>
          <p:cNvSpPr/>
          <p:nvPr/>
        </p:nvSpPr>
        <p:spPr>
          <a:xfrm>
            <a:off x="566928" y="23408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097280" y="2286000"/>
            <a:ext cx="246888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Read the ranking</a:t>
            </a:r>
            <a:endParaRPr lang="en-US" sz="1200" dirty="0"/>
          </a:p>
        </p:txBody>
      </p:sp>
      <p:sp>
        <p:nvSpPr>
          <p:cNvPr id="12" name="Text 10"/>
          <p:cNvSpPr/>
          <p:nvPr/>
        </p:nvSpPr>
        <p:spPr>
          <a:xfrm>
            <a:off x="3703320" y="2295144"/>
            <a:ext cx="7863840" cy="548640"/>
          </a:xfrm>
          <a:prstGeom prst="rect">
            <a:avLst/>
          </a:prstGeom>
          <a:noFill/>
          <a:ln/>
        </p:spPr>
        <p:txBody>
          <a:bodyPr wrap="square" lIns="0" tIns="0" rIns="0" bIns="0" rtlCol="0" anchor="t"/>
          <a:lstStyle/>
          <a:p>
            <a:pPr algn="l" indent="0" marL="0">
              <a:lnSpc>
                <a:spcPct val="110000"/>
              </a:lnSpc>
              <a:buNone/>
            </a:pPr>
            <a:r>
              <a:rPr lang="en-US" sz="1050" dirty="0">
                <a:solidFill>
                  <a:srgbClr val="5A6E85"/>
                </a:solidFill>
                <a:latin typeface="Calibri" pitchFamily="34" charset="0"/>
                <a:ea typeface="Calibri" pitchFamily="34" charset="-122"/>
                <a:cs typeface="Calibri" pitchFamily="34" charset="-120"/>
              </a:rPr>
              <a:t>Rankings shows candidates with all eight score bars. West Texas wind scores 88–92 on curtailment; Panhandle nodes fall to the bottom.</a:t>
            </a:r>
            <a:endParaRPr lang="en-US" sz="1050" dirty="0"/>
          </a:p>
        </p:txBody>
      </p:sp>
      <p:sp>
        <p:nvSpPr>
          <p:cNvPr id="13" name="Shape 11"/>
          <p:cNvSpPr/>
          <p:nvPr/>
        </p:nvSpPr>
        <p:spPr>
          <a:xfrm>
            <a:off x="566928" y="2999232"/>
            <a:ext cx="365760" cy="365760"/>
          </a:xfrm>
          <a:prstGeom prst="ellipse">
            <a:avLst/>
          </a:prstGeom>
          <a:solidFill>
            <a:srgbClr val="02C39A"/>
          </a:solidFill>
          <a:ln w="12700">
            <a:solidFill>
              <a:srgbClr val="02C39A"/>
            </a:solidFill>
            <a:prstDash val="solid"/>
          </a:ln>
        </p:spPr>
      </p:sp>
      <p:sp>
        <p:nvSpPr>
          <p:cNvPr id="14" name="Text 12"/>
          <p:cNvSpPr/>
          <p:nvPr/>
        </p:nvSpPr>
        <p:spPr>
          <a:xfrm>
            <a:off x="566928" y="29992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97280" y="2944368"/>
            <a:ext cx="246888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Interrogate the basis</a:t>
            </a:r>
            <a:endParaRPr lang="en-US" sz="1200" dirty="0"/>
          </a:p>
        </p:txBody>
      </p:sp>
      <p:sp>
        <p:nvSpPr>
          <p:cNvPr id="16" name="Text 14"/>
          <p:cNvSpPr/>
          <p:nvPr/>
        </p:nvSpPr>
        <p:spPr>
          <a:xfrm>
            <a:off x="3703320" y="2953512"/>
            <a:ext cx="7863840" cy="548640"/>
          </a:xfrm>
          <a:prstGeom prst="rect">
            <a:avLst/>
          </a:prstGeom>
          <a:noFill/>
          <a:ln/>
        </p:spPr>
        <p:txBody>
          <a:bodyPr wrap="square" lIns="0" tIns="0" rIns="0" bIns="0" rtlCol="0" anchor="t"/>
          <a:lstStyle/>
          <a:p>
            <a:pPr algn="l" indent="0" marL="0">
              <a:lnSpc>
                <a:spcPct val="110000"/>
              </a:lnSpc>
              <a:buNone/>
            </a:pPr>
            <a:r>
              <a:rPr lang="en-US" sz="1050" dirty="0">
                <a:solidFill>
                  <a:srgbClr val="5A6E85"/>
                </a:solidFill>
                <a:latin typeface="Calibri" pitchFamily="34" charset="0"/>
                <a:ea typeface="Calibri" pitchFamily="34" charset="-122"/>
                <a:cs typeface="Calibri" pitchFamily="34" charset="-120"/>
              </a:rPr>
              <a:t>Congestion Intelligence → Basis Analyzer plots each node against HB_BUSAVG. Persistent discounts are visible immediately.</a:t>
            </a:r>
            <a:endParaRPr lang="en-US" sz="1050" dirty="0"/>
          </a:p>
        </p:txBody>
      </p:sp>
      <p:sp>
        <p:nvSpPr>
          <p:cNvPr id="17" name="Shape 15"/>
          <p:cNvSpPr/>
          <p:nvPr/>
        </p:nvSpPr>
        <p:spPr>
          <a:xfrm>
            <a:off x="566928" y="3657600"/>
            <a:ext cx="365760" cy="365760"/>
          </a:xfrm>
          <a:prstGeom prst="ellipse">
            <a:avLst/>
          </a:prstGeom>
          <a:solidFill>
            <a:srgbClr val="2E86AB"/>
          </a:solidFill>
          <a:ln w="12700">
            <a:solidFill>
              <a:srgbClr val="2E86AB"/>
            </a:solidFill>
            <a:prstDash val="solid"/>
          </a:ln>
        </p:spPr>
      </p:sp>
      <p:sp>
        <p:nvSpPr>
          <p:cNvPr id="18" name="Text 16"/>
          <p:cNvSpPr/>
          <p:nvPr/>
        </p:nvSpPr>
        <p:spPr>
          <a:xfrm>
            <a:off x="566928" y="36576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1097280" y="3602736"/>
            <a:ext cx="246888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Check deliverability</a:t>
            </a:r>
            <a:endParaRPr lang="en-US" sz="1200" dirty="0"/>
          </a:p>
        </p:txBody>
      </p:sp>
      <p:sp>
        <p:nvSpPr>
          <p:cNvPr id="20" name="Text 18"/>
          <p:cNvSpPr/>
          <p:nvPr/>
        </p:nvSpPr>
        <p:spPr>
          <a:xfrm>
            <a:off x="3703320" y="3611880"/>
            <a:ext cx="7863840" cy="548640"/>
          </a:xfrm>
          <a:prstGeom prst="rect">
            <a:avLst/>
          </a:prstGeom>
          <a:noFill/>
          <a:ln/>
        </p:spPr>
        <p:txBody>
          <a:bodyPr wrap="square" lIns="0" tIns="0" rIns="0" bIns="0" rtlCol="0" anchor="t"/>
          <a:lstStyle/>
          <a:p>
            <a:pPr algn="l" indent="0" marL="0">
              <a:lnSpc>
                <a:spcPct val="110000"/>
              </a:lnSpc>
              <a:buNone/>
            </a:pPr>
            <a:r>
              <a:rPr lang="en-US" sz="1050" dirty="0">
                <a:solidFill>
                  <a:srgbClr val="5A6E85"/>
                </a:solidFill>
                <a:latin typeface="Calibri" pitchFamily="34" charset="0"/>
                <a:ea typeface="Calibri" pitchFamily="34" charset="-122"/>
                <a:cs typeface="Calibri" pitchFamily="34" charset="-120"/>
              </a:rPr>
              <a:t>Interconnection Queue shows competing MW in the same zone — the constraint on anything not yet built.</a:t>
            </a:r>
            <a:endParaRPr lang="en-US" sz="1050" dirty="0"/>
          </a:p>
        </p:txBody>
      </p:sp>
      <p:sp>
        <p:nvSpPr>
          <p:cNvPr id="21" name="Shape 19"/>
          <p:cNvSpPr/>
          <p:nvPr/>
        </p:nvSpPr>
        <p:spPr>
          <a:xfrm>
            <a:off x="566928" y="4315968"/>
            <a:ext cx="365760" cy="365760"/>
          </a:xfrm>
          <a:prstGeom prst="ellipse">
            <a:avLst/>
          </a:prstGeom>
          <a:solidFill>
            <a:srgbClr val="02C39A"/>
          </a:solidFill>
          <a:ln w="12700">
            <a:solidFill>
              <a:srgbClr val="02C39A"/>
            </a:solidFill>
            <a:prstDash val="solid"/>
          </a:ln>
        </p:spPr>
      </p:sp>
      <p:sp>
        <p:nvSpPr>
          <p:cNvPr id="22" name="Text 20"/>
          <p:cNvSpPr/>
          <p:nvPr/>
        </p:nvSpPr>
        <p:spPr>
          <a:xfrm>
            <a:off x="566928" y="43159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097280" y="4261104"/>
            <a:ext cx="246888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Test the forward view</a:t>
            </a:r>
            <a:endParaRPr lang="en-US" sz="1200" dirty="0"/>
          </a:p>
        </p:txBody>
      </p:sp>
      <p:sp>
        <p:nvSpPr>
          <p:cNvPr id="24" name="Text 22"/>
          <p:cNvSpPr/>
          <p:nvPr/>
        </p:nvSpPr>
        <p:spPr>
          <a:xfrm>
            <a:off x="3703320" y="4270248"/>
            <a:ext cx="7863840" cy="548640"/>
          </a:xfrm>
          <a:prstGeom prst="rect">
            <a:avLst/>
          </a:prstGeom>
          <a:noFill/>
          <a:ln/>
        </p:spPr>
        <p:txBody>
          <a:bodyPr wrap="square" lIns="0" tIns="0" rIns="0" bIns="0" rtlCol="0" anchor="t"/>
          <a:lstStyle/>
          <a:p>
            <a:pPr algn="l" indent="0" marL="0">
              <a:lnSpc>
                <a:spcPct val="110000"/>
              </a:lnSpc>
              <a:buNone/>
            </a:pPr>
            <a:r>
              <a:rPr lang="en-US" sz="1050" dirty="0">
                <a:solidFill>
                  <a:srgbClr val="5A6E85"/>
                </a:solidFill>
                <a:latin typeface="Calibri" pitchFamily="34" charset="0"/>
                <a:ea typeface="Calibri" pitchFamily="34" charset="-122"/>
                <a:cs typeface="Calibri" pitchFamily="34" charset="-120"/>
              </a:rPr>
              <a:t>PyPSA curtailment scenario at high wind CF on the real 340-bus network shows which nodes bind first.</a:t>
            </a:r>
            <a:endParaRPr lang="en-US" sz="1050" dirty="0"/>
          </a:p>
        </p:txBody>
      </p:sp>
      <p:sp>
        <p:nvSpPr>
          <p:cNvPr id="25" name="Shape 23"/>
          <p:cNvSpPr/>
          <p:nvPr/>
        </p:nvSpPr>
        <p:spPr>
          <a:xfrm>
            <a:off x="566928" y="4974336"/>
            <a:ext cx="365760" cy="365760"/>
          </a:xfrm>
          <a:prstGeom prst="ellipse">
            <a:avLst/>
          </a:prstGeom>
          <a:solidFill>
            <a:srgbClr val="2E86AB"/>
          </a:solidFill>
          <a:ln w="12700">
            <a:solidFill>
              <a:srgbClr val="2E86AB"/>
            </a:solidFill>
            <a:prstDash val="solid"/>
          </a:ln>
        </p:spPr>
      </p:sp>
      <p:sp>
        <p:nvSpPr>
          <p:cNvPr id="26" name="Text 24"/>
          <p:cNvSpPr/>
          <p:nvPr/>
        </p:nvSpPr>
        <p:spPr>
          <a:xfrm>
            <a:off x="566928" y="497433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7" name="Text 25"/>
          <p:cNvSpPr/>
          <p:nvPr/>
        </p:nvSpPr>
        <p:spPr>
          <a:xfrm>
            <a:off x="1097280" y="4919472"/>
            <a:ext cx="246888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Price the contract</a:t>
            </a:r>
            <a:endParaRPr lang="en-US" sz="1200" dirty="0"/>
          </a:p>
        </p:txBody>
      </p:sp>
      <p:sp>
        <p:nvSpPr>
          <p:cNvPr id="28" name="Text 26"/>
          <p:cNvSpPr/>
          <p:nvPr/>
        </p:nvSpPr>
        <p:spPr>
          <a:xfrm>
            <a:off x="3703320" y="4928616"/>
            <a:ext cx="7863840" cy="548640"/>
          </a:xfrm>
          <a:prstGeom prst="rect">
            <a:avLst/>
          </a:prstGeom>
          <a:noFill/>
          <a:ln/>
        </p:spPr>
        <p:txBody>
          <a:bodyPr wrap="square" lIns="0" tIns="0" rIns="0" bIns="0" rtlCol="0" anchor="t"/>
          <a:lstStyle/>
          <a:p>
            <a:pPr algn="l" indent="0" marL="0">
              <a:lnSpc>
                <a:spcPct val="110000"/>
              </a:lnSpc>
              <a:buNone/>
            </a:pPr>
            <a:r>
              <a:rPr lang="en-US" sz="1050" dirty="0">
                <a:solidFill>
                  <a:srgbClr val="5A6E85"/>
                </a:solidFill>
                <a:latin typeface="Calibri" pitchFamily="34" charset="0"/>
                <a:ea typeface="Calibri" pitchFamily="34" charset="-122"/>
                <a:cs typeface="Calibri" pitchFamily="34" charset="-120"/>
              </a:rPr>
              <a:t>PPA calculator returns P10 / P50 / P90 NPV against a strike, with breakeven and cashflow profile.</a:t>
            </a:r>
            <a:endParaRPr lang="en-US" sz="1050" dirty="0"/>
          </a:p>
        </p:txBody>
      </p:sp>
      <p:sp>
        <p:nvSpPr>
          <p:cNvPr id="29" name="Shape 27"/>
          <p:cNvSpPr/>
          <p:nvPr/>
        </p:nvSpPr>
        <p:spPr>
          <a:xfrm>
            <a:off x="566928" y="5632704"/>
            <a:ext cx="365760" cy="365760"/>
          </a:xfrm>
          <a:prstGeom prst="ellipse">
            <a:avLst/>
          </a:prstGeom>
          <a:solidFill>
            <a:srgbClr val="02C39A"/>
          </a:solidFill>
          <a:ln w="12700">
            <a:solidFill>
              <a:srgbClr val="02C39A"/>
            </a:solidFill>
            <a:prstDash val="solid"/>
          </a:ln>
        </p:spPr>
      </p:sp>
      <p:sp>
        <p:nvSpPr>
          <p:cNvPr id="30" name="Text 28"/>
          <p:cNvSpPr/>
          <p:nvPr/>
        </p:nvSpPr>
        <p:spPr>
          <a:xfrm>
            <a:off x="566928" y="56327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1" name="Text 29"/>
          <p:cNvSpPr/>
          <p:nvPr/>
        </p:nvSpPr>
        <p:spPr>
          <a:xfrm>
            <a:off x="1097280" y="5577840"/>
            <a:ext cx="246888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Hand it over</a:t>
            </a:r>
            <a:endParaRPr lang="en-US" sz="1200" dirty="0"/>
          </a:p>
        </p:txBody>
      </p:sp>
      <p:sp>
        <p:nvSpPr>
          <p:cNvPr id="32" name="Text 30"/>
          <p:cNvSpPr/>
          <p:nvPr/>
        </p:nvSpPr>
        <p:spPr>
          <a:xfrm>
            <a:off x="3703320" y="5586984"/>
            <a:ext cx="7863840" cy="548640"/>
          </a:xfrm>
          <a:prstGeom prst="rect">
            <a:avLst/>
          </a:prstGeom>
          <a:noFill/>
          <a:ln/>
        </p:spPr>
        <p:txBody>
          <a:bodyPr wrap="square" lIns="0" tIns="0" rIns="0" bIns="0" rtlCol="0" anchor="t"/>
          <a:lstStyle/>
          <a:p>
            <a:pPr algn="l" indent="0" marL="0">
              <a:lnSpc>
                <a:spcPct val="110000"/>
              </a:lnSpc>
              <a:buNone/>
            </a:pPr>
            <a:r>
              <a:rPr lang="en-US" sz="1050" dirty="0">
                <a:solidFill>
                  <a:srgbClr val="5A6E85"/>
                </a:solidFill>
                <a:latin typeface="Calibri" pitchFamily="34" charset="0"/>
                <a:ea typeface="Calibri" pitchFamily="34" charset="-122"/>
                <a:cs typeface="Calibri" pitchFamily="34" charset="-120"/>
              </a:rPr>
              <a:t>Export the ranked shortlist with all eight dimensions to CSV; save the screening so the assumptions are reproducible.</a:t>
            </a:r>
            <a:endParaRPr lang="en-US" sz="1050" dirty="0"/>
          </a:p>
        </p:txBody>
      </p:sp>
      <p:sp>
        <p:nvSpPr>
          <p:cNvPr id="33" name="Text 31"/>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5A6E85"/>
                </a:solidFill>
                <a:latin typeface="Calibri" pitchFamily="34" charset="0"/>
                <a:ea typeface="Calibri" pitchFamily="34" charset="-122"/>
                <a:cs typeface="Calibri" pitchFamily="34" charset="-120"/>
              </a:rPr>
              <a:t>Every step is reproducible: saved screenings retain the filters, weights and matched candidates.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02C39A"/>
                </a:solidFill>
                <a:latin typeface="Calibri" pitchFamily="34" charset="0"/>
                <a:ea typeface="Calibri" pitchFamily="34" charset="-122"/>
                <a:cs typeface="Calibri" pitchFamily="34" charset="-120"/>
              </a:rPr>
              <a:t>DEPTH WHERE DEALS ARE WON OR LOST</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Congestion Intelligence</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02C39A"/>
                </a:solidFill>
                <a:latin typeface="Calibri" pitchFamily="34" charset="0"/>
                <a:ea typeface="Calibri" pitchFamily="34" charset="-122"/>
                <a:cs typeface="Calibri" pitchFamily="34" charset="-120"/>
              </a:rPr>
              <a:t>1,109 ERCOT settlement nodes, monthly, derived from hourly settlement data</a:t>
            </a:r>
            <a:endParaRPr lang="en-US" sz="1350" dirty="0"/>
          </a:p>
        </p:txBody>
      </p:sp>
      <p:sp>
        <p:nvSpPr>
          <p:cNvPr id="5" name="Shape 3"/>
          <p:cNvSpPr/>
          <p:nvPr/>
        </p:nvSpPr>
        <p:spPr>
          <a:xfrm>
            <a:off x="548640" y="1664208"/>
            <a:ext cx="11064240" cy="603504"/>
          </a:xfrm>
          <a:prstGeom prst="roundRect">
            <a:avLst>
              <a:gd name="adj" fmla="val 12121"/>
            </a:avLst>
          </a:prstGeom>
          <a:solidFill>
            <a:srgbClr val="17263C"/>
          </a:solidFill>
          <a:ln w="12700">
            <a:solidFill>
              <a:srgbClr val="1F3350"/>
            </a:solidFill>
            <a:prstDash val="solid"/>
          </a:ln>
        </p:spPr>
      </p:sp>
      <p:sp>
        <p:nvSpPr>
          <p:cNvPr id="6" name="Shape 4"/>
          <p:cNvSpPr/>
          <p:nvPr/>
        </p:nvSpPr>
        <p:spPr>
          <a:xfrm>
            <a:off x="786384" y="1810512"/>
            <a:ext cx="329184" cy="329184"/>
          </a:xfrm>
          <a:prstGeom prst="ellipse">
            <a:avLst/>
          </a:prstGeom>
          <a:solidFill>
            <a:srgbClr val="02C39A"/>
          </a:solidFill>
          <a:ln w="12700">
            <a:solidFill>
              <a:srgbClr val="02C39A"/>
            </a:solidFill>
            <a:prstDash val="solid"/>
          </a:ln>
        </p:spPr>
      </p:sp>
      <p:sp>
        <p:nvSpPr>
          <p:cNvPr id="7" name="Text 5"/>
          <p:cNvSpPr/>
          <p:nvPr/>
        </p:nvSpPr>
        <p:spPr>
          <a:xfrm>
            <a:off x="786384" y="1810512"/>
            <a:ext cx="329184" cy="32918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261872" y="1828800"/>
            <a:ext cx="2194560" cy="27432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Calibri" pitchFamily="34" charset="0"/>
                <a:ea typeface="Calibri" pitchFamily="34" charset="-122"/>
                <a:cs typeface="Calibri" pitchFamily="34" charset="-120"/>
              </a:rPr>
              <a:t>Overview</a:t>
            </a:r>
            <a:endParaRPr lang="en-US" sz="1200" dirty="0"/>
          </a:p>
        </p:txBody>
      </p:sp>
      <p:sp>
        <p:nvSpPr>
          <p:cNvPr id="9" name="Text 7"/>
          <p:cNvSpPr/>
          <p:nvPr/>
        </p:nvSpPr>
        <p:spPr>
          <a:xfrm>
            <a:off x="3703320" y="1837944"/>
            <a:ext cx="7680960" cy="274320"/>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Node-months classified normal / congested / severe / extreme against configurable thresholds</a:t>
            </a:r>
            <a:endParaRPr lang="en-US" sz="1050" dirty="0"/>
          </a:p>
        </p:txBody>
      </p:sp>
      <p:sp>
        <p:nvSpPr>
          <p:cNvPr id="10" name="Shape 8"/>
          <p:cNvSpPr/>
          <p:nvPr/>
        </p:nvSpPr>
        <p:spPr>
          <a:xfrm>
            <a:off x="548640" y="2377440"/>
            <a:ext cx="11064240" cy="603504"/>
          </a:xfrm>
          <a:prstGeom prst="roundRect">
            <a:avLst>
              <a:gd name="adj" fmla="val 12121"/>
            </a:avLst>
          </a:prstGeom>
          <a:solidFill>
            <a:srgbClr val="17263C"/>
          </a:solidFill>
          <a:ln w="12700">
            <a:solidFill>
              <a:srgbClr val="1F3350"/>
            </a:solidFill>
            <a:prstDash val="solid"/>
          </a:ln>
        </p:spPr>
      </p:sp>
      <p:sp>
        <p:nvSpPr>
          <p:cNvPr id="11" name="Shape 9"/>
          <p:cNvSpPr/>
          <p:nvPr/>
        </p:nvSpPr>
        <p:spPr>
          <a:xfrm>
            <a:off x="786384" y="2523744"/>
            <a:ext cx="329184" cy="329184"/>
          </a:xfrm>
          <a:prstGeom prst="ellipse">
            <a:avLst/>
          </a:prstGeom>
          <a:solidFill>
            <a:srgbClr val="02C39A"/>
          </a:solidFill>
          <a:ln w="12700">
            <a:solidFill>
              <a:srgbClr val="02C39A"/>
            </a:solidFill>
            <a:prstDash val="solid"/>
          </a:ln>
        </p:spPr>
      </p:sp>
      <p:sp>
        <p:nvSpPr>
          <p:cNvPr id="12" name="Text 10"/>
          <p:cNvSpPr/>
          <p:nvPr/>
        </p:nvSpPr>
        <p:spPr>
          <a:xfrm>
            <a:off x="786384" y="2523744"/>
            <a:ext cx="329184" cy="32918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261872" y="2542032"/>
            <a:ext cx="2194560" cy="27432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Calibri" pitchFamily="34" charset="0"/>
                <a:ea typeface="Calibri" pitchFamily="34" charset="-122"/>
                <a:cs typeface="Calibri" pitchFamily="34" charset="-120"/>
              </a:rPr>
              <a:t>Heat map</a:t>
            </a:r>
            <a:endParaRPr lang="en-US" sz="1200" dirty="0"/>
          </a:p>
        </p:txBody>
      </p:sp>
      <p:sp>
        <p:nvSpPr>
          <p:cNvPr id="14" name="Text 12"/>
          <p:cNvSpPr/>
          <p:nvPr/>
        </p:nvSpPr>
        <p:spPr>
          <a:xfrm>
            <a:off x="3703320" y="2551176"/>
            <a:ext cx="7680960" cy="274320"/>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Node × month grid — spot structural congestion versus a one-off event at a glance</a:t>
            </a:r>
            <a:endParaRPr lang="en-US" sz="1050" dirty="0"/>
          </a:p>
        </p:txBody>
      </p:sp>
      <p:sp>
        <p:nvSpPr>
          <p:cNvPr id="15" name="Shape 13"/>
          <p:cNvSpPr/>
          <p:nvPr/>
        </p:nvSpPr>
        <p:spPr>
          <a:xfrm>
            <a:off x="548640" y="3090672"/>
            <a:ext cx="11064240" cy="603504"/>
          </a:xfrm>
          <a:prstGeom prst="roundRect">
            <a:avLst>
              <a:gd name="adj" fmla="val 12121"/>
            </a:avLst>
          </a:prstGeom>
          <a:solidFill>
            <a:srgbClr val="17263C"/>
          </a:solidFill>
          <a:ln w="12700">
            <a:solidFill>
              <a:srgbClr val="1F3350"/>
            </a:solidFill>
            <a:prstDash val="solid"/>
          </a:ln>
        </p:spPr>
      </p:sp>
      <p:sp>
        <p:nvSpPr>
          <p:cNvPr id="16" name="Shape 14"/>
          <p:cNvSpPr/>
          <p:nvPr/>
        </p:nvSpPr>
        <p:spPr>
          <a:xfrm>
            <a:off x="786384" y="3236976"/>
            <a:ext cx="329184" cy="329184"/>
          </a:xfrm>
          <a:prstGeom prst="ellipse">
            <a:avLst/>
          </a:prstGeom>
          <a:solidFill>
            <a:srgbClr val="02C39A"/>
          </a:solidFill>
          <a:ln w="12700">
            <a:solidFill>
              <a:srgbClr val="02C39A"/>
            </a:solidFill>
            <a:prstDash val="solid"/>
          </a:ln>
        </p:spPr>
      </p:sp>
      <p:sp>
        <p:nvSpPr>
          <p:cNvPr id="17" name="Text 15"/>
          <p:cNvSpPr/>
          <p:nvPr/>
        </p:nvSpPr>
        <p:spPr>
          <a:xfrm>
            <a:off x="786384" y="3236976"/>
            <a:ext cx="329184" cy="32918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1261872" y="3255264"/>
            <a:ext cx="2194560" cy="27432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Calibri" pitchFamily="34" charset="0"/>
                <a:ea typeface="Calibri" pitchFamily="34" charset="-122"/>
                <a:cs typeface="Calibri" pitchFamily="34" charset="-120"/>
              </a:rPr>
              <a:t>Node detail</a:t>
            </a:r>
            <a:endParaRPr lang="en-US" sz="1200" dirty="0"/>
          </a:p>
        </p:txBody>
      </p:sp>
      <p:sp>
        <p:nvSpPr>
          <p:cNvPr id="19" name="Text 17"/>
          <p:cNvSpPr/>
          <p:nvPr/>
        </p:nvSpPr>
        <p:spPr>
          <a:xfrm>
            <a:off x="3703320" y="3264408"/>
            <a:ext cx="7680960" cy="274320"/>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Single-node DA, RT and basis series with on-peak and off-peak split</a:t>
            </a:r>
            <a:endParaRPr lang="en-US" sz="1050" dirty="0"/>
          </a:p>
        </p:txBody>
      </p:sp>
      <p:sp>
        <p:nvSpPr>
          <p:cNvPr id="20" name="Shape 18"/>
          <p:cNvSpPr/>
          <p:nvPr/>
        </p:nvSpPr>
        <p:spPr>
          <a:xfrm>
            <a:off x="548640" y="3803904"/>
            <a:ext cx="11064240" cy="603504"/>
          </a:xfrm>
          <a:prstGeom prst="roundRect">
            <a:avLst>
              <a:gd name="adj" fmla="val 12121"/>
            </a:avLst>
          </a:prstGeom>
          <a:solidFill>
            <a:srgbClr val="17263C"/>
          </a:solidFill>
          <a:ln w="12700">
            <a:solidFill>
              <a:srgbClr val="1F3350"/>
            </a:solidFill>
            <a:prstDash val="solid"/>
          </a:ln>
        </p:spPr>
      </p:sp>
      <p:sp>
        <p:nvSpPr>
          <p:cNvPr id="21" name="Shape 19"/>
          <p:cNvSpPr/>
          <p:nvPr/>
        </p:nvSpPr>
        <p:spPr>
          <a:xfrm>
            <a:off x="786384" y="3950208"/>
            <a:ext cx="329184" cy="329184"/>
          </a:xfrm>
          <a:prstGeom prst="ellipse">
            <a:avLst/>
          </a:prstGeom>
          <a:solidFill>
            <a:srgbClr val="02C39A"/>
          </a:solidFill>
          <a:ln w="12700">
            <a:solidFill>
              <a:srgbClr val="02C39A"/>
            </a:solidFill>
            <a:prstDash val="solid"/>
          </a:ln>
        </p:spPr>
      </p:sp>
      <p:sp>
        <p:nvSpPr>
          <p:cNvPr id="22" name="Text 20"/>
          <p:cNvSpPr/>
          <p:nvPr/>
        </p:nvSpPr>
        <p:spPr>
          <a:xfrm>
            <a:off x="786384" y="3950208"/>
            <a:ext cx="329184" cy="32918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1261872" y="3968496"/>
            <a:ext cx="2194560" cy="27432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Calibri" pitchFamily="34" charset="0"/>
                <a:ea typeface="Calibri" pitchFamily="34" charset="-122"/>
                <a:cs typeface="Calibri" pitchFamily="34" charset="-120"/>
              </a:rPr>
              <a:t>Basis analyzer</a:t>
            </a:r>
            <a:endParaRPr lang="en-US" sz="1200" dirty="0"/>
          </a:p>
        </p:txBody>
      </p:sp>
      <p:sp>
        <p:nvSpPr>
          <p:cNvPr id="24" name="Text 22"/>
          <p:cNvSpPr/>
          <p:nvPr/>
        </p:nvSpPr>
        <p:spPr>
          <a:xfrm>
            <a:off x="3703320" y="3977640"/>
            <a:ext cx="7680960" cy="274320"/>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Multi-node comparison against HB_BUSAVG to expose systematically discounted nodes</a:t>
            </a:r>
            <a:endParaRPr lang="en-US" sz="1050" dirty="0"/>
          </a:p>
        </p:txBody>
      </p:sp>
      <p:sp>
        <p:nvSpPr>
          <p:cNvPr id="25" name="Shape 23"/>
          <p:cNvSpPr/>
          <p:nvPr/>
        </p:nvSpPr>
        <p:spPr>
          <a:xfrm>
            <a:off x="548640" y="4517136"/>
            <a:ext cx="11064240" cy="603504"/>
          </a:xfrm>
          <a:prstGeom prst="roundRect">
            <a:avLst>
              <a:gd name="adj" fmla="val 12121"/>
            </a:avLst>
          </a:prstGeom>
          <a:solidFill>
            <a:srgbClr val="17263C"/>
          </a:solidFill>
          <a:ln w="12700">
            <a:solidFill>
              <a:srgbClr val="1F3350"/>
            </a:solidFill>
            <a:prstDash val="solid"/>
          </a:ln>
        </p:spPr>
      </p:sp>
      <p:sp>
        <p:nvSpPr>
          <p:cNvPr id="26" name="Shape 24"/>
          <p:cNvSpPr/>
          <p:nvPr/>
        </p:nvSpPr>
        <p:spPr>
          <a:xfrm>
            <a:off x="786384" y="4663440"/>
            <a:ext cx="329184" cy="329184"/>
          </a:xfrm>
          <a:prstGeom prst="ellipse">
            <a:avLst/>
          </a:prstGeom>
          <a:solidFill>
            <a:srgbClr val="02C39A"/>
          </a:solidFill>
          <a:ln w="12700">
            <a:solidFill>
              <a:srgbClr val="02C39A"/>
            </a:solidFill>
            <a:prstDash val="solid"/>
          </a:ln>
        </p:spPr>
      </p:sp>
      <p:sp>
        <p:nvSpPr>
          <p:cNvPr id="27" name="Text 25"/>
          <p:cNvSpPr/>
          <p:nvPr/>
        </p:nvSpPr>
        <p:spPr>
          <a:xfrm>
            <a:off x="786384" y="4663440"/>
            <a:ext cx="329184" cy="32918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1261872" y="4681728"/>
            <a:ext cx="2194560" cy="27432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Calibri" pitchFamily="34" charset="0"/>
                <a:ea typeface="Calibri" pitchFamily="34" charset="-122"/>
                <a:cs typeface="Calibri" pitchFamily="34" charset="-120"/>
              </a:rPr>
              <a:t>Backtest</a:t>
            </a:r>
            <a:endParaRPr lang="en-US" sz="1200" dirty="0"/>
          </a:p>
        </p:txBody>
      </p:sp>
      <p:sp>
        <p:nvSpPr>
          <p:cNvPr id="29" name="Text 27"/>
          <p:cNvSpPr/>
          <p:nvPr/>
        </p:nvSpPr>
        <p:spPr>
          <a:xfrm>
            <a:off x="3703320" y="4690872"/>
            <a:ext cx="7680960" cy="274320"/>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Merchant revenue simulation at a node versus hub average — quantifies the basis drag in dollars</a:t>
            </a:r>
            <a:endParaRPr lang="en-US" sz="1050" dirty="0"/>
          </a:p>
        </p:txBody>
      </p:sp>
      <p:sp>
        <p:nvSpPr>
          <p:cNvPr id="30" name="Shape 28"/>
          <p:cNvSpPr/>
          <p:nvPr/>
        </p:nvSpPr>
        <p:spPr>
          <a:xfrm>
            <a:off x="548640" y="5230368"/>
            <a:ext cx="11064240" cy="603504"/>
          </a:xfrm>
          <a:prstGeom prst="roundRect">
            <a:avLst>
              <a:gd name="adj" fmla="val 12121"/>
            </a:avLst>
          </a:prstGeom>
          <a:solidFill>
            <a:srgbClr val="17263C"/>
          </a:solidFill>
          <a:ln w="12700">
            <a:solidFill>
              <a:srgbClr val="1F3350"/>
            </a:solidFill>
            <a:prstDash val="solid"/>
          </a:ln>
        </p:spPr>
      </p:sp>
      <p:sp>
        <p:nvSpPr>
          <p:cNvPr id="31" name="Shape 29"/>
          <p:cNvSpPr/>
          <p:nvPr/>
        </p:nvSpPr>
        <p:spPr>
          <a:xfrm>
            <a:off x="786384" y="5376672"/>
            <a:ext cx="329184" cy="329184"/>
          </a:xfrm>
          <a:prstGeom prst="ellipse">
            <a:avLst/>
          </a:prstGeom>
          <a:solidFill>
            <a:srgbClr val="02C39A"/>
          </a:solidFill>
          <a:ln w="12700">
            <a:solidFill>
              <a:srgbClr val="02C39A"/>
            </a:solidFill>
            <a:prstDash val="solid"/>
          </a:ln>
        </p:spPr>
      </p:sp>
      <p:sp>
        <p:nvSpPr>
          <p:cNvPr id="32" name="Text 30"/>
          <p:cNvSpPr/>
          <p:nvPr/>
        </p:nvSpPr>
        <p:spPr>
          <a:xfrm>
            <a:off x="786384" y="5376672"/>
            <a:ext cx="329184" cy="32918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1261872" y="5394960"/>
            <a:ext cx="2194560" cy="274320"/>
          </a:xfrm>
          <a:prstGeom prst="rect">
            <a:avLst/>
          </a:prstGeom>
          <a:noFill/>
          <a:ln/>
        </p:spPr>
        <p:txBody>
          <a:bodyPr wrap="square" lIns="0" tIns="0" rIns="0" bIns="0" rtlCol="0" anchor="t"/>
          <a:lstStyle/>
          <a:p>
            <a:pPr algn="l" indent="0" marL="0">
              <a:lnSpc>
                <a:spcPct val="112000"/>
              </a:lnSpc>
              <a:buNone/>
            </a:pPr>
            <a:r>
              <a:rPr lang="en-US" sz="1200" b="1" dirty="0">
                <a:solidFill>
                  <a:srgbClr val="FFFFFF"/>
                </a:solidFill>
                <a:latin typeface="Calibri" pitchFamily="34" charset="0"/>
                <a:ea typeface="Calibri" pitchFamily="34" charset="-122"/>
                <a:cs typeface="Calibri" pitchFamily="34" charset="-120"/>
              </a:rPr>
              <a:t>Data quality</a:t>
            </a:r>
            <a:endParaRPr lang="en-US" sz="1200" dirty="0"/>
          </a:p>
        </p:txBody>
      </p:sp>
      <p:sp>
        <p:nvSpPr>
          <p:cNvPr id="34" name="Text 32"/>
          <p:cNvSpPr/>
          <p:nvPr/>
        </p:nvSpPr>
        <p:spPr>
          <a:xfrm>
            <a:off x="3703320" y="5404104"/>
            <a:ext cx="7680960" cy="274320"/>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Coverage audit flagging any month with incomplete node coverage</a:t>
            </a:r>
            <a:endParaRPr lang="en-US" sz="1050" dirty="0"/>
          </a:p>
        </p:txBody>
      </p:sp>
      <p:sp>
        <p:nvSpPr>
          <p:cNvPr id="35" name="Shape 33"/>
          <p:cNvSpPr/>
          <p:nvPr/>
        </p:nvSpPr>
        <p:spPr>
          <a:xfrm>
            <a:off x="548640" y="5943600"/>
            <a:ext cx="11064240" cy="566928"/>
          </a:xfrm>
          <a:prstGeom prst="roundRect">
            <a:avLst>
              <a:gd name="adj" fmla="val 12903"/>
            </a:avLst>
          </a:prstGeom>
          <a:solidFill>
            <a:srgbClr val="1F3350"/>
          </a:solidFill>
          <a:ln w="12700">
            <a:solidFill>
              <a:srgbClr val="1F3350"/>
            </a:solidFill>
            <a:prstDash val="solid"/>
          </a:ln>
        </p:spPr>
      </p:sp>
      <p:sp>
        <p:nvSpPr>
          <p:cNvPr id="36" name="Text 34"/>
          <p:cNvSpPr/>
          <p:nvPr/>
        </p:nvSpPr>
        <p:spPr>
          <a:xfrm>
            <a:off x="822960" y="6053328"/>
            <a:ext cx="10515600" cy="365760"/>
          </a:xfrm>
          <a:prstGeom prst="rect">
            <a:avLst/>
          </a:prstGeom>
          <a:noFill/>
          <a:ln/>
        </p:spPr>
        <p:txBody>
          <a:bodyPr wrap="square" lIns="0" tIns="0" rIns="0" bIns="0" rtlCol="0" anchor="t"/>
          <a:lstStyle/>
          <a:p>
            <a:pPr algn="l" indent="0" marL="0">
              <a:lnSpc>
                <a:spcPct val="112000"/>
              </a:lnSpc>
              <a:buNone/>
            </a:pPr>
            <a:r>
              <a:rPr lang="en-US" sz="1100" i="1" dirty="0">
                <a:solidFill>
                  <a:srgbClr val="02C39A"/>
                </a:solidFill>
                <a:latin typeface="Calibri" pitchFamily="34" charset="0"/>
                <a:ea typeface="Calibri" pitchFamily="34" charset="-122"/>
                <a:cs typeface="Calibri" pitchFamily="34" charset="-120"/>
              </a:rPr>
              <a:t>Thresholds are client-configurable: congestion at $3/MWh basis, severe at $15, extreme at $35 — tuned to their risk appetite, not ours.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THE MONEY QUESTION</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Capture rate: what the asset actually earns</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Generation-weighted zone price divided by system average — measured, June 2025</a:t>
            </a:r>
            <a:endParaRPr lang="en-US" sz="1350" dirty="0"/>
          </a:p>
        </p:txBody>
      </p:sp>
      <p:graphicFrame>
        <p:nvGraphicFramePr>
          <p:cNvPr id="5" name="Chart 0" descr=""/>
          <p:cNvGraphicFramePr/>
          <p:nvPr/>
        </p:nvGraphicFramePr>
        <p:xfrm>
          <a:off x="548640" y="1627632"/>
          <a:ext cx="6858000" cy="4160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35240" y="1627632"/>
            <a:ext cx="3977640" cy="4160520"/>
          </a:xfrm>
          <a:prstGeom prst="roundRect">
            <a:avLst>
              <a:gd name="adj" fmla="val 1839"/>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7" name="Text 4"/>
          <p:cNvSpPr/>
          <p:nvPr/>
        </p:nvSpPr>
        <p:spPr>
          <a:xfrm>
            <a:off x="7909560" y="1810512"/>
            <a:ext cx="3383280" cy="292608"/>
          </a:xfrm>
          <a:prstGeom prst="rect">
            <a:avLst/>
          </a:prstGeom>
          <a:noFill/>
          <a:ln/>
        </p:spPr>
        <p:txBody>
          <a:bodyPr wrap="square" lIns="0" tIns="0" rIns="0" bIns="0" rtlCol="0" anchor="ctr"/>
          <a:lstStyle/>
          <a:p>
            <a:pPr algn="l" indent="0" marL="0">
              <a:buNone/>
            </a:pPr>
            <a:r>
              <a:rPr lang="en-US" sz="1400" b="1" dirty="0">
                <a:solidFill>
                  <a:srgbClr val="0E1A2B"/>
                </a:solidFill>
                <a:latin typeface="Calibri" pitchFamily="34" charset="0"/>
                <a:ea typeface="Calibri" pitchFamily="34" charset="-122"/>
                <a:cs typeface="Calibri" pitchFamily="34" charset="-120"/>
              </a:rPr>
              <a:t>Why this matters</a:t>
            </a:r>
            <a:endParaRPr lang="en-US" sz="1400" dirty="0"/>
          </a:p>
        </p:txBody>
      </p:sp>
      <p:sp>
        <p:nvSpPr>
          <p:cNvPr id="8" name="Text 5"/>
          <p:cNvSpPr/>
          <p:nvPr/>
        </p:nvSpPr>
        <p:spPr>
          <a:xfrm>
            <a:off x="7909560" y="2176272"/>
            <a:ext cx="3429000" cy="3383280"/>
          </a:xfrm>
          <a:prstGeom prst="rect">
            <a:avLst/>
          </a:prstGeom>
          <a:noFill/>
          <a:ln/>
        </p:spPr>
        <p:txBody>
          <a:bodyPr wrap="square" lIns="0" tIns="0" rIns="0" bIns="0" rtlCol="0" anchor="t"/>
          <a:lstStyle/>
          <a:p>
            <a:pPr algn="l" indent="0" marL="0">
              <a:lnSpc>
                <a:spcPct val="122000"/>
              </a:lnSpc>
              <a:buNone/>
            </a:pPr>
            <a:r>
              <a:rPr lang="en-US" sz="1050" dirty="0">
                <a:solidFill>
                  <a:srgbClr val="5A6E85"/>
                </a:solidFill>
                <a:latin typeface="Calibri" pitchFamily="34" charset="0"/>
                <a:ea typeface="Calibri" pitchFamily="34" charset="-122"/>
                <a:cs typeface="Calibri" pitchFamily="34" charset="-120"/>
              </a:rPr>
              <a:t>A capture rate above 1.0 means the asset's zone runs at a premium to the system when that asset is generating.</a:t>
            </a:r>
            <a:endParaRPr lang="en-US" sz="1050" dirty="0"/>
          </a:p>
          <a:p>
            <a:pPr algn="l" indent="0" marL="0">
              <a:lnSpc>
                <a:spcPct val="122000"/>
              </a:lnSpc>
              <a:buNone/>
            </a:pPr>
            <a:endParaRPr lang="en-US" sz="1050" dirty="0"/>
          </a:p>
          <a:p>
            <a:pPr algn="l" indent="0" marL="0">
              <a:lnSpc>
                <a:spcPct val="122000"/>
              </a:lnSpc>
              <a:buNone/>
            </a:pPr>
            <a:r>
              <a:rPr lang="en-US" sz="1050" dirty="0">
                <a:solidFill>
                  <a:srgbClr val="5A6E85"/>
                </a:solidFill>
                <a:latin typeface="Calibri" pitchFamily="34" charset="0"/>
                <a:ea typeface="Calibri" pitchFamily="34" charset="-122"/>
                <a:cs typeface="Calibri" pitchFamily="34" charset="-120"/>
              </a:rPr>
              <a:t>Below 1.0 is geographic basis risk — the project earns less than the hub price a PPA was struck against, permanently.</a:t>
            </a:r>
            <a:endParaRPr lang="en-US" sz="1050" dirty="0"/>
          </a:p>
          <a:p>
            <a:pPr algn="l" indent="0" marL="0">
              <a:lnSpc>
                <a:spcPct val="122000"/>
              </a:lnSpc>
              <a:buNone/>
            </a:pPr>
            <a:endParaRPr lang="en-US" sz="1050" dirty="0"/>
          </a:p>
          <a:p>
            <a:pPr algn="l" indent="0" marL="0">
              <a:lnSpc>
                <a:spcPct val="122000"/>
              </a:lnSpc>
              <a:buNone/>
            </a:pPr>
            <a:r>
              <a:rPr lang="en-US" sz="1050" dirty="0">
                <a:solidFill>
                  <a:srgbClr val="5A6E85"/>
                </a:solidFill>
                <a:latin typeface="Calibri" pitchFamily="34" charset="0"/>
                <a:ea typeface="Calibri" pitchFamily="34" charset="-122"/>
                <a:cs typeface="Calibri" pitchFamily="34" charset="-120"/>
              </a:rPr>
              <a:t>This is computed from real generation-weighted settlement prices, hour by hour, across 1,676 dispatched resources. Not a technology-average assumption.</a:t>
            </a:r>
            <a:endParaRPr lang="en-US" sz="1050" dirty="0"/>
          </a:p>
          <a:p>
            <a:pPr algn="l" indent="0" marL="0">
              <a:lnSpc>
                <a:spcPct val="122000"/>
              </a:lnSpc>
              <a:buNone/>
            </a:pPr>
            <a:endParaRPr lang="en-US" sz="1050" dirty="0"/>
          </a:p>
          <a:p>
            <a:pPr algn="l" indent="0" marL="0">
              <a:lnSpc>
                <a:spcPct val="122000"/>
              </a:lnSpc>
              <a:buNone/>
            </a:pPr>
            <a:r>
              <a:rPr lang="en-US" sz="1050" dirty="0">
                <a:solidFill>
                  <a:srgbClr val="5A6E85"/>
                </a:solidFill>
                <a:latin typeface="Calibri" pitchFamily="34" charset="0"/>
                <a:ea typeface="Calibri" pitchFamily="34" charset="-122"/>
                <a:cs typeface="Calibri" pitchFamily="34" charset="-120"/>
              </a:rPr>
              <a:t>It is the number that decides whether a PPA strike price is actually economic.</a:t>
            </a:r>
            <a:endParaRPr lang="en-US" sz="1050" dirty="0"/>
          </a:p>
        </p:txBody>
      </p:sp>
      <p:sp>
        <p:nvSpPr>
          <p:cNvPr id="9" name="Text 6"/>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5A6E85"/>
                </a:solidFill>
                <a:latin typeface="Calibri" pitchFamily="34" charset="0"/>
                <a:ea typeface="Calibri" pitchFamily="34" charset="-122"/>
                <a:cs typeface="Calibri" pitchFamily="34" charset="-120"/>
              </a:rPr>
              <a:t>Generation-weighted from ERCOT SCED dispatch × hourly nodal settlement prices. June 2025 shown; full series Jan 2025 onward.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02C39A"/>
                </a:solidFill>
                <a:latin typeface="Calibri" pitchFamily="34" charset="0"/>
                <a:ea typeface="Calibri" pitchFamily="34" charset="-122"/>
                <a:cs typeface="Calibri" pitchFamily="34" charset="-120"/>
              </a:rPr>
              <a:t>FORWARD-LOOKING ANALYSIS</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Six power-flow simulators</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02C39A"/>
                </a:solidFill>
                <a:latin typeface="Calibri" pitchFamily="34" charset="0"/>
                <a:ea typeface="Calibri" pitchFamily="34" charset="-122"/>
                <a:cs typeface="Calibri" pitchFamily="34" charset="-120"/>
              </a:rPr>
              <a:t>Historic data answers what happened; the solver answers what if</a:t>
            </a:r>
            <a:endParaRPr lang="en-US" sz="1350" dirty="0"/>
          </a:p>
        </p:txBody>
      </p:sp>
      <p:sp>
        <p:nvSpPr>
          <p:cNvPr id="5" name="Shape 3"/>
          <p:cNvSpPr/>
          <p:nvPr/>
        </p:nvSpPr>
        <p:spPr>
          <a:xfrm>
            <a:off x="548640" y="1664208"/>
            <a:ext cx="11064240" cy="612648"/>
          </a:xfrm>
          <a:prstGeom prst="roundRect">
            <a:avLst>
              <a:gd name="adj" fmla="val 11940"/>
            </a:avLst>
          </a:prstGeom>
          <a:solidFill>
            <a:srgbClr val="17263C"/>
          </a:solidFill>
          <a:ln w="12700">
            <a:solidFill>
              <a:srgbClr val="1F3350"/>
            </a:solidFill>
            <a:prstDash val="solid"/>
          </a:ln>
        </p:spPr>
      </p:sp>
      <p:sp>
        <p:nvSpPr>
          <p:cNvPr id="6" name="Text 4"/>
          <p:cNvSpPr/>
          <p:nvPr/>
        </p:nvSpPr>
        <p:spPr>
          <a:xfrm>
            <a:off x="822960" y="1847088"/>
            <a:ext cx="23774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Network OPF</a:t>
            </a:r>
            <a:endParaRPr lang="en-US" sz="1250" dirty="0"/>
          </a:p>
        </p:txBody>
      </p:sp>
      <p:sp>
        <p:nvSpPr>
          <p:cNvPr id="7" name="Text 5"/>
          <p:cNvSpPr/>
          <p:nvPr/>
        </p:nvSpPr>
        <p:spPr>
          <a:xfrm>
            <a:off x="3291840" y="1856232"/>
            <a:ext cx="6400800" cy="292608"/>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340-bus DC optimal power flow — nodal LMPs, line loading, dispatch by carrier</a:t>
            </a:r>
            <a:endParaRPr lang="en-US" sz="1050" dirty="0"/>
          </a:p>
        </p:txBody>
      </p:sp>
      <p:sp>
        <p:nvSpPr>
          <p:cNvPr id="8" name="Shape 6"/>
          <p:cNvSpPr/>
          <p:nvPr/>
        </p:nvSpPr>
        <p:spPr>
          <a:xfrm>
            <a:off x="9966960" y="1819656"/>
            <a:ext cx="1371600" cy="292608"/>
          </a:xfrm>
          <a:prstGeom prst="roundRect">
            <a:avLst>
              <a:gd name="adj" fmla="val 15625"/>
            </a:avLst>
          </a:prstGeom>
          <a:solidFill>
            <a:srgbClr val="02C39A"/>
          </a:solidFill>
          <a:ln w="12700">
            <a:solidFill>
              <a:srgbClr val="02C39A"/>
            </a:solidFill>
            <a:prstDash val="solid"/>
          </a:ln>
        </p:spPr>
      </p:sp>
      <p:sp>
        <p:nvSpPr>
          <p:cNvPr id="9" name="Text 7"/>
          <p:cNvSpPr/>
          <p:nvPr/>
        </p:nvSpPr>
        <p:spPr>
          <a:xfrm>
            <a:off x="9966960" y="1819656"/>
            <a:ext cx="1371600" cy="292608"/>
          </a:xfrm>
          <a:prstGeom prst="rect">
            <a:avLst/>
          </a:prstGeom>
          <a:noFill/>
          <a:ln/>
        </p:spPr>
        <p:txBody>
          <a:bodyPr wrap="square" lIns="0" tIns="0" rIns="0" bIns="0" rtlCol="0" anchor="ctr"/>
          <a:lstStyle/>
          <a:p>
            <a:pPr algn="ctr" indent="0" marL="0">
              <a:buNone/>
            </a:pPr>
            <a:r>
              <a:rPr lang="en-US" sz="900" b="1" dirty="0">
                <a:solidFill>
                  <a:srgbClr val="0E1A2B"/>
                </a:solidFill>
                <a:latin typeface="Calibri" pitchFamily="34" charset="0"/>
                <a:ea typeface="Calibri" pitchFamily="34" charset="-122"/>
                <a:cs typeface="Calibri" pitchFamily="34" charset="-120"/>
              </a:rPr>
              <a:t>Tier 2</a:t>
            </a:r>
            <a:endParaRPr lang="en-US" sz="900" dirty="0"/>
          </a:p>
        </p:txBody>
      </p:sp>
      <p:sp>
        <p:nvSpPr>
          <p:cNvPr id="10" name="Shape 8"/>
          <p:cNvSpPr/>
          <p:nvPr/>
        </p:nvSpPr>
        <p:spPr>
          <a:xfrm>
            <a:off x="548640" y="2386584"/>
            <a:ext cx="11064240" cy="612648"/>
          </a:xfrm>
          <a:prstGeom prst="roundRect">
            <a:avLst>
              <a:gd name="adj" fmla="val 11940"/>
            </a:avLst>
          </a:prstGeom>
          <a:solidFill>
            <a:srgbClr val="17263C"/>
          </a:solidFill>
          <a:ln w="12700">
            <a:solidFill>
              <a:srgbClr val="1F3350"/>
            </a:solidFill>
            <a:prstDash val="solid"/>
          </a:ln>
        </p:spPr>
      </p:sp>
      <p:sp>
        <p:nvSpPr>
          <p:cNvPr id="11" name="Text 9"/>
          <p:cNvSpPr/>
          <p:nvPr/>
        </p:nvSpPr>
        <p:spPr>
          <a:xfrm>
            <a:off x="822960" y="2569464"/>
            <a:ext cx="23774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Curtailment</a:t>
            </a:r>
            <a:endParaRPr lang="en-US" sz="1250" dirty="0"/>
          </a:p>
        </p:txBody>
      </p:sp>
      <p:sp>
        <p:nvSpPr>
          <p:cNvPr id="12" name="Text 10"/>
          <p:cNvSpPr/>
          <p:nvPr/>
        </p:nvSpPr>
        <p:spPr>
          <a:xfrm>
            <a:off x="3291840" y="2578608"/>
            <a:ext cx="6400800" cy="292608"/>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Vary wind and solar output; find which nodes bind and where negative prices appear</a:t>
            </a:r>
            <a:endParaRPr lang="en-US" sz="1050" dirty="0"/>
          </a:p>
        </p:txBody>
      </p:sp>
      <p:sp>
        <p:nvSpPr>
          <p:cNvPr id="13" name="Shape 11"/>
          <p:cNvSpPr/>
          <p:nvPr/>
        </p:nvSpPr>
        <p:spPr>
          <a:xfrm>
            <a:off x="9966960" y="2542032"/>
            <a:ext cx="1371600" cy="292608"/>
          </a:xfrm>
          <a:prstGeom prst="roundRect">
            <a:avLst>
              <a:gd name="adj" fmla="val 15625"/>
            </a:avLst>
          </a:prstGeom>
          <a:solidFill>
            <a:srgbClr val="02C39A"/>
          </a:solidFill>
          <a:ln w="12700">
            <a:solidFill>
              <a:srgbClr val="02C39A"/>
            </a:solidFill>
            <a:prstDash val="solid"/>
          </a:ln>
        </p:spPr>
      </p:sp>
      <p:sp>
        <p:nvSpPr>
          <p:cNvPr id="14" name="Text 12"/>
          <p:cNvSpPr/>
          <p:nvPr/>
        </p:nvSpPr>
        <p:spPr>
          <a:xfrm>
            <a:off x="9966960" y="2542032"/>
            <a:ext cx="1371600" cy="292608"/>
          </a:xfrm>
          <a:prstGeom prst="rect">
            <a:avLst/>
          </a:prstGeom>
          <a:noFill/>
          <a:ln/>
        </p:spPr>
        <p:txBody>
          <a:bodyPr wrap="square" lIns="0" tIns="0" rIns="0" bIns="0" rtlCol="0" anchor="ctr"/>
          <a:lstStyle/>
          <a:p>
            <a:pPr algn="ctr" indent="0" marL="0">
              <a:buNone/>
            </a:pPr>
            <a:r>
              <a:rPr lang="en-US" sz="900" b="1" dirty="0">
                <a:solidFill>
                  <a:srgbClr val="0E1A2B"/>
                </a:solidFill>
                <a:latin typeface="Calibri" pitchFamily="34" charset="0"/>
                <a:ea typeface="Calibri" pitchFamily="34" charset="-122"/>
                <a:cs typeface="Calibri" pitchFamily="34" charset="-120"/>
              </a:rPr>
              <a:t>Tier 2</a:t>
            </a:r>
            <a:endParaRPr lang="en-US" sz="900" dirty="0"/>
          </a:p>
        </p:txBody>
      </p:sp>
      <p:sp>
        <p:nvSpPr>
          <p:cNvPr id="15" name="Shape 13"/>
          <p:cNvSpPr/>
          <p:nvPr/>
        </p:nvSpPr>
        <p:spPr>
          <a:xfrm>
            <a:off x="548640" y="3108960"/>
            <a:ext cx="11064240" cy="612648"/>
          </a:xfrm>
          <a:prstGeom prst="roundRect">
            <a:avLst>
              <a:gd name="adj" fmla="val 11940"/>
            </a:avLst>
          </a:prstGeom>
          <a:solidFill>
            <a:srgbClr val="17263C"/>
          </a:solidFill>
          <a:ln w="12700">
            <a:solidFill>
              <a:srgbClr val="1F3350"/>
            </a:solidFill>
            <a:prstDash val="solid"/>
          </a:ln>
        </p:spPr>
      </p:sp>
      <p:sp>
        <p:nvSpPr>
          <p:cNvPr id="16" name="Text 14"/>
          <p:cNvSpPr/>
          <p:nvPr/>
        </p:nvSpPr>
        <p:spPr>
          <a:xfrm>
            <a:off x="822960" y="3291840"/>
            <a:ext cx="23774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Scarcity</a:t>
            </a:r>
            <a:endParaRPr lang="en-US" sz="1250" dirty="0"/>
          </a:p>
        </p:txBody>
      </p:sp>
      <p:sp>
        <p:nvSpPr>
          <p:cNvPr id="17" name="Text 15"/>
          <p:cNvSpPr/>
          <p:nvPr/>
        </p:nvSpPr>
        <p:spPr>
          <a:xfrm>
            <a:off x="3291840" y="3300984"/>
            <a:ext cx="6400800" cy="292608"/>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Thermal derates and peak load to 85 GW — reserve margin, load shed, price spikes</a:t>
            </a:r>
            <a:endParaRPr lang="en-US" sz="1050" dirty="0"/>
          </a:p>
        </p:txBody>
      </p:sp>
      <p:sp>
        <p:nvSpPr>
          <p:cNvPr id="18" name="Shape 16"/>
          <p:cNvSpPr/>
          <p:nvPr/>
        </p:nvSpPr>
        <p:spPr>
          <a:xfrm>
            <a:off x="9966960" y="3264408"/>
            <a:ext cx="1371600" cy="292608"/>
          </a:xfrm>
          <a:prstGeom prst="roundRect">
            <a:avLst>
              <a:gd name="adj" fmla="val 15625"/>
            </a:avLst>
          </a:prstGeom>
          <a:solidFill>
            <a:srgbClr val="02C39A"/>
          </a:solidFill>
          <a:ln w="12700">
            <a:solidFill>
              <a:srgbClr val="02C39A"/>
            </a:solidFill>
            <a:prstDash val="solid"/>
          </a:ln>
        </p:spPr>
      </p:sp>
      <p:sp>
        <p:nvSpPr>
          <p:cNvPr id="19" name="Text 17"/>
          <p:cNvSpPr/>
          <p:nvPr/>
        </p:nvSpPr>
        <p:spPr>
          <a:xfrm>
            <a:off x="9966960" y="3264408"/>
            <a:ext cx="1371600" cy="292608"/>
          </a:xfrm>
          <a:prstGeom prst="rect">
            <a:avLst/>
          </a:prstGeom>
          <a:noFill/>
          <a:ln/>
        </p:spPr>
        <p:txBody>
          <a:bodyPr wrap="square" lIns="0" tIns="0" rIns="0" bIns="0" rtlCol="0" anchor="ctr"/>
          <a:lstStyle/>
          <a:p>
            <a:pPr algn="ctr" indent="0" marL="0">
              <a:buNone/>
            </a:pPr>
            <a:r>
              <a:rPr lang="en-US" sz="900" b="1" dirty="0">
                <a:solidFill>
                  <a:srgbClr val="0E1A2B"/>
                </a:solidFill>
                <a:latin typeface="Calibri" pitchFamily="34" charset="0"/>
                <a:ea typeface="Calibri" pitchFamily="34" charset="-122"/>
                <a:cs typeface="Calibri" pitchFamily="34" charset="-120"/>
              </a:rPr>
              <a:t>Tier 2</a:t>
            </a:r>
            <a:endParaRPr lang="en-US" sz="900" dirty="0"/>
          </a:p>
        </p:txBody>
      </p:sp>
      <p:sp>
        <p:nvSpPr>
          <p:cNvPr id="20" name="Shape 18"/>
          <p:cNvSpPr/>
          <p:nvPr/>
        </p:nvSpPr>
        <p:spPr>
          <a:xfrm>
            <a:off x="548640" y="3831336"/>
            <a:ext cx="11064240" cy="612648"/>
          </a:xfrm>
          <a:prstGeom prst="roundRect">
            <a:avLst>
              <a:gd name="adj" fmla="val 11940"/>
            </a:avLst>
          </a:prstGeom>
          <a:solidFill>
            <a:srgbClr val="17263C"/>
          </a:solidFill>
          <a:ln w="12700">
            <a:solidFill>
              <a:srgbClr val="1F3350"/>
            </a:solidFill>
            <a:prstDash val="solid"/>
          </a:ln>
        </p:spPr>
      </p:sp>
      <p:sp>
        <p:nvSpPr>
          <p:cNvPr id="21" name="Text 19"/>
          <p:cNvSpPr/>
          <p:nvPr/>
        </p:nvSpPr>
        <p:spPr>
          <a:xfrm>
            <a:off x="822960" y="4014216"/>
            <a:ext cx="23774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Battery revenue</a:t>
            </a:r>
            <a:endParaRPr lang="en-US" sz="1250" dirty="0"/>
          </a:p>
        </p:txBody>
      </p:sp>
      <p:sp>
        <p:nvSpPr>
          <p:cNvPr id="22" name="Text 20"/>
          <p:cNvSpPr/>
          <p:nvPr/>
        </p:nvSpPr>
        <p:spPr>
          <a:xfrm>
            <a:off x="3291840" y="4023360"/>
            <a:ext cx="6400800" cy="292608"/>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24-hour arbitrage against real hourly nodal prices and measured curtailment</a:t>
            </a:r>
            <a:endParaRPr lang="en-US" sz="1050" dirty="0"/>
          </a:p>
        </p:txBody>
      </p:sp>
      <p:sp>
        <p:nvSpPr>
          <p:cNvPr id="23" name="Shape 21"/>
          <p:cNvSpPr/>
          <p:nvPr/>
        </p:nvSpPr>
        <p:spPr>
          <a:xfrm>
            <a:off x="9966960" y="3986784"/>
            <a:ext cx="1371600" cy="292608"/>
          </a:xfrm>
          <a:prstGeom prst="roundRect">
            <a:avLst>
              <a:gd name="adj" fmla="val 15625"/>
            </a:avLst>
          </a:prstGeom>
          <a:solidFill>
            <a:srgbClr val="E8A33D"/>
          </a:solidFill>
          <a:ln w="12700">
            <a:solidFill>
              <a:srgbClr val="E8A33D"/>
            </a:solidFill>
            <a:prstDash val="solid"/>
          </a:ln>
        </p:spPr>
      </p:sp>
      <p:sp>
        <p:nvSpPr>
          <p:cNvPr id="24" name="Text 22"/>
          <p:cNvSpPr/>
          <p:nvPr/>
        </p:nvSpPr>
        <p:spPr>
          <a:xfrm>
            <a:off x="9966960" y="3986784"/>
            <a:ext cx="1371600" cy="292608"/>
          </a:xfrm>
          <a:prstGeom prst="rect">
            <a:avLst/>
          </a:prstGeom>
          <a:noFill/>
          <a:ln/>
        </p:spPr>
        <p:txBody>
          <a:bodyPr wrap="square" lIns="0" tIns="0" rIns="0" bIns="0" rtlCol="0" anchor="ctr"/>
          <a:lstStyle/>
          <a:p>
            <a:pPr algn="ctr" indent="0" marL="0">
              <a:buNone/>
            </a:pPr>
            <a:r>
              <a:rPr lang="en-US" sz="900" b="1" dirty="0">
                <a:solidFill>
                  <a:srgbClr val="0E1A2B"/>
                </a:solidFill>
                <a:latin typeface="Calibri" pitchFamily="34" charset="0"/>
                <a:ea typeface="Calibri" pitchFamily="34" charset="-122"/>
                <a:cs typeface="Calibri" pitchFamily="34" charset="-120"/>
              </a:rPr>
              <a:t>Real prices</a:t>
            </a:r>
            <a:endParaRPr lang="en-US" sz="900" dirty="0"/>
          </a:p>
        </p:txBody>
      </p:sp>
      <p:sp>
        <p:nvSpPr>
          <p:cNvPr id="25" name="Shape 23"/>
          <p:cNvSpPr/>
          <p:nvPr/>
        </p:nvSpPr>
        <p:spPr>
          <a:xfrm>
            <a:off x="548640" y="4553712"/>
            <a:ext cx="11064240" cy="612648"/>
          </a:xfrm>
          <a:prstGeom prst="roundRect">
            <a:avLst>
              <a:gd name="adj" fmla="val 11940"/>
            </a:avLst>
          </a:prstGeom>
          <a:solidFill>
            <a:srgbClr val="17263C"/>
          </a:solidFill>
          <a:ln w="12700">
            <a:solidFill>
              <a:srgbClr val="1F3350"/>
            </a:solidFill>
            <a:prstDash val="solid"/>
          </a:ln>
        </p:spPr>
      </p:sp>
      <p:sp>
        <p:nvSpPr>
          <p:cNvPr id="26" name="Text 24"/>
          <p:cNvSpPr/>
          <p:nvPr/>
        </p:nvSpPr>
        <p:spPr>
          <a:xfrm>
            <a:off x="822960" y="4736592"/>
            <a:ext cx="23774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Transmission relief</a:t>
            </a:r>
            <a:endParaRPr lang="en-US" sz="1250" dirty="0"/>
          </a:p>
        </p:txBody>
      </p:sp>
      <p:sp>
        <p:nvSpPr>
          <p:cNvPr id="27" name="Text 25"/>
          <p:cNvSpPr/>
          <p:nvPr/>
        </p:nvSpPr>
        <p:spPr>
          <a:xfrm>
            <a:off x="3291840" y="4745736"/>
            <a:ext cx="6400800" cy="292608"/>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Upgrade a corridor; quantify congestion-rent and curtailment reduction</a:t>
            </a:r>
            <a:endParaRPr lang="en-US" sz="1050" dirty="0"/>
          </a:p>
        </p:txBody>
      </p:sp>
      <p:sp>
        <p:nvSpPr>
          <p:cNvPr id="28" name="Shape 26"/>
          <p:cNvSpPr/>
          <p:nvPr/>
        </p:nvSpPr>
        <p:spPr>
          <a:xfrm>
            <a:off x="9966960" y="4709160"/>
            <a:ext cx="1371600" cy="292608"/>
          </a:xfrm>
          <a:prstGeom prst="roundRect">
            <a:avLst>
              <a:gd name="adj" fmla="val 15625"/>
            </a:avLst>
          </a:prstGeom>
          <a:solidFill>
            <a:srgbClr val="2E86AB"/>
          </a:solidFill>
          <a:ln w="12700">
            <a:solidFill>
              <a:srgbClr val="2E86AB"/>
            </a:solidFill>
            <a:prstDash val="solid"/>
          </a:ln>
        </p:spPr>
      </p:sp>
      <p:sp>
        <p:nvSpPr>
          <p:cNvPr id="29" name="Text 27"/>
          <p:cNvSpPr/>
          <p:nvPr/>
        </p:nvSpPr>
        <p:spPr>
          <a:xfrm>
            <a:off x="9966960" y="4709160"/>
            <a:ext cx="1371600" cy="292608"/>
          </a:xfrm>
          <a:prstGeom prst="rect">
            <a:avLst/>
          </a:prstGeom>
          <a:noFill/>
          <a:ln/>
        </p:spPr>
        <p:txBody>
          <a:bodyPr wrap="square" lIns="0" tIns="0" rIns="0" bIns="0" rtlCol="0" anchor="ctr"/>
          <a:lstStyle/>
          <a:p>
            <a:pPr algn="ctr" indent="0" marL="0">
              <a:buNone/>
            </a:pPr>
            <a:r>
              <a:rPr lang="en-US" sz="900" b="1" dirty="0">
                <a:solidFill>
                  <a:srgbClr val="0E1A2B"/>
                </a:solidFill>
                <a:latin typeface="Calibri" pitchFamily="34" charset="0"/>
                <a:ea typeface="Calibri" pitchFamily="34" charset="-122"/>
                <a:cs typeface="Calibri" pitchFamily="34" charset="-120"/>
              </a:rPr>
              <a:t>Tier 1</a:t>
            </a:r>
            <a:endParaRPr lang="en-US" sz="900" dirty="0"/>
          </a:p>
        </p:txBody>
      </p:sp>
      <p:sp>
        <p:nvSpPr>
          <p:cNvPr id="30" name="Shape 28"/>
          <p:cNvSpPr/>
          <p:nvPr/>
        </p:nvSpPr>
        <p:spPr>
          <a:xfrm>
            <a:off x="548640" y="5276088"/>
            <a:ext cx="11064240" cy="612648"/>
          </a:xfrm>
          <a:prstGeom prst="roundRect">
            <a:avLst>
              <a:gd name="adj" fmla="val 11940"/>
            </a:avLst>
          </a:prstGeom>
          <a:solidFill>
            <a:srgbClr val="17263C"/>
          </a:solidFill>
          <a:ln w="12700">
            <a:solidFill>
              <a:srgbClr val="1F3350"/>
            </a:solidFill>
            <a:prstDash val="solid"/>
          </a:ln>
        </p:spPr>
      </p:sp>
      <p:sp>
        <p:nvSpPr>
          <p:cNvPr id="31" name="Text 29"/>
          <p:cNvSpPr/>
          <p:nvPr/>
        </p:nvSpPr>
        <p:spPr>
          <a:xfrm>
            <a:off x="822960" y="5458968"/>
            <a:ext cx="237744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Capacity expansion</a:t>
            </a:r>
            <a:endParaRPr lang="en-US" sz="1250" dirty="0"/>
          </a:p>
        </p:txBody>
      </p:sp>
      <p:sp>
        <p:nvSpPr>
          <p:cNvPr id="32" name="Text 30"/>
          <p:cNvSpPr/>
          <p:nvPr/>
        </p:nvSpPr>
        <p:spPr>
          <a:xfrm>
            <a:off x="3291840" y="5468112"/>
            <a:ext cx="6400800" cy="292608"/>
          </a:xfrm>
          <a:prstGeom prst="rect">
            <a:avLst/>
          </a:prstGeom>
          <a:noFill/>
          <a:ln/>
        </p:spPr>
        <p:txBody>
          <a:bodyPr wrap="square" lIns="0" tIns="0" rIns="0" bIns="0" rtlCol="0" anchor="t"/>
          <a:lstStyle/>
          <a:p>
            <a:pPr algn="l" indent="0" marL="0">
              <a:lnSpc>
                <a:spcPct val="112000"/>
              </a:lnSpc>
              <a:buNone/>
            </a:pPr>
            <a:r>
              <a:rPr lang="en-US" sz="1050" dirty="0">
                <a:solidFill>
                  <a:srgbClr val="D6E4F0"/>
                </a:solidFill>
                <a:latin typeface="Calibri" pitchFamily="34" charset="0"/>
                <a:ea typeface="Calibri" pitchFamily="34" charset="-122"/>
                <a:cs typeface="Calibri" pitchFamily="34" charset="-120"/>
              </a:rPr>
              <a:t>Least-cost build mix to 2032 against reserve-margin targets, NREL ATB costs</a:t>
            </a:r>
            <a:endParaRPr lang="en-US" sz="1050" dirty="0"/>
          </a:p>
        </p:txBody>
      </p:sp>
      <p:sp>
        <p:nvSpPr>
          <p:cNvPr id="33" name="Shape 31"/>
          <p:cNvSpPr/>
          <p:nvPr/>
        </p:nvSpPr>
        <p:spPr>
          <a:xfrm>
            <a:off x="9966960" y="5431536"/>
            <a:ext cx="1371600" cy="292608"/>
          </a:xfrm>
          <a:prstGeom prst="roundRect">
            <a:avLst>
              <a:gd name="adj" fmla="val 15625"/>
            </a:avLst>
          </a:prstGeom>
          <a:solidFill>
            <a:srgbClr val="3FA372"/>
          </a:solidFill>
          <a:ln w="12700">
            <a:solidFill>
              <a:srgbClr val="3FA372"/>
            </a:solidFill>
            <a:prstDash val="solid"/>
          </a:ln>
        </p:spPr>
      </p:sp>
      <p:sp>
        <p:nvSpPr>
          <p:cNvPr id="34" name="Text 32"/>
          <p:cNvSpPr/>
          <p:nvPr/>
        </p:nvSpPr>
        <p:spPr>
          <a:xfrm>
            <a:off x="9966960" y="5431536"/>
            <a:ext cx="1371600" cy="292608"/>
          </a:xfrm>
          <a:prstGeom prst="rect">
            <a:avLst/>
          </a:prstGeom>
          <a:noFill/>
          <a:ln/>
        </p:spPr>
        <p:txBody>
          <a:bodyPr wrap="square" lIns="0" tIns="0" rIns="0" bIns="0" rtlCol="0" anchor="ctr"/>
          <a:lstStyle/>
          <a:p>
            <a:pPr algn="ctr" indent="0" marL="0">
              <a:buNone/>
            </a:pPr>
            <a:r>
              <a:rPr lang="en-US" sz="900" b="1" dirty="0">
                <a:solidFill>
                  <a:srgbClr val="0E1A2B"/>
                </a:solidFill>
                <a:latin typeface="Calibri" pitchFamily="34" charset="0"/>
                <a:ea typeface="Calibri" pitchFamily="34" charset="-122"/>
                <a:cs typeface="Calibri" pitchFamily="34" charset="-120"/>
              </a:rPr>
              <a:t>Multi-period</a:t>
            </a:r>
            <a:endParaRPr lang="en-US" sz="900" dirty="0"/>
          </a:p>
        </p:txBody>
      </p:sp>
      <p:sp>
        <p:nvSpPr>
          <p:cNvPr id="35" name="Shape 33"/>
          <p:cNvSpPr/>
          <p:nvPr/>
        </p:nvSpPr>
        <p:spPr>
          <a:xfrm>
            <a:off x="548640" y="5943600"/>
            <a:ext cx="11064240" cy="566928"/>
          </a:xfrm>
          <a:prstGeom prst="roundRect">
            <a:avLst>
              <a:gd name="adj" fmla="val 12903"/>
            </a:avLst>
          </a:prstGeom>
          <a:solidFill>
            <a:srgbClr val="1F3350"/>
          </a:solidFill>
          <a:ln w="12700">
            <a:solidFill>
              <a:srgbClr val="1F3350"/>
            </a:solidFill>
            <a:prstDash val="solid"/>
          </a:ln>
        </p:spPr>
      </p:sp>
      <p:sp>
        <p:nvSpPr>
          <p:cNvPr id="36" name="Text 34"/>
          <p:cNvSpPr/>
          <p:nvPr/>
        </p:nvSpPr>
        <p:spPr>
          <a:xfrm>
            <a:off x="822960" y="6053328"/>
            <a:ext cx="10515600" cy="365760"/>
          </a:xfrm>
          <a:prstGeom prst="rect">
            <a:avLst/>
          </a:prstGeom>
          <a:noFill/>
          <a:ln/>
        </p:spPr>
        <p:txBody>
          <a:bodyPr wrap="square" lIns="0" tIns="0" rIns="0" bIns="0" rtlCol="0" anchor="t"/>
          <a:lstStyle/>
          <a:p>
            <a:pPr algn="l" indent="0" marL="0">
              <a:lnSpc>
                <a:spcPct val="112000"/>
              </a:lnSpc>
              <a:buNone/>
            </a:pPr>
            <a:r>
              <a:rPr lang="en-US" sz="1100" i="1" dirty="0">
                <a:solidFill>
                  <a:srgbClr val="E8A33D"/>
                </a:solidFill>
                <a:latin typeface="Calibri" pitchFamily="34" charset="0"/>
                <a:ea typeface="Calibri" pitchFamily="34" charset="-122"/>
                <a:cs typeface="Calibri" pitchFamily="34" charset="-120"/>
              </a:rPr>
              <a:t>Storm Uri is reproducible as a preset: wind at 4% capacity factor, 40% gas derate — the scenario that broke ERCOT in February 2021.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DEAL ECONOMICS</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From shortlist to signable terms</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The analytics land in the two artefacts a deal actually needs: a price and a risk range</a:t>
            </a:r>
            <a:endParaRPr lang="en-US" sz="1350" dirty="0"/>
          </a:p>
        </p:txBody>
      </p:sp>
      <p:sp>
        <p:nvSpPr>
          <p:cNvPr id="5" name="Shape 3"/>
          <p:cNvSpPr/>
          <p:nvPr/>
        </p:nvSpPr>
        <p:spPr>
          <a:xfrm>
            <a:off x="548640" y="1645920"/>
            <a:ext cx="5440680" cy="2194560"/>
          </a:xfrm>
          <a:prstGeom prst="roundRect">
            <a:avLst>
              <a:gd name="adj" fmla="val 333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6" name="Shape 4"/>
          <p:cNvSpPr/>
          <p:nvPr/>
        </p:nvSpPr>
        <p:spPr>
          <a:xfrm>
            <a:off x="822960" y="1847088"/>
            <a:ext cx="420624" cy="420624"/>
          </a:xfrm>
          <a:prstGeom prst="ellipse">
            <a:avLst/>
          </a:prstGeom>
          <a:solidFill>
            <a:srgbClr val="02C39A"/>
          </a:solidFill>
          <a:ln w="12700">
            <a:solidFill>
              <a:srgbClr val="02C39A"/>
            </a:solidFill>
            <a:prstDash val="solid"/>
          </a:ln>
        </p:spPr>
      </p:sp>
      <p:sp>
        <p:nvSpPr>
          <p:cNvPr id="7" name="Text 5"/>
          <p:cNvSpPr/>
          <p:nvPr/>
        </p:nvSpPr>
        <p:spPr>
          <a:xfrm>
            <a:off x="822960" y="184708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371600" y="1810512"/>
            <a:ext cx="4389120" cy="292608"/>
          </a:xfrm>
          <a:prstGeom prst="rect">
            <a:avLst/>
          </a:prstGeom>
          <a:noFill/>
          <a:ln/>
        </p:spPr>
        <p:txBody>
          <a:bodyPr wrap="square" lIns="0" tIns="0" rIns="0" bIns="0" rtlCol="0" anchor="ctr"/>
          <a:lstStyle/>
          <a:p>
            <a:pPr algn="l" indent="0" marL="0">
              <a:buNone/>
            </a:pPr>
            <a:r>
              <a:rPr lang="en-US" sz="1500" b="1" dirty="0">
                <a:solidFill>
                  <a:srgbClr val="0E1A2B"/>
                </a:solidFill>
                <a:latin typeface="Calibri" pitchFamily="34" charset="0"/>
                <a:ea typeface="Calibri" pitchFamily="34" charset="-122"/>
                <a:cs typeface="Calibri" pitchFamily="34" charset="-120"/>
              </a:rPr>
              <a:t>PPA / VPPA NPV</a:t>
            </a:r>
            <a:endParaRPr lang="en-US" sz="1500" dirty="0"/>
          </a:p>
        </p:txBody>
      </p:sp>
      <p:sp>
        <p:nvSpPr>
          <p:cNvPr id="9" name="Text 7"/>
          <p:cNvSpPr/>
          <p:nvPr/>
        </p:nvSpPr>
        <p:spPr>
          <a:xfrm>
            <a:off x="822960" y="2395728"/>
            <a:ext cx="4892040" cy="1325880"/>
          </a:xfrm>
          <a:prstGeom prst="rect">
            <a:avLst/>
          </a:prstGeom>
          <a:noFill/>
          <a:ln/>
        </p:spPr>
        <p:txBody>
          <a:bodyPr wrap="square" lIns="0" tIns="0" rIns="0" bIns="0" rtlCol="0" anchor="t"/>
          <a:lstStyle/>
          <a:p>
            <a:pPr algn="l" indent="0" marL="0">
              <a:lnSpc>
                <a:spcPct val="120000"/>
              </a:lnSpc>
              <a:buNone/>
            </a:pPr>
            <a:r>
              <a:rPr lang="en-US" sz="1100" dirty="0">
                <a:solidFill>
                  <a:srgbClr val="5A6E85"/>
                </a:solidFill>
                <a:latin typeface="Calibri" pitchFamily="34" charset="0"/>
                <a:ea typeface="Calibri" pitchFamily="34" charset="-122"/>
                <a:cs typeface="Calibri" pitchFamily="34" charset="-120"/>
              </a:rPr>
              <a:t>Monte Carlo over simulated market prices returns P10 / P50 / P90 NPV against a chosen strike, term and discount rate.</a:t>
            </a:r>
            <a:endParaRPr lang="en-US" sz="1100" dirty="0"/>
          </a:p>
          <a:p>
            <a:pPr algn="l" indent="0" marL="0">
              <a:lnSpc>
                <a:spcPct val="120000"/>
              </a:lnSpc>
              <a:buNone/>
            </a:pPr>
            <a:endParaRPr lang="en-US" sz="1100" dirty="0"/>
          </a:p>
          <a:p>
            <a:pPr algn="l" indent="0" marL="0">
              <a:lnSpc>
                <a:spcPct val="120000"/>
              </a:lnSpc>
              <a:buNone/>
            </a:pPr>
            <a:r>
              <a:rPr lang="en-US" sz="1100" dirty="0">
                <a:solidFill>
                  <a:srgbClr val="5A6E85"/>
                </a:solidFill>
                <a:latin typeface="Calibri" pitchFamily="34" charset="0"/>
                <a:ea typeface="Calibri" pitchFamily="34" charset="-122"/>
                <a:cs typeface="Calibri" pitchFamily="34" charset="-120"/>
              </a:rPr>
              <a:t>Outputs a cashflow profile by contract year and the breakeven strike — the number that decides whether to sign.</a:t>
            </a:r>
            <a:endParaRPr lang="en-US" sz="1100" dirty="0"/>
          </a:p>
        </p:txBody>
      </p:sp>
      <p:sp>
        <p:nvSpPr>
          <p:cNvPr id="10" name="Shape 8"/>
          <p:cNvSpPr/>
          <p:nvPr/>
        </p:nvSpPr>
        <p:spPr>
          <a:xfrm>
            <a:off x="6172200" y="1645920"/>
            <a:ext cx="5440680" cy="2194560"/>
          </a:xfrm>
          <a:prstGeom prst="roundRect">
            <a:avLst>
              <a:gd name="adj" fmla="val 333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1" name="Shape 9"/>
          <p:cNvSpPr/>
          <p:nvPr/>
        </p:nvSpPr>
        <p:spPr>
          <a:xfrm>
            <a:off x="6446520" y="1847088"/>
            <a:ext cx="420624" cy="420624"/>
          </a:xfrm>
          <a:prstGeom prst="ellipse">
            <a:avLst/>
          </a:prstGeom>
          <a:solidFill>
            <a:srgbClr val="E8A33D"/>
          </a:solidFill>
          <a:ln w="12700">
            <a:solidFill>
              <a:srgbClr val="E8A33D"/>
            </a:solidFill>
            <a:prstDash val="solid"/>
          </a:ln>
        </p:spPr>
      </p:sp>
      <p:sp>
        <p:nvSpPr>
          <p:cNvPr id="12" name="Text 10"/>
          <p:cNvSpPr/>
          <p:nvPr/>
        </p:nvSpPr>
        <p:spPr>
          <a:xfrm>
            <a:off x="6446520" y="184708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6995160" y="1810512"/>
            <a:ext cx="4389120" cy="292608"/>
          </a:xfrm>
          <a:prstGeom prst="rect">
            <a:avLst/>
          </a:prstGeom>
          <a:noFill/>
          <a:ln/>
        </p:spPr>
        <p:txBody>
          <a:bodyPr wrap="square" lIns="0" tIns="0" rIns="0" bIns="0" rtlCol="0" anchor="ctr"/>
          <a:lstStyle/>
          <a:p>
            <a:pPr algn="l" indent="0" marL="0">
              <a:buNone/>
            </a:pPr>
            <a:r>
              <a:rPr lang="en-US" sz="1500" b="1" dirty="0">
                <a:solidFill>
                  <a:srgbClr val="0E1A2B"/>
                </a:solidFill>
                <a:latin typeface="Calibri" pitchFamily="34" charset="0"/>
                <a:ea typeface="Calibri" pitchFamily="34" charset="-122"/>
                <a:cs typeface="Calibri" pitchFamily="34" charset="-120"/>
              </a:rPr>
              <a:t>Heat-rate options (Bachelier)</a:t>
            </a:r>
            <a:endParaRPr lang="en-US" sz="1500" dirty="0"/>
          </a:p>
        </p:txBody>
      </p:sp>
      <p:sp>
        <p:nvSpPr>
          <p:cNvPr id="14" name="Text 12"/>
          <p:cNvSpPr/>
          <p:nvPr/>
        </p:nvSpPr>
        <p:spPr>
          <a:xfrm>
            <a:off x="6446520" y="2395728"/>
            <a:ext cx="4892040" cy="1325880"/>
          </a:xfrm>
          <a:prstGeom prst="rect">
            <a:avLst/>
          </a:prstGeom>
          <a:noFill/>
          <a:ln/>
        </p:spPr>
        <p:txBody>
          <a:bodyPr wrap="square" lIns="0" tIns="0" rIns="0" bIns="0" rtlCol="0" anchor="t"/>
          <a:lstStyle/>
          <a:p>
            <a:pPr algn="l" indent="0" marL="0">
              <a:lnSpc>
                <a:spcPct val="120000"/>
              </a:lnSpc>
              <a:buNone/>
            </a:pPr>
            <a:r>
              <a:rPr lang="en-US" sz="1100" dirty="0">
                <a:solidFill>
                  <a:srgbClr val="5A6E85"/>
                </a:solidFill>
                <a:latin typeface="Calibri" pitchFamily="34" charset="0"/>
                <a:ea typeface="Calibri" pitchFamily="34" charset="-122"/>
                <a:cs typeface="Calibri" pitchFamily="34" charset="-120"/>
              </a:rPr>
              <a:t>Spark-spread options priced on the Bachelier model, which tolerates negative forwards — Black-Scholes breaks when the spread goes below zero.</a:t>
            </a:r>
            <a:endParaRPr lang="en-US" sz="1100" dirty="0"/>
          </a:p>
          <a:p>
            <a:pPr algn="l" indent="0" marL="0">
              <a:lnSpc>
                <a:spcPct val="120000"/>
              </a:lnSpc>
              <a:buNone/>
            </a:pPr>
            <a:endParaRPr lang="en-US" sz="1100" dirty="0"/>
          </a:p>
          <a:p>
            <a:pPr algn="l" indent="0" marL="0">
              <a:lnSpc>
                <a:spcPct val="120000"/>
              </a:lnSpc>
              <a:buNone/>
            </a:pPr>
            <a:r>
              <a:rPr lang="en-US" sz="1100" dirty="0">
                <a:solidFill>
                  <a:srgbClr val="5A6E85"/>
                </a:solidFill>
                <a:latin typeface="Calibri" pitchFamily="34" charset="0"/>
                <a:ea typeface="Calibri" pitchFamily="34" charset="-122"/>
                <a:cs typeface="Calibri" pitchFamily="34" charset="-120"/>
              </a:rPr>
              <a:t>Full Greeks: delta, gamma, vega, theta, rho. ISDA-consistent for spread options.</a:t>
            </a:r>
            <a:endParaRPr lang="en-US" sz="1100" dirty="0"/>
          </a:p>
        </p:txBody>
      </p:sp>
      <p:sp>
        <p:nvSpPr>
          <p:cNvPr id="15" name="Shape 13"/>
          <p:cNvSpPr/>
          <p:nvPr/>
        </p:nvSpPr>
        <p:spPr>
          <a:xfrm>
            <a:off x="566928" y="4087368"/>
            <a:ext cx="310896" cy="310896"/>
          </a:xfrm>
          <a:prstGeom prst="ellipse">
            <a:avLst/>
          </a:prstGeom>
          <a:solidFill>
            <a:srgbClr val="2E86AB"/>
          </a:solidFill>
          <a:ln w="12700">
            <a:solidFill>
              <a:srgbClr val="2E86AB"/>
            </a:solidFill>
            <a:prstDash val="solid"/>
          </a:ln>
        </p:spPr>
      </p:sp>
      <p:sp>
        <p:nvSpPr>
          <p:cNvPr id="16" name="Text 14"/>
          <p:cNvSpPr/>
          <p:nvPr/>
        </p:nvSpPr>
        <p:spPr>
          <a:xfrm>
            <a:off x="566928" y="40873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5"/>
          <p:cNvSpPr/>
          <p:nvPr/>
        </p:nvSpPr>
        <p:spPr>
          <a:xfrm>
            <a:off x="1042416" y="4041648"/>
            <a:ext cx="2377440" cy="27432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Financial enrichment</a:t>
            </a:r>
            <a:endParaRPr lang="en-US" sz="1150" dirty="0"/>
          </a:p>
        </p:txBody>
      </p:sp>
      <p:sp>
        <p:nvSpPr>
          <p:cNvPr id="18" name="Text 16"/>
          <p:cNvSpPr/>
          <p:nvPr/>
        </p:nvSpPr>
        <p:spPr>
          <a:xfrm>
            <a:off x="3566160" y="4041648"/>
            <a:ext cx="8046720" cy="457200"/>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Every candidate carries LCOE, total capex, ITC value and PTC NPV alongside its risk scores</a:t>
            </a:r>
            <a:endParaRPr lang="en-US" sz="1050" dirty="0"/>
          </a:p>
        </p:txBody>
      </p:sp>
      <p:sp>
        <p:nvSpPr>
          <p:cNvPr id="19" name="Shape 17"/>
          <p:cNvSpPr/>
          <p:nvPr/>
        </p:nvSpPr>
        <p:spPr>
          <a:xfrm>
            <a:off x="566928" y="4654296"/>
            <a:ext cx="310896" cy="310896"/>
          </a:xfrm>
          <a:prstGeom prst="ellipse">
            <a:avLst/>
          </a:prstGeom>
          <a:solidFill>
            <a:srgbClr val="2E86AB"/>
          </a:solidFill>
          <a:ln w="12700">
            <a:solidFill>
              <a:srgbClr val="2E86AB"/>
            </a:solidFill>
            <a:prstDash val="solid"/>
          </a:ln>
        </p:spPr>
      </p:sp>
      <p:sp>
        <p:nvSpPr>
          <p:cNvPr id="20" name="Text 18"/>
          <p:cNvSpPr/>
          <p:nvPr/>
        </p:nvSpPr>
        <p:spPr>
          <a:xfrm>
            <a:off x="566928" y="46542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1042416" y="4608576"/>
            <a:ext cx="2377440" cy="27432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IRA treatment</a:t>
            </a:r>
            <a:endParaRPr lang="en-US" sz="1150" dirty="0"/>
          </a:p>
        </p:txBody>
      </p:sp>
      <p:sp>
        <p:nvSpPr>
          <p:cNvPr id="22" name="Text 20"/>
          <p:cNvSpPr/>
          <p:nvPr/>
        </p:nvSpPr>
        <p:spPr>
          <a:xfrm>
            <a:off x="3566160" y="4608576"/>
            <a:ext cx="8046720" cy="457200"/>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ITC 30% with domestic-content and energy-community adders; PTC at $27.50/MWh; standalone storage ITC</a:t>
            </a:r>
            <a:endParaRPr lang="en-US" sz="1050" dirty="0"/>
          </a:p>
        </p:txBody>
      </p:sp>
      <p:sp>
        <p:nvSpPr>
          <p:cNvPr id="23" name="Shape 21"/>
          <p:cNvSpPr/>
          <p:nvPr/>
        </p:nvSpPr>
        <p:spPr>
          <a:xfrm>
            <a:off x="566928" y="5221224"/>
            <a:ext cx="310896" cy="310896"/>
          </a:xfrm>
          <a:prstGeom prst="ellipse">
            <a:avLst/>
          </a:prstGeom>
          <a:solidFill>
            <a:srgbClr val="2E86AB"/>
          </a:solidFill>
          <a:ln w="12700">
            <a:solidFill>
              <a:srgbClr val="2E86AB"/>
            </a:solidFill>
            <a:prstDash val="solid"/>
          </a:ln>
        </p:spPr>
      </p:sp>
      <p:sp>
        <p:nvSpPr>
          <p:cNvPr id="24" name="Text 22"/>
          <p:cNvSpPr/>
          <p:nvPr/>
        </p:nvSpPr>
        <p:spPr>
          <a:xfrm>
            <a:off x="566928" y="52212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1042416" y="5175504"/>
            <a:ext cx="2377440" cy="27432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Capex benchmarks</a:t>
            </a:r>
            <a:endParaRPr lang="en-US" sz="1150" dirty="0"/>
          </a:p>
        </p:txBody>
      </p:sp>
      <p:sp>
        <p:nvSpPr>
          <p:cNvPr id="26" name="Text 24"/>
          <p:cNvSpPr/>
          <p:nvPr/>
        </p:nvSpPr>
        <p:spPr>
          <a:xfrm>
            <a:off x="3566160" y="5175504"/>
            <a:ext cx="8046720" cy="457200"/>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NREL ATB 2024, Lazard LCOE v17 and BNEF reference ranges built in for sanity-checking developer claims</a:t>
            </a:r>
            <a:endParaRPr lang="en-US" sz="1050" dirty="0"/>
          </a:p>
        </p:txBody>
      </p:sp>
      <p:sp>
        <p:nvSpPr>
          <p:cNvPr id="27" name="Shape 25"/>
          <p:cNvSpPr/>
          <p:nvPr/>
        </p:nvSpPr>
        <p:spPr>
          <a:xfrm>
            <a:off x="566928" y="5788152"/>
            <a:ext cx="310896" cy="310896"/>
          </a:xfrm>
          <a:prstGeom prst="ellipse">
            <a:avLst/>
          </a:prstGeom>
          <a:solidFill>
            <a:srgbClr val="2E86AB"/>
          </a:solidFill>
          <a:ln w="12700">
            <a:solidFill>
              <a:srgbClr val="2E86AB"/>
            </a:solidFill>
            <a:prstDash val="solid"/>
          </a:ln>
        </p:spPr>
      </p:sp>
      <p:sp>
        <p:nvSpPr>
          <p:cNvPr id="28" name="Text 26"/>
          <p:cNvSpPr/>
          <p:nvPr/>
        </p:nvSpPr>
        <p:spPr>
          <a:xfrm>
            <a:off x="566928" y="57881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1042416" y="5742432"/>
            <a:ext cx="2377440" cy="27432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Gas and spark</a:t>
            </a:r>
            <a:endParaRPr lang="en-US" sz="1150" dirty="0"/>
          </a:p>
        </p:txBody>
      </p:sp>
      <p:sp>
        <p:nvSpPr>
          <p:cNvPr id="30" name="Text 28"/>
          <p:cNvSpPr/>
          <p:nvPr/>
        </p:nvSpPr>
        <p:spPr>
          <a:xfrm>
            <a:off x="3566160" y="5742432"/>
            <a:ext cx="8046720" cy="457200"/>
          </a:xfrm>
          <a:prstGeom prst="rect">
            <a:avLst/>
          </a:prstGeom>
          <a:noFill/>
          <a:ln/>
        </p:spPr>
        <p:txBody>
          <a:bodyPr wrap="square" lIns="0" tIns="0" rIns="0" bIns="0" rtlCol="0" anchor="t"/>
          <a:lstStyle/>
          <a:p>
            <a:pPr algn="l" indent="0" marL="0">
              <a:lnSpc>
                <a:spcPct val="112000"/>
              </a:lnSpc>
              <a:buNone/>
            </a:pPr>
            <a:r>
              <a:rPr lang="en-US" sz="1050" dirty="0">
                <a:solidFill>
                  <a:srgbClr val="5A6E85"/>
                </a:solidFill>
                <a:latin typeface="Calibri" pitchFamily="34" charset="0"/>
                <a:ea typeface="Calibri" pitchFamily="34" charset="-122"/>
                <a:cs typeface="Calibri" pitchFamily="34" charset="-120"/>
              </a:rPr>
              <a:t>Henry Hub and Waha spot and forward curves — Waha's deep discount is why West Texas power prices behave differently</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02C39A"/>
                </a:solidFill>
                <a:latin typeface="Calibri" pitchFamily="34" charset="0"/>
                <a:ea typeface="Calibri" pitchFamily="34" charset="-122"/>
                <a:cs typeface="Calibri" pitchFamily="34" charset="-120"/>
              </a:rPr>
              <a:t>WHERE THE GROWTH IS</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Demand-side intelligence</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02C39A"/>
                </a:solidFill>
                <a:latin typeface="Calibri" pitchFamily="34" charset="0"/>
                <a:ea typeface="Calibri" pitchFamily="34" charset="-122"/>
                <a:cs typeface="Calibri" pitchFamily="34" charset="-120"/>
              </a:rPr>
              <a:t>The data-centre load story is the most commercially live conversation in the market</a:t>
            </a:r>
            <a:endParaRPr lang="en-US" sz="1350" dirty="0"/>
          </a:p>
        </p:txBody>
      </p:sp>
      <p:sp>
        <p:nvSpPr>
          <p:cNvPr id="5" name="Shape 3"/>
          <p:cNvSpPr/>
          <p:nvPr/>
        </p:nvSpPr>
        <p:spPr>
          <a:xfrm>
            <a:off x="548640" y="1645920"/>
            <a:ext cx="3520440" cy="2286000"/>
          </a:xfrm>
          <a:prstGeom prst="roundRect">
            <a:avLst>
              <a:gd name="adj" fmla="val 3200"/>
            </a:avLst>
          </a:prstGeom>
          <a:solidFill>
            <a:srgbClr val="17263C"/>
          </a:solidFill>
          <a:ln w="12700">
            <a:solidFill>
              <a:srgbClr val="1F3350"/>
            </a:solidFill>
            <a:prstDash val="solid"/>
          </a:ln>
        </p:spPr>
      </p:sp>
      <p:sp>
        <p:nvSpPr>
          <p:cNvPr id="6" name="Shape 4"/>
          <p:cNvSpPr/>
          <p:nvPr/>
        </p:nvSpPr>
        <p:spPr>
          <a:xfrm>
            <a:off x="804672" y="1847088"/>
            <a:ext cx="420624" cy="420624"/>
          </a:xfrm>
          <a:prstGeom prst="ellipse">
            <a:avLst/>
          </a:prstGeom>
          <a:solidFill>
            <a:srgbClr val="E8A33D"/>
          </a:solidFill>
          <a:ln w="12700">
            <a:solidFill>
              <a:srgbClr val="E8A33D"/>
            </a:solidFill>
            <a:prstDash val="solid"/>
          </a:ln>
        </p:spPr>
      </p:sp>
      <p:sp>
        <p:nvSpPr>
          <p:cNvPr id="7" name="Text 5"/>
          <p:cNvSpPr/>
          <p:nvPr/>
        </p:nvSpPr>
        <p:spPr>
          <a:xfrm>
            <a:off x="804672" y="1847088"/>
            <a:ext cx="420624" cy="42062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04672" y="2377440"/>
            <a:ext cx="3017520" cy="292608"/>
          </a:xfrm>
          <a:prstGeom prst="rect">
            <a:avLst/>
          </a:prstGeom>
          <a:noFill/>
          <a:ln/>
        </p:spPr>
        <p:txBody>
          <a:bodyPr wrap="square" lIns="0" tIns="0" rIns="0" bIns="0" rtlCol="0" anchor="ctr"/>
          <a:lstStyle/>
          <a:p>
            <a:pPr algn="l" indent="0" marL="0">
              <a:buNone/>
            </a:pPr>
            <a:r>
              <a:rPr lang="en-US" sz="1450" b="1" dirty="0">
                <a:solidFill>
                  <a:srgbClr val="FFFFFF"/>
                </a:solidFill>
                <a:latin typeface="Calibri" pitchFamily="34" charset="0"/>
                <a:ea typeface="Calibri" pitchFamily="34" charset="-122"/>
                <a:cs typeface="Calibri" pitchFamily="34" charset="-120"/>
              </a:rPr>
              <a:t>AI &amp; data centres</a:t>
            </a:r>
            <a:endParaRPr lang="en-US" sz="1450" dirty="0"/>
          </a:p>
        </p:txBody>
      </p:sp>
      <p:sp>
        <p:nvSpPr>
          <p:cNvPr id="9" name="Text 7"/>
          <p:cNvSpPr/>
          <p:nvPr/>
        </p:nvSpPr>
        <p:spPr>
          <a:xfrm>
            <a:off x="804672" y="2724912"/>
            <a:ext cx="3017520" cy="1097280"/>
          </a:xfrm>
          <a:prstGeom prst="rect">
            <a:avLst/>
          </a:prstGeom>
          <a:noFill/>
          <a:ln/>
        </p:spPr>
        <p:txBody>
          <a:bodyPr wrap="square" lIns="0" tIns="0" rIns="0" bIns="0" rtlCol="0" anchor="t"/>
          <a:lstStyle/>
          <a:p>
            <a:pPr algn="l" indent="0" marL="0">
              <a:lnSpc>
                <a:spcPct val="120000"/>
              </a:lnSpc>
              <a:buNone/>
            </a:pPr>
            <a:r>
              <a:rPr lang="en-US" sz="1050" dirty="0">
                <a:solidFill>
                  <a:srgbClr val="D6E4F0"/>
                </a:solidFill>
                <a:latin typeface="Calibri" pitchFamily="34" charset="0"/>
                <a:ea typeface="Calibri" pitchFamily="34" charset="-122"/>
                <a:cs typeface="Calibri" pitchFamily="34" charset="-120"/>
              </a:rPr>
              <a:t>55 curated facilities across ERCOT, CAISO and PJM with operating and pipeline MW, plus an OpenStreetMap overlay for the wider footprint.</a:t>
            </a:r>
            <a:endParaRPr lang="en-US" sz="1050" dirty="0"/>
          </a:p>
        </p:txBody>
      </p:sp>
      <p:sp>
        <p:nvSpPr>
          <p:cNvPr id="10" name="Shape 8"/>
          <p:cNvSpPr/>
          <p:nvPr/>
        </p:nvSpPr>
        <p:spPr>
          <a:xfrm>
            <a:off x="4315968" y="1645920"/>
            <a:ext cx="3520440" cy="2286000"/>
          </a:xfrm>
          <a:prstGeom prst="roundRect">
            <a:avLst>
              <a:gd name="adj" fmla="val 3200"/>
            </a:avLst>
          </a:prstGeom>
          <a:solidFill>
            <a:srgbClr val="17263C"/>
          </a:solidFill>
          <a:ln w="12700">
            <a:solidFill>
              <a:srgbClr val="1F3350"/>
            </a:solidFill>
            <a:prstDash val="solid"/>
          </a:ln>
        </p:spPr>
      </p:sp>
      <p:sp>
        <p:nvSpPr>
          <p:cNvPr id="11" name="Shape 9"/>
          <p:cNvSpPr/>
          <p:nvPr/>
        </p:nvSpPr>
        <p:spPr>
          <a:xfrm>
            <a:off x="4572000" y="1847088"/>
            <a:ext cx="420624" cy="420624"/>
          </a:xfrm>
          <a:prstGeom prst="ellipse">
            <a:avLst/>
          </a:prstGeom>
          <a:solidFill>
            <a:srgbClr val="02C39A"/>
          </a:solidFill>
          <a:ln w="12700">
            <a:solidFill>
              <a:srgbClr val="02C39A"/>
            </a:solidFill>
            <a:prstDash val="solid"/>
          </a:ln>
        </p:spPr>
      </p:sp>
      <p:sp>
        <p:nvSpPr>
          <p:cNvPr id="12" name="Text 10"/>
          <p:cNvSpPr/>
          <p:nvPr/>
        </p:nvSpPr>
        <p:spPr>
          <a:xfrm>
            <a:off x="4572000" y="1847088"/>
            <a:ext cx="420624" cy="42062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4572000" y="2377440"/>
            <a:ext cx="3017520" cy="292608"/>
          </a:xfrm>
          <a:prstGeom prst="rect">
            <a:avLst/>
          </a:prstGeom>
          <a:noFill/>
          <a:ln/>
        </p:spPr>
        <p:txBody>
          <a:bodyPr wrap="square" lIns="0" tIns="0" rIns="0" bIns="0" rtlCol="0" anchor="ctr"/>
          <a:lstStyle/>
          <a:p>
            <a:pPr algn="l" indent="0" marL="0">
              <a:buNone/>
            </a:pPr>
            <a:r>
              <a:rPr lang="en-US" sz="1450" b="1" dirty="0">
                <a:solidFill>
                  <a:srgbClr val="FFFFFF"/>
                </a:solidFill>
                <a:latin typeface="Calibri" pitchFamily="34" charset="0"/>
                <a:ea typeface="Calibri" pitchFamily="34" charset="-122"/>
                <a:cs typeface="Calibri" pitchFamily="34" charset="-120"/>
              </a:rPr>
              <a:t>EV charging load</a:t>
            </a:r>
            <a:endParaRPr lang="en-US" sz="1450" dirty="0"/>
          </a:p>
        </p:txBody>
      </p:sp>
      <p:sp>
        <p:nvSpPr>
          <p:cNvPr id="14" name="Text 12"/>
          <p:cNvSpPr/>
          <p:nvPr/>
        </p:nvSpPr>
        <p:spPr>
          <a:xfrm>
            <a:off x="4572000" y="2724912"/>
            <a:ext cx="3017520" cy="1097280"/>
          </a:xfrm>
          <a:prstGeom prst="rect">
            <a:avLst/>
          </a:prstGeom>
          <a:noFill/>
          <a:ln/>
        </p:spPr>
        <p:txBody>
          <a:bodyPr wrap="square" lIns="0" tIns="0" rIns="0" bIns="0" rtlCol="0" anchor="t"/>
          <a:lstStyle/>
          <a:p>
            <a:pPr algn="l" indent="0" marL="0">
              <a:lnSpc>
                <a:spcPct val="120000"/>
              </a:lnSpc>
              <a:buNone/>
            </a:pPr>
            <a:r>
              <a:rPr lang="en-US" sz="1050" dirty="0">
                <a:solidFill>
                  <a:srgbClr val="D6E4F0"/>
                </a:solidFill>
                <a:latin typeface="Calibri" pitchFamily="34" charset="0"/>
                <a:ea typeface="Calibri" pitchFamily="34" charset="-122"/>
                <a:cs typeface="Calibri" pitchFamily="34" charset="-120"/>
              </a:rPr>
              <a:t>ERCOT and CAISO fleet trajectories to 2029 from TxDMV and CEC data, converted to zonal MW at measured load factors.</a:t>
            </a:r>
            <a:endParaRPr lang="en-US" sz="1050" dirty="0"/>
          </a:p>
        </p:txBody>
      </p:sp>
      <p:sp>
        <p:nvSpPr>
          <p:cNvPr id="15" name="Shape 13"/>
          <p:cNvSpPr/>
          <p:nvPr/>
        </p:nvSpPr>
        <p:spPr>
          <a:xfrm>
            <a:off x="8092440" y="1645920"/>
            <a:ext cx="3520440" cy="2286000"/>
          </a:xfrm>
          <a:prstGeom prst="roundRect">
            <a:avLst>
              <a:gd name="adj" fmla="val 3200"/>
            </a:avLst>
          </a:prstGeom>
          <a:solidFill>
            <a:srgbClr val="17263C"/>
          </a:solidFill>
          <a:ln w="12700">
            <a:solidFill>
              <a:srgbClr val="1F3350"/>
            </a:solidFill>
            <a:prstDash val="solid"/>
          </a:ln>
        </p:spPr>
      </p:sp>
      <p:sp>
        <p:nvSpPr>
          <p:cNvPr id="16" name="Shape 14"/>
          <p:cNvSpPr/>
          <p:nvPr/>
        </p:nvSpPr>
        <p:spPr>
          <a:xfrm>
            <a:off x="8348472" y="1847088"/>
            <a:ext cx="420624" cy="420624"/>
          </a:xfrm>
          <a:prstGeom prst="ellipse">
            <a:avLst/>
          </a:prstGeom>
          <a:solidFill>
            <a:srgbClr val="2E86AB"/>
          </a:solidFill>
          <a:ln w="12700">
            <a:solidFill>
              <a:srgbClr val="2E86AB"/>
            </a:solidFill>
            <a:prstDash val="solid"/>
          </a:ln>
        </p:spPr>
      </p:sp>
      <p:sp>
        <p:nvSpPr>
          <p:cNvPr id="17" name="Text 15"/>
          <p:cNvSpPr/>
          <p:nvPr/>
        </p:nvSpPr>
        <p:spPr>
          <a:xfrm>
            <a:off x="8348472" y="1847088"/>
            <a:ext cx="420624" cy="420624"/>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348472" y="2377440"/>
            <a:ext cx="3017520" cy="292608"/>
          </a:xfrm>
          <a:prstGeom prst="rect">
            <a:avLst/>
          </a:prstGeom>
          <a:noFill/>
          <a:ln/>
        </p:spPr>
        <p:txBody>
          <a:bodyPr wrap="square" lIns="0" tIns="0" rIns="0" bIns="0" rtlCol="0" anchor="ctr"/>
          <a:lstStyle/>
          <a:p>
            <a:pPr algn="l" indent="0" marL="0">
              <a:buNone/>
            </a:pPr>
            <a:r>
              <a:rPr lang="en-US" sz="1450" b="1" dirty="0">
                <a:solidFill>
                  <a:srgbClr val="FFFFFF"/>
                </a:solidFill>
                <a:latin typeface="Calibri" pitchFamily="34" charset="0"/>
                <a:ea typeface="Calibri" pitchFamily="34" charset="-122"/>
                <a:cs typeface="Calibri" pitchFamily="34" charset="-120"/>
              </a:rPr>
              <a:t>Weather &amp; climate</a:t>
            </a:r>
            <a:endParaRPr lang="en-US" sz="1450" dirty="0"/>
          </a:p>
        </p:txBody>
      </p:sp>
      <p:sp>
        <p:nvSpPr>
          <p:cNvPr id="19" name="Text 17"/>
          <p:cNvSpPr/>
          <p:nvPr/>
        </p:nvSpPr>
        <p:spPr>
          <a:xfrm>
            <a:off x="8348472" y="2724912"/>
            <a:ext cx="3017520" cy="1097280"/>
          </a:xfrm>
          <a:prstGeom prst="rect">
            <a:avLst/>
          </a:prstGeom>
          <a:noFill/>
          <a:ln/>
        </p:spPr>
        <p:txBody>
          <a:bodyPr wrap="square" lIns="0" tIns="0" rIns="0" bIns="0" rtlCol="0" anchor="t"/>
          <a:lstStyle/>
          <a:p>
            <a:pPr algn="l" indent="0" marL="0">
              <a:lnSpc>
                <a:spcPct val="120000"/>
              </a:lnSpc>
              <a:buNone/>
            </a:pPr>
            <a:r>
              <a:rPr lang="en-US" sz="1050" dirty="0">
                <a:solidFill>
                  <a:srgbClr val="D6E4F0"/>
                </a:solidFill>
                <a:latin typeface="Calibri" pitchFamily="34" charset="0"/>
                <a:ea typeface="Calibri" pitchFamily="34" charset="-122"/>
                <a:cs typeface="Calibri" pitchFamily="34" charset="-120"/>
              </a:rPr>
              <a:t>233K hourly temperature records across 11 zones plus a three-year forward projection to June 2029 with a warming trend.</a:t>
            </a:r>
            <a:endParaRPr lang="en-US" sz="1050" dirty="0"/>
          </a:p>
        </p:txBody>
      </p:sp>
      <p:sp>
        <p:nvSpPr>
          <p:cNvPr id="20" name="Shape 18"/>
          <p:cNvSpPr/>
          <p:nvPr/>
        </p:nvSpPr>
        <p:spPr>
          <a:xfrm>
            <a:off x="548640" y="4160520"/>
            <a:ext cx="11064240" cy="1828800"/>
          </a:xfrm>
          <a:prstGeom prst="roundRect">
            <a:avLst>
              <a:gd name="adj" fmla="val 4000"/>
            </a:avLst>
          </a:prstGeom>
          <a:solidFill>
            <a:srgbClr val="1F3350"/>
          </a:solidFill>
          <a:ln w="12700">
            <a:solidFill>
              <a:srgbClr val="1F3350"/>
            </a:solidFill>
            <a:prstDash val="solid"/>
          </a:ln>
        </p:spPr>
      </p:sp>
      <p:sp>
        <p:nvSpPr>
          <p:cNvPr id="21" name="Text 19"/>
          <p:cNvSpPr/>
          <p:nvPr/>
        </p:nvSpPr>
        <p:spPr>
          <a:xfrm>
            <a:off x="822960" y="4334256"/>
            <a:ext cx="7315200" cy="292608"/>
          </a:xfrm>
          <a:prstGeom prst="rect">
            <a:avLst/>
          </a:prstGeom>
          <a:noFill/>
          <a:ln/>
        </p:spPr>
        <p:txBody>
          <a:bodyPr wrap="square" lIns="0" tIns="0" rIns="0" bIns="0" rtlCol="0" anchor="ctr"/>
          <a:lstStyle/>
          <a:p>
            <a:pPr algn="l" indent="0" marL="0">
              <a:buNone/>
            </a:pPr>
            <a:r>
              <a:rPr lang="en-US" sz="1500" b="1" dirty="0">
                <a:solidFill>
                  <a:srgbClr val="02C39A"/>
                </a:solidFill>
                <a:latin typeface="Calibri" pitchFamily="34" charset="0"/>
                <a:ea typeface="Calibri" pitchFamily="34" charset="-122"/>
                <a:cs typeface="Calibri" pitchFamily="34" charset="-120"/>
              </a:rPr>
              <a:t>The composite: load forecast stress testing</a:t>
            </a:r>
            <a:endParaRPr lang="en-US" sz="1500" dirty="0"/>
          </a:p>
        </p:txBody>
      </p:sp>
      <p:sp>
        <p:nvSpPr>
          <p:cNvPr id="22" name="Text 20"/>
          <p:cNvSpPr/>
          <p:nvPr/>
        </p:nvSpPr>
        <p:spPr>
          <a:xfrm>
            <a:off x="822960" y="4700016"/>
            <a:ext cx="10515600" cy="1188720"/>
          </a:xfrm>
          <a:prstGeom prst="rect">
            <a:avLst/>
          </a:prstGeom>
          <a:noFill/>
          <a:ln/>
        </p:spPr>
        <p:txBody>
          <a:bodyPr wrap="square" lIns="0" tIns="0" rIns="0" bIns="0" rtlCol="0" anchor="t"/>
          <a:lstStyle/>
          <a:p>
            <a:pPr algn="l" indent="0" marL="0">
              <a:lnSpc>
                <a:spcPct val="122000"/>
              </a:lnSpc>
              <a:buNone/>
            </a:pPr>
            <a:r>
              <a:rPr lang="en-US" sz="1100" dirty="0">
                <a:solidFill>
                  <a:srgbClr val="D6E4F0"/>
                </a:solidFill>
                <a:latin typeface="Calibri" pitchFamily="34" charset="0"/>
                <a:ea typeface="Calibri" pitchFamily="34" charset="-122"/>
                <a:cs typeface="Calibri" pitchFamily="34" charset="-120"/>
              </a:rPr>
              <a:t>A three-year daily load forecast (8,768 zone-days) decomposes demand into base, EV and data-centre components, built on an OLS regression against temperature and calendar effects with R² of 0.88–0.92 in the major zones.</a:t>
            </a:r>
            <a:endParaRPr lang="en-US" sz="1100" dirty="0"/>
          </a:p>
          <a:p>
            <a:pPr algn="l" indent="0" marL="0">
              <a:lnSpc>
                <a:spcPct val="122000"/>
              </a:lnSpc>
              <a:buNone/>
            </a:pPr>
            <a:endParaRPr lang="en-US" sz="1100" dirty="0"/>
          </a:p>
          <a:p>
            <a:pPr algn="l" indent="0" marL="0">
              <a:lnSpc>
                <a:spcPct val="122000"/>
              </a:lnSpc>
              <a:buNone/>
            </a:pPr>
            <a:r>
              <a:rPr lang="en-US" sz="1100" dirty="0">
                <a:solidFill>
                  <a:srgbClr val="D6E4F0"/>
                </a:solidFill>
                <a:latin typeface="Calibri" pitchFamily="34" charset="0"/>
                <a:ea typeface="Calibri" pitchFamily="34" charset="-122"/>
                <a:cs typeface="Calibri" pitchFamily="34" charset="-120"/>
              </a:rPr>
              <a:t>The forecast peak then feeds the power-flow solver directly — answering whether the grid holds under the demand the client is themselves about to add. That is the question every hyperscaler siting conversation now starts with.</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WHO PAYS FOR THIS</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Five buyers, five different questions</a:t>
            </a:r>
            <a:endParaRPr lang="en-US" sz="3000" dirty="0"/>
          </a:p>
        </p:txBody>
      </p:sp>
      <p:sp>
        <p:nvSpPr>
          <p:cNvPr id="4" name="Text 2"/>
          <p:cNvSpPr/>
          <p:nvPr/>
        </p:nvSpPr>
        <p:spPr>
          <a:xfrm>
            <a:off x="822960" y="1298448"/>
            <a:ext cx="2377440" cy="201168"/>
          </a:xfrm>
          <a:prstGeom prst="rect">
            <a:avLst/>
          </a:prstGeom>
          <a:noFill/>
          <a:ln/>
        </p:spPr>
        <p:txBody>
          <a:bodyPr wrap="square" lIns="0" tIns="0" rIns="0" bIns="0" rtlCol="0" anchor="ctr"/>
          <a:lstStyle/>
          <a:p>
            <a:pPr indent="0" marL="0">
              <a:buNone/>
            </a:pPr>
            <a:r>
              <a:rPr lang="en-US" sz="850" b="1" spc="150" kern="0" dirty="0">
                <a:solidFill>
                  <a:srgbClr val="5A6E85"/>
                </a:solidFill>
                <a:latin typeface="Calibri" pitchFamily="34" charset="0"/>
                <a:ea typeface="Calibri" pitchFamily="34" charset="-122"/>
                <a:cs typeface="Calibri" pitchFamily="34" charset="-120"/>
              </a:rPr>
              <a:t>BUYER</a:t>
            </a:r>
            <a:endParaRPr lang="en-US" sz="850" dirty="0"/>
          </a:p>
        </p:txBody>
      </p:sp>
      <p:sp>
        <p:nvSpPr>
          <p:cNvPr id="5" name="Text 3"/>
          <p:cNvSpPr/>
          <p:nvPr/>
        </p:nvSpPr>
        <p:spPr>
          <a:xfrm>
            <a:off x="3657600" y="1298448"/>
            <a:ext cx="4023360" cy="201168"/>
          </a:xfrm>
          <a:prstGeom prst="rect">
            <a:avLst/>
          </a:prstGeom>
          <a:noFill/>
          <a:ln/>
        </p:spPr>
        <p:txBody>
          <a:bodyPr wrap="square" lIns="0" tIns="0" rIns="0" bIns="0" rtlCol="0" anchor="ctr"/>
          <a:lstStyle/>
          <a:p>
            <a:pPr indent="0" marL="0">
              <a:buNone/>
            </a:pPr>
            <a:r>
              <a:rPr lang="en-US" sz="850" b="1" spc="150" kern="0" dirty="0">
                <a:solidFill>
                  <a:srgbClr val="5A6E85"/>
                </a:solidFill>
                <a:latin typeface="Calibri" pitchFamily="34" charset="0"/>
                <a:ea typeface="Calibri" pitchFamily="34" charset="-122"/>
                <a:cs typeface="Calibri" pitchFamily="34" charset="-120"/>
              </a:rPr>
              <a:t>THEIR QUESTION</a:t>
            </a:r>
            <a:endParaRPr lang="en-US" sz="850" dirty="0"/>
          </a:p>
        </p:txBody>
      </p:sp>
      <p:sp>
        <p:nvSpPr>
          <p:cNvPr id="6" name="Text 4"/>
          <p:cNvSpPr/>
          <p:nvPr/>
        </p:nvSpPr>
        <p:spPr>
          <a:xfrm>
            <a:off x="7955280" y="1298448"/>
            <a:ext cx="3657600" cy="201168"/>
          </a:xfrm>
          <a:prstGeom prst="rect">
            <a:avLst/>
          </a:prstGeom>
          <a:noFill/>
          <a:ln/>
        </p:spPr>
        <p:txBody>
          <a:bodyPr wrap="square" lIns="0" tIns="0" rIns="0" bIns="0" rtlCol="0" anchor="ctr"/>
          <a:lstStyle/>
          <a:p>
            <a:pPr indent="0" marL="0">
              <a:buNone/>
            </a:pPr>
            <a:r>
              <a:rPr lang="en-US" sz="850" b="1" spc="150" kern="0" dirty="0">
                <a:solidFill>
                  <a:srgbClr val="5A6E85"/>
                </a:solidFill>
                <a:latin typeface="Calibri" pitchFamily="34" charset="0"/>
                <a:ea typeface="Calibri" pitchFamily="34" charset="-122"/>
                <a:cs typeface="Calibri" pitchFamily="34" charset="-120"/>
              </a:rPr>
              <a:t>WHAT THEY USE</a:t>
            </a:r>
            <a:endParaRPr lang="en-US" sz="850" dirty="0"/>
          </a:p>
        </p:txBody>
      </p:sp>
      <p:sp>
        <p:nvSpPr>
          <p:cNvPr id="7" name="Shape 5"/>
          <p:cNvSpPr/>
          <p:nvPr/>
        </p:nvSpPr>
        <p:spPr>
          <a:xfrm>
            <a:off x="548640" y="1572768"/>
            <a:ext cx="11064240" cy="859536"/>
          </a:xfrm>
          <a:prstGeom prst="roundRect">
            <a:avLst>
              <a:gd name="adj" fmla="val 8511"/>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8" name="Shape 6"/>
          <p:cNvSpPr/>
          <p:nvPr/>
        </p:nvSpPr>
        <p:spPr>
          <a:xfrm>
            <a:off x="566928" y="1943100"/>
            <a:ext cx="118872" cy="118872"/>
          </a:xfrm>
          <a:prstGeom prst="ellipse">
            <a:avLst/>
          </a:prstGeom>
          <a:solidFill>
            <a:srgbClr val="02C39A"/>
          </a:solidFill>
          <a:ln w="12700">
            <a:solidFill>
              <a:srgbClr val="02C39A"/>
            </a:solidFill>
            <a:prstDash val="solid"/>
          </a:ln>
        </p:spPr>
      </p:sp>
      <p:sp>
        <p:nvSpPr>
          <p:cNvPr id="9" name="Text 7"/>
          <p:cNvSpPr/>
          <p:nvPr/>
        </p:nvSpPr>
        <p:spPr>
          <a:xfrm>
            <a:off x="822960" y="1719072"/>
            <a:ext cx="265176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Corporate energy buyer</a:t>
            </a:r>
            <a:endParaRPr lang="en-US" sz="1200" dirty="0"/>
          </a:p>
        </p:txBody>
      </p:sp>
      <p:sp>
        <p:nvSpPr>
          <p:cNvPr id="10" name="Text 8"/>
          <p:cNvSpPr/>
          <p:nvPr/>
        </p:nvSpPr>
        <p:spPr>
          <a:xfrm>
            <a:off x="822960" y="2029968"/>
            <a:ext cx="2651760" cy="274320"/>
          </a:xfrm>
          <a:prstGeom prst="rect">
            <a:avLst/>
          </a:prstGeom>
          <a:noFill/>
          <a:ln/>
        </p:spPr>
        <p:txBody>
          <a:bodyPr wrap="square" lIns="0" tIns="0" rIns="0" bIns="0" rtlCol="0" anchor="t"/>
          <a:lstStyle/>
          <a:p>
            <a:pPr algn="l" indent="0" marL="0">
              <a:lnSpc>
                <a:spcPct val="112000"/>
              </a:lnSpc>
              <a:buNone/>
            </a:pPr>
            <a:r>
              <a:rPr lang="en-US" sz="950" i="1" dirty="0">
                <a:solidFill>
                  <a:srgbClr val="5A6E85"/>
                </a:solidFill>
                <a:latin typeface="Calibri" pitchFamily="34" charset="0"/>
                <a:ea typeface="Calibri" pitchFamily="34" charset="-122"/>
                <a:cs typeface="Calibri" pitchFamily="34" charset="-120"/>
              </a:rPr>
              <a:t>Retail, manufacturing, hyperscalers</a:t>
            </a:r>
            <a:endParaRPr lang="en-US" sz="950" dirty="0"/>
          </a:p>
        </p:txBody>
      </p:sp>
      <p:sp>
        <p:nvSpPr>
          <p:cNvPr id="11" name="Text 9"/>
          <p:cNvSpPr/>
          <p:nvPr/>
        </p:nvSpPr>
        <p:spPr>
          <a:xfrm>
            <a:off x="3657600" y="1847088"/>
            <a:ext cx="4114800" cy="365760"/>
          </a:xfrm>
          <a:prstGeom prst="rect">
            <a:avLst/>
          </a:prstGeom>
          <a:noFill/>
          <a:ln/>
        </p:spPr>
        <p:txBody>
          <a:bodyPr wrap="square" lIns="0" tIns="0" rIns="0" bIns="0" rtlCol="0" anchor="t"/>
          <a:lstStyle/>
          <a:p>
            <a:pPr algn="l" indent="0" marL="0">
              <a:lnSpc>
                <a:spcPct val="112000"/>
              </a:lnSpc>
              <a:buNone/>
            </a:pPr>
            <a:r>
              <a:rPr lang="en-US" sz="1050" i="1" dirty="0">
                <a:solidFill>
                  <a:srgbClr val="02C39A"/>
                </a:solidFill>
                <a:latin typeface="Calibri" pitchFamily="34" charset="0"/>
                <a:ea typeface="Calibri" pitchFamily="34" charset="-122"/>
                <a:cs typeface="Calibri" pitchFamily="34" charset="-120"/>
              </a:rPr>
              <a:t>“Which PPA hits our RE100 target without basis surprises?”</a:t>
            </a:r>
            <a:endParaRPr lang="en-US" sz="1050" dirty="0"/>
          </a:p>
        </p:txBody>
      </p:sp>
      <p:sp>
        <p:nvSpPr>
          <p:cNvPr id="12" name="Text 10"/>
          <p:cNvSpPr/>
          <p:nvPr/>
        </p:nvSpPr>
        <p:spPr>
          <a:xfrm>
            <a:off x="7955280" y="1828800"/>
            <a:ext cx="3657600" cy="41148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Origination screening, capture price, VPPA NPV</a:t>
            </a:r>
            <a:endParaRPr lang="en-US" sz="1000" dirty="0"/>
          </a:p>
        </p:txBody>
      </p:sp>
      <p:sp>
        <p:nvSpPr>
          <p:cNvPr id="13" name="Shape 11"/>
          <p:cNvSpPr/>
          <p:nvPr/>
        </p:nvSpPr>
        <p:spPr>
          <a:xfrm>
            <a:off x="548640" y="2542032"/>
            <a:ext cx="11064240" cy="859536"/>
          </a:xfrm>
          <a:prstGeom prst="roundRect">
            <a:avLst>
              <a:gd name="adj" fmla="val 8511"/>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4" name="Shape 12"/>
          <p:cNvSpPr/>
          <p:nvPr/>
        </p:nvSpPr>
        <p:spPr>
          <a:xfrm>
            <a:off x="566928" y="2912364"/>
            <a:ext cx="118872" cy="118872"/>
          </a:xfrm>
          <a:prstGeom prst="ellipse">
            <a:avLst/>
          </a:prstGeom>
          <a:solidFill>
            <a:srgbClr val="2E86AB"/>
          </a:solidFill>
          <a:ln w="12700">
            <a:solidFill>
              <a:srgbClr val="2E86AB"/>
            </a:solidFill>
            <a:prstDash val="solid"/>
          </a:ln>
        </p:spPr>
      </p:sp>
      <p:sp>
        <p:nvSpPr>
          <p:cNvPr id="15" name="Text 13"/>
          <p:cNvSpPr/>
          <p:nvPr/>
        </p:nvSpPr>
        <p:spPr>
          <a:xfrm>
            <a:off x="822960" y="2688336"/>
            <a:ext cx="265176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Infrastructure / PE fund</a:t>
            </a:r>
            <a:endParaRPr lang="en-US" sz="1200" dirty="0"/>
          </a:p>
        </p:txBody>
      </p:sp>
      <p:sp>
        <p:nvSpPr>
          <p:cNvPr id="16" name="Text 14"/>
          <p:cNvSpPr/>
          <p:nvPr/>
        </p:nvSpPr>
        <p:spPr>
          <a:xfrm>
            <a:off x="822960" y="2999232"/>
            <a:ext cx="2651760" cy="274320"/>
          </a:xfrm>
          <a:prstGeom prst="rect">
            <a:avLst/>
          </a:prstGeom>
          <a:noFill/>
          <a:ln/>
        </p:spPr>
        <p:txBody>
          <a:bodyPr wrap="square" lIns="0" tIns="0" rIns="0" bIns="0" rtlCol="0" anchor="t"/>
          <a:lstStyle/>
          <a:p>
            <a:pPr algn="l" indent="0" marL="0">
              <a:lnSpc>
                <a:spcPct val="112000"/>
              </a:lnSpc>
              <a:buNone/>
            </a:pPr>
            <a:r>
              <a:rPr lang="en-US" sz="950" i="1" dirty="0">
                <a:solidFill>
                  <a:srgbClr val="5A6E85"/>
                </a:solidFill>
                <a:latin typeface="Calibri" pitchFamily="34" charset="0"/>
                <a:ea typeface="Calibri" pitchFamily="34" charset="-122"/>
                <a:cs typeface="Calibri" pitchFamily="34" charset="-120"/>
              </a:rPr>
              <a:t>Renewables platform investors</a:t>
            </a:r>
            <a:endParaRPr lang="en-US" sz="950" dirty="0"/>
          </a:p>
        </p:txBody>
      </p:sp>
      <p:sp>
        <p:nvSpPr>
          <p:cNvPr id="17" name="Text 15"/>
          <p:cNvSpPr/>
          <p:nvPr/>
        </p:nvSpPr>
        <p:spPr>
          <a:xfrm>
            <a:off x="3657600" y="2816352"/>
            <a:ext cx="4114800" cy="365760"/>
          </a:xfrm>
          <a:prstGeom prst="rect">
            <a:avLst/>
          </a:prstGeom>
          <a:noFill/>
          <a:ln/>
        </p:spPr>
        <p:txBody>
          <a:bodyPr wrap="square" lIns="0" tIns="0" rIns="0" bIns="0" rtlCol="0" anchor="t"/>
          <a:lstStyle/>
          <a:p>
            <a:pPr algn="l" indent="0" marL="0">
              <a:lnSpc>
                <a:spcPct val="112000"/>
              </a:lnSpc>
              <a:buNone/>
            </a:pPr>
            <a:r>
              <a:rPr lang="en-US" sz="1050" i="1" dirty="0">
                <a:solidFill>
                  <a:srgbClr val="2E86AB"/>
                </a:solidFill>
                <a:latin typeface="Calibri" pitchFamily="34" charset="0"/>
                <a:ea typeface="Calibri" pitchFamily="34" charset="-122"/>
                <a:cs typeface="Calibri" pitchFamily="34" charset="-120"/>
              </a:rPr>
              <a:t>“Is this portfolio's revenue assumption defensible?”</a:t>
            </a:r>
            <a:endParaRPr lang="en-US" sz="1050" dirty="0"/>
          </a:p>
        </p:txBody>
      </p:sp>
      <p:sp>
        <p:nvSpPr>
          <p:cNvPr id="18" name="Text 16"/>
          <p:cNvSpPr/>
          <p:nvPr/>
        </p:nvSpPr>
        <p:spPr>
          <a:xfrm>
            <a:off x="7955280" y="2798064"/>
            <a:ext cx="3657600" cy="41148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Basis backtest, capture rate, merchant upside objective</a:t>
            </a:r>
            <a:endParaRPr lang="en-US" sz="1000" dirty="0"/>
          </a:p>
        </p:txBody>
      </p:sp>
      <p:sp>
        <p:nvSpPr>
          <p:cNvPr id="19" name="Shape 17"/>
          <p:cNvSpPr/>
          <p:nvPr/>
        </p:nvSpPr>
        <p:spPr>
          <a:xfrm>
            <a:off x="548640" y="3511296"/>
            <a:ext cx="11064240" cy="859536"/>
          </a:xfrm>
          <a:prstGeom prst="roundRect">
            <a:avLst>
              <a:gd name="adj" fmla="val 8511"/>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0" name="Shape 18"/>
          <p:cNvSpPr/>
          <p:nvPr/>
        </p:nvSpPr>
        <p:spPr>
          <a:xfrm>
            <a:off x="566928" y="3881628"/>
            <a:ext cx="118872" cy="118872"/>
          </a:xfrm>
          <a:prstGeom prst="ellipse">
            <a:avLst/>
          </a:prstGeom>
          <a:solidFill>
            <a:srgbClr val="E8A33D"/>
          </a:solidFill>
          <a:ln w="12700">
            <a:solidFill>
              <a:srgbClr val="E8A33D"/>
            </a:solidFill>
            <a:prstDash val="solid"/>
          </a:ln>
        </p:spPr>
      </p:sp>
      <p:sp>
        <p:nvSpPr>
          <p:cNvPr id="21" name="Text 19"/>
          <p:cNvSpPr/>
          <p:nvPr/>
        </p:nvSpPr>
        <p:spPr>
          <a:xfrm>
            <a:off x="822960" y="3657600"/>
            <a:ext cx="265176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Utility / IPP</a:t>
            </a:r>
            <a:endParaRPr lang="en-US" sz="1200" dirty="0"/>
          </a:p>
        </p:txBody>
      </p:sp>
      <p:sp>
        <p:nvSpPr>
          <p:cNvPr id="22" name="Text 20"/>
          <p:cNvSpPr/>
          <p:nvPr/>
        </p:nvSpPr>
        <p:spPr>
          <a:xfrm>
            <a:off x="822960" y="3968496"/>
            <a:ext cx="2651760" cy="274320"/>
          </a:xfrm>
          <a:prstGeom prst="rect">
            <a:avLst/>
          </a:prstGeom>
          <a:noFill/>
          <a:ln/>
        </p:spPr>
        <p:txBody>
          <a:bodyPr wrap="square" lIns="0" tIns="0" rIns="0" bIns="0" rtlCol="0" anchor="t"/>
          <a:lstStyle/>
          <a:p>
            <a:pPr algn="l" indent="0" marL="0">
              <a:lnSpc>
                <a:spcPct val="112000"/>
              </a:lnSpc>
              <a:buNone/>
            </a:pPr>
            <a:r>
              <a:rPr lang="en-US" sz="950" i="1" dirty="0">
                <a:solidFill>
                  <a:srgbClr val="5A6E85"/>
                </a:solidFill>
                <a:latin typeface="Calibri" pitchFamily="34" charset="0"/>
                <a:ea typeface="Calibri" pitchFamily="34" charset="-122"/>
                <a:cs typeface="Calibri" pitchFamily="34" charset="-120"/>
              </a:rPr>
              <a:t>Generation owners and developers</a:t>
            </a:r>
            <a:endParaRPr lang="en-US" sz="950" dirty="0"/>
          </a:p>
        </p:txBody>
      </p:sp>
      <p:sp>
        <p:nvSpPr>
          <p:cNvPr id="23" name="Text 21"/>
          <p:cNvSpPr/>
          <p:nvPr/>
        </p:nvSpPr>
        <p:spPr>
          <a:xfrm>
            <a:off x="3657600" y="3785616"/>
            <a:ext cx="4114800" cy="365760"/>
          </a:xfrm>
          <a:prstGeom prst="rect">
            <a:avLst/>
          </a:prstGeom>
          <a:noFill/>
          <a:ln/>
        </p:spPr>
        <p:txBody>
          <a:bodyPr wrap="square" lIns="0" tIns="0" rIns="0" bIns="0" rtlCol="0" anchor="t"/>
          <a:lstStyle/>
          <a:p>
            <a:pPr algn="l" indent="0" marL="0">
              <a:lnSpc>
                <a:spcPct val="112000"/>
              </a:lnSpc>
              <a:buNone/>
            </a:pPr>
            <a:r>
              <a:rPr lang="en-US" sz="1050" i="1" dirty="0">
                <a:solidFill>
                  <a:srgbClr val="E8A33D"/>
                </a:solidFill>
                <a:latin typeface="Calibri" pitchFamily="34" charset="0"/>
                <a:ea typeface="Calibri" pitchFamily="34" charset="-122"/>
                <a:cs typeface="Calibri" pitchFamily="34" charset="-120"/>
              </a:rPr>
              <a:t>“Where do we build, and what does congestion cost us?”</a:t>
            </a:r>
            <a:endParaRPr lang="en-US" sz="1050" dirty="0"/>
          </a:p>
        </p:txBody>
      </p:sp>
      <p:sp>
        <p:nvSpPr>
          <p:cNvPr id="24" name="Text 22"/>
          <p:cNvSpPr/>
          <p:nvPr/>
        </p:nvSpPr>
        <p:spPr>
          <a:xfrm>
            <a:off x="7955280" y="3767328"/>
            <a:ext cx="3657600" cy="41148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Siting, queue depth, transmission relief, expansion</a:t>
            </a:r>
            <a:endParaRPr lang="en-US" sz="1000" dirty="0"/>
          </a:p>
        </p:txBody>
      </p:sp>
      <p:sp>
        <p:nvSpPr>
          <p:cNvPr id="25" name="Shape 23"/>
          <p:cNvSpPr/>
          <p:nvPr/>
        </p:nvSpPr>
        <p:spPr>
          <a:xfrm>
            <a:off x="548640" y="4480560"/>
            <a:ext cx="11064240" cy="859536"/>
          </a:xfrm>
          <a:prstGeom prst="roundRect">
            <a:avLst>
              <a:gd name="adj" fmla="val 8511"/>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6" name="Shape 24"/>
          <p:cNvSpPr/>
          <p:nvPr/>
        </p:nvSpPr>
        <p:spPr>
          <a:xfrm>
            <a:off x="566928" y="4850892"/>
            <a:ext cx="118872" cy="118872"/>
          </a:xfrm>
          <a:prstGeom prst="ellipse">
            <a:avLst/>
          </a:prstGeom>
          <a:solidFill>
            <a:srgbClr val="D9544D"/>
          </a:solidFill>
          <a:ln w="12700">
            <a:solidFill>
              <a:srgbClr val="D9544D"/>
            </a:solidFill>
            <a:prstDash val="solid"/>
          </a:ln>
        </p:spPr>
      </p:sp>
      <p:sp>
        <p:nvSpPr>
          <p:cNvPr id="27" name="Text 25"/>
          <p:cNvSpPr/>
          <p:nvPr/>
        </p:nvSpPr>
        <p:spPr>
          <a:xfrm>
            <a:off x="822960" y="4626864"/>
            <a:ext cx="265176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Data-centre developer</a:t>
            </a:r>
            <a:endParaRPr lang="en-US" sz="1200" dirty="0"/>
          </a:p>
        </p:txBody>
      </p:sp>
      <p:sp>
        <p:nvSpPr>
          <p:cNvPr id="28" name="Text 26"/>
          <p:cNvSpPr/>
          <p:nvPr/>
        </p:nvSpPr>
        <p:spPr>
          <a:xfrm>
            <a:off x="822960" y="4937760"/>
            <a:ext cx="2651760" cy="274320"/>
          </a:xfrm>
          <a:prstGeom prst="rect">
            <a:avLst/>
          </a:prstGeom>
          <a:noFill/>
          <a:ln/>
        </p:spPr>
        <p:txBody>
          <a:bodyPr wrap="square" lIns="0" tIns="0" rIns="0" bIns="0" rtlCol="0" anchor="t"/>
          <a:lstStyle/>
          <a:p>
            <a:pPr algn="l" indent="0" marL="0">
              <a:lnSpc>
                <a:spcPct val="112000"/>
              </a:lnSpc>
              <a:buNone/>
            </a:pPr>
            <a:r>
              <a:rPr lang="en-US" sz="950" i="1" dirty="0">
                <a:solidFill>
                  <a:srgbClr val="5A6E85"/>
                </a:solidFill>
                <a:latin typeface="Calibri" pitchFamily="34" charset="0"/>
                <a:ea typeface="Calibri" pitchFamily="34" charset="-122"/>
                <a:cs typeface="Calibri" pitchFamily="34" charset="-120"/>
              </a:rPr>
              <a:t>Hyperscale and colocation</a:t>
            </a:r>
            <a:endParaRPr lang="en-US" sz="950" dirty="0"/>
          </a:p>
        </p:txBody>
      </p:sp>
      <p:sp>
        <p:nvSpPr>
          <p:cNvPr id="29" name="Text 27"/>
          <p:cNvSpPr/>
          <p:nvPr/>
        </p:nvSpPr>
        <p:spPr>
          <a:xfrm>
            <a:off x="3657600" y="4754880"/>
            <a:ext cx="4114800" cy="365760"/>
          </a:xfrm>
          <a:prstGeom prst="rect">
            <a:avLst/>
          </a:prstGeom>
          <a:noFill/>
          <a:ln/>
        </p:spPr>
        <p:txBody>
          <a:bodyPr wrap="square" lIns="0" tIns="0" rIns="0" bIns="0" rtlCol="0" anchor="t"/>
          <a:lstStyle/>
          <a:p>
            <a:pPr algn="l" indent="0" marL="0">
              <a:lnSpc>
                <a:spcPct val="112000"/>
              </a:lnSpc>
              <a:buNone/>
            </a:pPr>
            <a:r>
              <a:rPr lang="en-US" sz="1050" i="1" dirty="0">
                <a:solidFill>
                  <a:srgbClr val="D9544D"/>
                </a:solidFill>
                <a:latin typeface="Calibri" pitchFamily="34" charset="0"/>
                <a:ea typeface="Calibri" pitchFamily="34" charset="-122"/>
                <a:cs typeface="Calibri" pitchFamily="34" charset="-120"/>
              </a:rPr>
              <a:t>“Where is there power, and will the grid hold?”</a:t>
            </a:r>
            <a:endParaRPr lang="en-US" sz="1050" dirty="0"/>
          </a:p>
        </p:txBody>
      </p:sp>
      <p:sp>
        <p:nvSpPr>
          <p:cNvPr id="30" name="Text 28"/>
          <p:cNvSpPr/>
          <p:nvPr/>
        </p:nvSpPr>
        <p:spPr>
          <a:xfrm>
            <a:off x="7955280" y="4736592"/>
            <a:ext cx="3657600" cy="41148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Load forecast, scarcity stress test, queue analysis</a:t>
            </a:r>
            <a:endParaRPr lang="en-US" sz="1000" dirty="0"/>
          </a:p>
        </p:txBody>
      </p:sp>
      <p:sp>
        <p:nvSpPr>
          <p:cNvPr id="31" name="Shape 29"/>
          <p:cNvSpPr/>
          <p:nvPr/>
        </p:nvSpPr>
        <p:spPr>
          <a:xfrm>
            <a:off x="548640" y="5449824"/>
            <a:ext cx="11064240" cy="859536"/>
          </a:xfrm>
          <a:prstGeom prst="roundRect">
            <a:avLst>
              <a:gd name="adj" fmla="val 8511"/>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32" name="Shape 30"/>
          <p:cNvSpPr/>
          <p:nvPr/>
        </p:nvSpPr>
        <p:spPr>
          <a:xfrm>
            <a:off x="566928" y="5820156"/>
            <a:ext cx="118872" cy="118872"/>
          </a:xfrm>
          <a:prstGeom prst="ellipse">
            <a:avLst/>
          </a:prstGeom>
          <a:solidFill>
            <a:srgbClr val="3FA372"/>
          </a:solidFill>
          <a:ln w="12700">
            <a:solidFill>
              <a:srgbClr val="3FA372"/>
            </a:solidFill>
            <a:prstDash val="solid"/>
          </a:ln>
        </p:spPr>
      </p:sp>
      <p:sp>
        <p:nvSpPr>
          <p:cNvPr id="33" name="Text 31"/>
          <p:cNvSpPr/>
          <p:nvPr/>
        </p:nvSpPr>
        <p:spPr>
          <a:xfrm>
            <a:off x="822960" y="5596128"/>
            <a:ext cx="2651760" cy="274320"/>
          </a:xfrm>
          <a:prstGeom prst="rect">
            <a:avLst/>
          </a:prstGeom>
          <a:noFill/>
          <a:ln/>
        </p:spPr>
        <p:txBody>
          <a:bodyPr wrap="square" lIns="0" tIns="0" rIns="0" bIns="0" rtlCol="0" anchor="t"/>
          <a:lstStyle/>
          <a:p>
            <a:pPr algn="l" indent="0" marL="0">
              <a:lnSpc>
                <a:spcPct val="112000"/>
              </a:lnSpc>
              <a:buNone/>
            </a:pPr>
            <a:r>
              <a:rPr lang="en-US" sz="1200" b="1" dirty="0">
                <a:solidFill>
                  <a:srgbClr val="0E1A2B"/>
                </a:solidFill>
                <a:latin typeface="Calibri" pitchFamily="34" charset="0"/>
                <a:ea typeface="Calibri" pitchFamily="34" charset="-122"/>
                <a:cs typeface="Calibri" pitchFamily="34" charset="-120"/>
              </a:rPr>
              <a:t>Trading / origination desk</a:t>
            </a:r>
            <a:endParaRPr lang="en-US" sz="1200" dirty="0"/>
          </a:p>
        </p:txBody>
      </p:sp>
      <p:sp>
        <p:nvSpPr>
          <p:cNvPr id="34" name="Text 32"/>
          <p:cNvSpPr/>
          <p:nvPr/>
        </p:nvSpPr>
        <p:spPr>
          <a:xfrm>
            <a:off x="822960" y="5907024"/>
            <a:ext cx="2651760" cy="274320"/>
          </a:xfrm>
          <a:prstGeom prst="rect">
            <a:avLst/>
          </a:prstGeom>
          <a:noFill/>
          <a:ln/>
        </p:spPr>
        <p:txBody>
          <a:bodyPr wrap="square" lIns="0" tIns="0" rIns="0" bIns="0" rtlCol="0" anchor="t"/>
          <a:lstStyle/>
          <a:p>
            <a:pPr algn="l" indent="0" marL="0">
              <a:lnSpc>
                <a:spcPct val="112000"/>
              </a:lnSpc>
              <a:buNone/>
            </a:pPr>
            <a:r>
              <a:rPr lang="en-US" sz="950" i="1" dirty="0">
                <a:solidFill>
                  <a:srgbClr val="5A6E85"/>
                </a:solidFill>
                <a:latin typeface="Calibri" pitchFamily="34" charset="0"/>
                <a:ea typeface="Calibri" pitchFamily="34" charset="-122"/>
                <a:cs typeface="Calibri" pitchFamily="34" charset="-120"/>
              </a:rPr>
              <a:t>Merchant and structured desks</a:t>
            </a:r>
            <a:endParaRPr lang="en-US" sz="950" dirty="0"/>
          </a:p>
        </p:txBody>
      </p:sp>
      <p:sp>
        <p:nvSpPr>
          <p:cNvPr id="35" name="Text 33"/>
          <p:cNvSpPr/>
          <p:nvPr/>
        </p:nvSpPr>
        <p:spPr>
          <a:xfrm>
            <a:off x="3657600" y="5724144"/>
            <a:ext cx="4114800" cy="365760"/>
          </a:xfrm>
          <a:prstGeom prst="rect">
            <a:avLst/>
          </a:prstGeom>
          <a:noFill/>
          <a:ln/>
        </p:spPr>
        <p:txBody>
          <a:bodyPr wrap="square" lIns="0" tIns="0" rIns="0" bIns="0" rtlCol="0" anchor="t"/>
          <a:lstStyle/>
          <a:p>
            <a:pPr algn="l" indent="0" marL="0">
              <a:lnSpc>
                <a:spcPct val="112000"/>
              </a:lnSpc>
              <a:buNone/>
            </a:pPr>
            <a:r>
              <a:rPr lang="en-US" sz="1050" i="1" dirty="0">
                <a:solidFill>
                  <a:srgbClr val="3FA372"/>
                </a:solidFill>
                <a:latin typeface="Calibri" pitchFamily="34" charset="0"/>
                <a:ea typeface="Calibri" pitchFamily="34" charset="-122"/>
                <a:cs typeface="Calibri" pitchFamily="34" charset="-120"/>
              </a:rPr>
              <a:t>“Where is the nodal basis mispriced?”</a:t>
            </a:r>
            <a:endParaRPr lang="en-US" sz="1050" dirty="0"/>
          </a:p>
        </p:txBody>
      </p:sp>
      <p:sp>
        <p:nvSpPr>
          <p:cNvPr id="36" name="Text 34"/>
          <p:cNvSpPr/>
          <p:nvPr/>
        </p:nvSpPr>
        <p:spPr>
          <a:xfrm>
            <a:off x="7955280" y="5705856"/>
            <a:ext cx="3657600" cy="41148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Congestion intelligence, heat-rate options, nodal spreads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02C39A"/>
                </a:solidFill>
                <a:latin typeface="Calibri" pitchFamily="34" charset="0"/>
                <a:ea typeface="Calibri" pitchFamily="34" charset="-122"/>
                <a:cs typeface="Calibri" pitchFamily="34" charset="-120"/>
              </a:rPr>
              <a:t>COMMERCIAL MODEL</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Five ways PwC monetises this</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02C39A"/>
                </a:solidFill>
                <a:latin typeface="Calibri" pitchFamily="34" charset="0"/>
                <a:ea typeface="Calibri" pitchFamily="34" charset="-122"/>
                <a:cs typeface="Calibri" pitchFamily="34" charset="-120"/>
              </a:rPr>
              <a:t>The platform is the door-opener; the services are the revenue</a:t>
            </a:r>
            <a:endParaRPr lang="en-US" sz="1350" dirty="0"/>
          </a:p>
        </p:txBody>
      </p:sp>
      <p:sp>
        <p:nvSpPr>
          <p:cNvPr id="5" name="Shape 3"/>
          <p:cNvSpPr/>
          <p:nvPr/>
        </p:nvSpPr>
        <p:spPr>
          <a:xfrm>
            <a:off x="548640" y="1645920"/>
            <a:ext cx="11064240" cy="804672"/>
          </a:xfrm>
          <a:prstGeom prst="roundRect">
            <a:avLst>
              <a:gd name="adj" fmla="val 9091"/>
            </a:avLst>
          </a:prstGeom>
          <a:solidFill>
            <a:srgbClr val="17263C"/>
          </a:solidFill>
          <a:ln w="12700">
            <a:solidFill>
              <a:srgbClr val="1F3350"/>
            </a:solidFill>
            <a:prstDash val="solid"/>
          </a:ln>
        </p:spPr>
      </p:sp>
      <p:sp>
        <p:nvSpPr>
          <p:cNvPr id="6" name="Shape 4"/>
          <p:cNvSpPr/>
          <p:nvPr/>
        </p:nvSpPr>
        <p:spPr>
          <a:xfrm>
            <a:off x="566928" y="1988820"/>
            <a:ext cx="118872" cy="118872"/>
          </a:xfrm>
          <a:prstGeom prst="ellipse">
            <a:avLst/>
          </a:prstGeom>
          <a:solidFill>
            <a:srgbClr val="02C39A"/>
          </a:solidFill>
          <a:ln w="12700">
            <a:solidFill>
              <a:srgbClr val="02C39A"/>
            </a:solidFill>
            <a:prstDash val="solid"/>
          </a:ln>
        </p:spPr>
      </p:sp>
      <p:sp>
        <p:nvSpPr>
          <p:cNvPr id="7" name="Text 5"/>
          <p:cNvSpPr/>
          <p:nvPr/>
        </p:nvSpPr>
        <p:spPr>
          <a:xfrm>
            <a:off x="822960" y="1792224"/>
            <a:ext cx="265176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Diagnostic</a:t>
            </a:r>
            <a:endParaRPr lang="en-US" sz="1250" dirty="0"/>
          </a:p>
        </p:txBody>
      </p:sp>
      <p:sp>
        <p:nvSpPr>
          <p:cNvPr id="8" name="Text 6"/>
          <p:cNvSpPr/>
          <p:nvPr/>
        </p:nvSpPr>
        <p:spPr>
          <a:xfrm>
            <a:off x="822960" y="2103120"/>
            <a:ext cx="2651760" cy="256032"/>
          </a:xfrm>
          <a:prstGeom prst="rect">
            <a:avLst/>
          </a:prstGeom>
          <a:noFill/>
          <a:ln/>
        </p:spPr>
        <p:txBody>
          <a:bodyPr wrap="square" lIns="0" tIns="0" rIns="0" bIns="0" rtlCol="0" anchor="t"/>
          <a:lstStyle/>
          <a:p>
            <a:pPr algn="l" indent="0" marL="0">
              <a:lnSpc>
                <a:spcPct val="112000"/>
              </a:lnSpc>
              <a:buNone/>
            </a:pPr>
            <a:r>
              <a:rPr lang="en-US" sz="950" i="1" dirty="0">
                <a:solidFill>
                  <a:srgbClr val="02C39A"/>
                </a:solidFill>
                <a:latin typeface="Calibri" pitchFamily="34" charset="0"/>
                <a:ea typeface="Calibri" pitchFamily="34" charset="-122"/>
                <a:cs typeface="Calibri" pitchFamily="34" charset="-120"/>
              </a:rPr>
              <a:t>2–6 weeks</a:t>
            </a:r>
            <a:endParaRPr lang="en-US" sz="950" dirty="0"/>
          </a:p>
        </p:txBody>
      </p:sp>
      <p:sp>
        <p:nvSpPr>
          <p:cNvPr id="9" name="Text 7"/>
          <p:cNvSpPr/>
          <p:nvPr/>
        </p:nvSpPr>
        <p:spPr>
          <a:xfrm>
            <a:off x="3657600" y="1865376"/>
            <a:ext cx="7772400" cy="502920"/>
          </a:xfrm>
          <a:prstGeom prst="rect">
            <a:avLst/>
          </a:prstGeom>
          <a:noFill/>
          <a:ln/>
        </p:spPr>
        <p:txBody>
          <a:bodyPr wrap="square" lIns="0" tIns="0" rIns="0" bIns="0" rtlCol="0" anchor="t"/>
          <a:lstStyle/>
          <a:p>
            <a:pPr algn="l" indent="0" marL="0">
              <a:lnSpc>
                <a:spcPct val="115000"/>
              </a:lnSpc>
              <a:buNone/>
            </a:pPr>
            <a:r>
              <a:rPr lang="en-US" sz="1050" dirty="0">
                <a:solidFill>
                  <a:srgbClr val="D6E4F0"/>
                </a:solidFill>
                <a:latin typeface="Calibri" pitchFamily="34" charset="0"/>
                <a:ea typeface="Calibri" pitchFamily="34" charset="-122"/>
                <a:cs typeface="Calibri" pitchFamily="34" charset="-120"/>
              </a:rPr>
              <a:t>Basis and curtailment exposure review of a client's existing PPA book. Low-friction entry, produces a board-ready finding.</a:t>
            </a:r>
            <a:endParaRPr lang="en-US" sz="1050" dirty="0"/>
          </a:p>
        </p:txBody>
      </p:sp>
      <p:sp>
        <p:nvSpPr>
          <p:cNvPr id="10" name="Shape 8"/>
          <p:cNvSpPr/>
          <p:nvPr/>
        </p:nvSpPr>
        <p:spPr>
          <a:xfrm>
            <a:off x="548640" y="2560320"/>
            <a:ext cx="11064240" cy="804672"/>
          </a:xfrm>
          <a:prstGeom prst="roundRect">
            <a:avLst>
              <a:gd name="adj" fmla="val 9091"/>
            </a:avLst>
          </a:prstGeom>
          <a:solidFill>
            <a:srgbClr val="17263C"/>
          </a:solidFill>
          <a:ln w="12700">
            <a:solidFill>
              <a:srgbClr val="1F3350"/>
            </a:solidFill>
            <a:prstDash val="solid"/>
          </a:ln>
        </p:spPr>
      </p:sp>
      <p:sp>
        <p:nvSpPr>
          <p:cNvPr id="11" name="Shape 9"/>
          <p:cNvSpPr/>
          <p:nvPr/>
        </p:nvSpPr>
        <p:spPr>
          <a:xfrm>
            <a:off x="566928" y="2903220"/>
            <a:ext cx="118872" cy="118872"/>
          </a:xfrm>
          <a:prstGeom prst="ellipse">
            <a:avLst/>
          </a:prstGeom>
          <a:solidFill>
            <a:srgbClr val="2E86AB"/>
          </a:solidFill>
          <a:ln w="12700">
            <a:solidFill>
              <a:srgbClr val="2E86AB"/>
            </a:solidFill>
            <a:prstDash val="solid"/>
          </a:ln>
        </p:spPr>
      </p:sp>
      <p:sp>
        <p:nvSpPr>
          <p:cNvPr id="12" name="Text 10"/>
          <p:cNvSpPr/>
          <p:nvPr/>
        </p:nvSpPr>
        <p:spPr>
          <a:xfrm>
            <a:off x="822960" y="2706624"/>
            <a:ext cx="265176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Deal support</a:t>
            </a:r>
            <a:endParaRPr lang="en-US" sz="1250" dirty="0"/>
          </a:p>
        </p:txBody>
      </p:sp>
      <p:sp>
        <p:nvSpPr>
          <p:cNvPr id="13" name="Text 11"/>
          <p:cNvSpPr/>
          <p:nvPr/>
        </p:nvSpPr>
        <p:spPr>
          <a:xfrm>
            <a:off x="822960" y="3017520"/>
            <a:ext cx="2651760" cy="256032"/>
          </a:xfrm>
          <a:prstGeom prst="rect">
            <a:avLst/>
          </a:prstGeom>
          <a:noFill/>
          <a:ln/>
        </p:spPr>
        <p:txBody>
          <a:bodyPr wrap="square" lIns="0" tIns="0" rIns="0" bIns="0" rtlCol="0" anchor="t"/>
          <a:lstStyle/>
          <a:p>
            <a:pPr algn="l" indent="0" marL="0">
              <a:lnSpc>
                <a:spcPct val="112000"/>
              </a:lnSpc>
              <a:buNone/>
            </a:pPr>
            <a:r>
              <a:rPr lang="en-US" sz="950" i="1" dirty="0">
                <a:solidFill>
                  <a:srgbClr val="2E86AB"/>
                </a:solidFill>
                <a:latin typeface="Calibri" pitchFamily="34" charset="0"/>
                <a:ea typeface="Calibri" pitchFamily="34" charset="-122"/>
                <a:cs typeface="Calibri" pitchFamily="34" charset="-120"/>
              </a:rPr>
              <a:t>Per transaction</a:t>
            </a:r>
            <a:endParaRPr lang="en-US" sz="950" dirty="0"/>
          </a:p>
        </p:txBody>
      </p:sp>
      <p:sp>
        <p:nvSpPr>
          <p:cNvPr id="14" name="Text 12"/>
          <p:cNvSpPr/>
          <p:nvPr/>
        </p:nvSpPr>
        <p:spPr>
          <a:xfrm>
            <a:off x="3657600" y="2779776"/>
            <a:ext cx="7772400" cy="502920"/>
          </a:xfrm>
          <a:prstGeom prst="rect">
            <a:avLst/>
          </a:prstGeom>
          <a:noFill/>
          <a:ln/>
        </p:spPr>
        <p:txBody>
          <a:bodyPr wrap="square" lIns="0" tIns="0" rIns="0" bIns="0" rtlCol="0" anchor="t"/>
          <a:lstStyle/>
          <a:p>
            <a:pPr algn="l" indent="0" marL="0">
              <a:lnSpc>
                <a:spcPct val="115000"/>
              </a:lnSpc>
              <a:buNone/>
            </a:pPr>
            <a:r>
              <a:rPr lang="en-US" sz="1050" dirty="0">
                <a:solidFill>
                  <a:srgbClr val="D6E4F0"/>
                </a:solidFill>
                <a:latin typeface="Calibri" pitchFamily="34" charset="0"/>
                <a:ea typeface="Calibri" pitchFamily="34" charset="-122"/>
                <a:cs typeface="Calibri" pitchFamily="34" charset="-120"/>
              </a:rPr>
              <a:t>Independent revenue-assumption validation in renewables M&amp;A and portfolio diligence. Priced against deal value.</a:t>
            </a:r>
            <a:endParaRPr lang="en-US" sz="1050" dirty="0"/>
          </a:p>
        </p:txBody>
      </p:sp>
      <p:sp>
        <p:nvSpPr>
          <p:cNvPr id="15" name="Shape 13"/>
          <p:cNvSpPr/>
          <p:nvPr/>
        </p:nvSpPr>
        <p:spPr>
          <a:xfrm>
            <a:off x="548640" y="3474720"/>
            <a:ext cx="11064240" cy="804672"/>
          </a:xfrm>
          <a:prstGeom prst="roundRect">
            <a:avLst>
              <a:gd name="adj" fmla="val 9091"/>
            </a:avLst>
          </a:prstGeom>
          <a:solidFill>
            <a:srgbClr val="17263C"/>
          </a:solidFill>
          <a:ln w="12700">
            <a:solidFill>
              <a:srgbClr val="1F3350"/>
            </a:solidFill>
            <a:prstDash val="solid"/>
          </a:ln>
        </p:spPr>
      </p:sp>
      <p:sp>
        <p:nvSpPr>
          <p:cNvPr id="16" name="Shape 14"/>
          <p:cNvSpPr/>
          <p:nvPr/>
        </p:nvSpPr>
        <p:spPr>
          <a:xfrm>
            <a:off x="566928" y="3817620"/>
            <a:ext cx="118872" cy="118872"/>
          </a:xfrm>
          <a:prstGeom prst="ellipse">
            <a:avLst/>
          </a:prstGeom>
          <a:solidFill>
            <a:srgbClr val="E8A33D"/>
          </a:solidFill>
          <a:ln w="12700">
            <a:solidFill>
              <a:srgbClr val="E8A33D"/>
            </a:solidFill>
            <a:prstDash val="solid"/>
          </a:ln>
        </p:spPr>
      </p:sp>
      <p:sp>
        <p:nvSpPr>
          <p:cNvPr id="17" name="Text 15"/>
          <p:cNvSpPr/>
          <p:nvPr/>
        </p:nvSpPr>
        <p:spPr>
          <a:xfrm>
            <a:off x="822960" y="3621024"/>
            <a:ext cx="265176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Platform implementation</a:t>
            </a:r>
            <a:endParaRPr lang="en-US" sz="1250" dirty="0"/>
          </a:p>
        </p:txBody>
      </p:sp>
      <p:sp>
        <p:nvSpPr>
          <p:cNvPr id="18" name="Text 16"/>
          <p:cNvSpPr/>
          <p:nvPr/>
        </p:nvSpPr>
        <p:spPr>
          <a:xfrm>
            <a:off x="822960" y="3931920"/>
            <a:ext cx="2651760" cy="256032"/>
          </a:xfrm>
          <a:prstGeom prst="rect">
            <a:avLst/>
          </a:prstGeom>
          <a:noFill/>
          <a:ln/>
        </p:spPr>
        <p:txBody>
          <a:bodyPr wrap="square" lIns="0" tIns="0" rIns="0" bIns="0" rtlCol="0" anchor="t"/>
          <a:lstStyle/>
          <a:p>
            <a:pPr algn="l" indent="0" marL="0">
              <a:lnSpc>
                <a:spcPct val="112000"/>
              </a:lnSpc>
              <a:buNone/>
            </a:pPr>
            <a:r>
              <a:rPr lang="en-US" sz="950" i="1" dirty="0">
                <a:solidFill>
                  <a:srgbClr val="E8A33D"/>
                </a:solidFill>
                <a:latin typeface="Calibri" pitchFamily="34" charset="0"/>
                <a:ea typeface="Calibri" pitchFamily="34" charset="-122"/>
                <a:cs typeface="Calibri" pitchFamily="34" charset="-120"/>
              </a:rPr>
              <a:t>3–6 months</a:t>
            </a:r>
            <a:endParaRPr lang="en-US" sz="950" dirty="0"/>
          </a:p>
        </p:txBody>
      </p:sp>
      <p:sp>
        <p:nvSpPr>
          <p:cNvPr id="19" name="Text 17"/>
          <p:cNvSpPr/>
          <p:nvPr/>
        </p:nvSpPr>
        <p:spPr>
          <a:xfrm>
            <a:off x="3657600" y="3694176"/>
            <a:ext cx="7772400" cy="502920"/>
          </a:xfrm>
          <a:prstGeom prst="rect">
            <a:avLst/>
          </a:prstGeom>
          <a:noFill/>
          <a:ln/>
        </p:spPr>
        <p:txBody>
          <a:bodyPr wrap="square" lIns="0" tIns="0" rIns="0" bIns="0" rtlCol="0" anchor="t"/>
          <a:lstStyle/>
          <a:p>
            <a:pPr algn="l" indent="0" marL="0">
              <a:lnSpc>
                <a:spcPct val="115000"/>
              </a:lnSpc>
              <a:buNone/>
            </a:pPr>
            <a:r>
              <a:rPr lang="en-US" sz="1050" dirty="0">
                <a:solidFill>
                  <a:srgbClr val="D6E4F0"/>
                </a:solidFill>
                <a:latin typeface="Calibri" pitchFamily="34" charset="0"/>
                <a:ea typeface="Calibri" pitchFamily="34" charset="-122"/>
                <a:cs typeface="Calibri" pitchFamily="34" charset="-120"/>
              </a:rPr>
              <a:t>Deploy into the client's own Azure tenant with Fabric, Purview and Foundry. The deck-one architecture as a funded programme.</a:t>
            </a:r>
            <a:endParaRPr lang="en-US" sz="1050" dirty="0"/>
          </a:p>
        </p:txBody>
      </p:sp>
      <p:sp>
        <p:nvSpPr>
          <p:cNvPr id="20" name="Shape 18"/>
          <p:cNvSpPr/>
          <p:nvPr/>
        </p:nvSpPr>
        <p:spPr>
          <a:xfrm>
            <a:off x="548640" y="4389120"/>
            <a:ext cx="11064240" cy="804672"/>
          </a:xfrm>
          <a:prstGeom prst="roundRect">
            <a:avLst>
              <a:gd name="adj" fmla="val 9091"/>
            </a:avLst>
          </a:prstGeom>
          <a:solidFill>
            <a:srgbClr val="17263C"/>
          </a:solidFill>
          <a:ln w="12700">
            <a:solidFill>
              <a:srgbClr val="1F3350"/>
            </a:solidFill>
            <a:prstDash val="solid"/>
          </a:ln>
        </p:spPr>
      </p:sp>
      <p:sp>
        <p:nvSpPr>
          <p:cNvPr id="21" name="Shape 19"/>
          <p:cNvSpPr/>
          <p:nvPr/>
        </p:nvSpPr>
        <p:spPr>
          <a:xfrm>
            <a:off x="566928" y="4732020"/>
            <a:ext cx="118872" cy="118872"/>
          </a:xfrm>
          <a:prstGeom prst="ellipse">
            <a:avLst/>
          </a:prstGeom>
          <a:solidFill>
            <a:srgbClr val="3FA372"/>
          </a:solidFill>
          <a:ln w="12700">
            <a:solidFill>
              <a:srgbClr val="3FA372"/>
            </a:solidFill>
            <a:prstDash val="solid"/>
          </a:ln>
        </p:spPr>
      </p:sp>
      <p:sp>
        <p:nvSpPr>
          <p:cNvPr id="22" name="Text 20"/>
          <p:cNvSpPr/>
          <p:nvPr/>
        </p:nvSpPr>
        <p:spPr>
          <a:xfrm>
            <a:off x="822960" y="4535424"/>
            <a:ext cx="265176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Managed analytics</a:t>
            </a:r>
            <a:endParaRPr lang="en-US" sz="1250" dirty="0"/>
          </a:p>
        </p:txBody>
      </p:sp>
      <p:sp>
        <p:nvSpPr>
          <p:cNvPr id="23" name="Text 21"/>
          <p:cNvSpPr/>
          <p:nvPr/>
        </p:nvSpPr>
        <p:spPr>
          <a:xfrm>
            <a:off x="822960" y="4846320"/>
            <a:ext cx="2651760" cy="256032"/>
          </a:xfrm>
          <a:prstGeom prst="rect">
            <a:avLst/>
          </a:prstGeom>
          <a:noFill/>
          <a:ln/>
        </p:spPr>
        <p:txBody>
          <a:bodyPr wrap="square" lIns="0" tIns="0" rIns="0" bIns="0" rtlCol="0" anchor="t"/>
          <a:lstStyle/>
          <a:p>
            <a:pPr algn="l" indent="0" marL="0">
              <a:lnSpc>
                <a:spcPct val="112000"/>
              </a:lnSpc>
              <a:buNone/>
            </a:pPr>
            <a:r>
              <a:rPr lang="en-US" sz="950" i="1" dirty="0">
                <a:solidFill>
                  <a:srgbClr val="3FA372"/>
                </a:solidFill>
                <a:latin typeface="Calibri" pitchFamily="34" charset="0"/>
                <a:ea typeface="Calibri" pitchFamily="34" charset="-122"/>
                <a:cs typeface="Calibri" pitchFamily="34" charset="-120"/>
              </a:rPr>
              <a:t>Annual retainer</a:t>
            </a:r>
            <a:endParaRPr lang="en-US" sz="950" dirty="0"/>
          </a:p>
        </p:txBody>
      </p:sp>
      <p:sp>
        <p:nvSpPr>
          <p:cNvPr id="24" name="Text 22"/>
          <p:cNvSpPr/>
          <p:nvPr/>
        </p:nvSpPr>
        <p:spPr>
          <a:xfrm>
            <a:off x="3657600" y="4608576"/>
            <a:ext cx="7772400" cy="502920"/>
          </a:xfrm>
          <a:prstGeom prst="rect">
            <a:avLst/>
          </a:prstGeom>
          <a:noFill/>
          <a:ln/>
        </p:spPr>
        <p:txBody>
          <a:bodyPr wrap="square" lIns="0" tIns="0" rIns="0" bIns="0" rtlCol="0" anchor="t"/>
          <a:lstStyle/>
          <a:p>
            <a:pPr algn="l" indent="0" marL="0">
              <a:lnSpc>
                <a:spcPct val="115000"/>
              </a:lnSpc>
              <a:buNone/>
            </a:pPr>
            <a:r>
              <a:rPr lang="en-US" sz="1050" dirty="0">
                <a:solidFill>
                  <a:srgbClr val="D6E4F0"/>
                </a:solidFill>
                <a:latin typeface="Calibri" pitchFamily="34" charset="0"/>
                <a:ea typeface="Calibri" pitchFamily="34" charset="-122"/>
                <a:cs typeface="Calibri" pitchFamily="34" charset="-120"/>
              </a:rPr>
              <a:t>PwC operates the data pipeline and issues periodic market intelligence. Recurring revenue, deepening lock-in.</a:t>
            </a:r>
            <a:endParaRPr lang="en-US" sz="1050" dirty="0"/>
          </a:p>
        </p:txBody>
      </p:sp>
      <p:sp>
        <p:nvSpPr>
          <p:cNvPr id="25" name="Shape 23"/>
          <p:cNvSpPr/>
          <p:nvPr/>
        </p:nvSpPr>
        <p:spPr>
          <a:xfrm>
            <a:off x="548640" y="5303520"/>
            <a:ext cx="11064240" cy="804672"/>
          </a:xfrm>
          <a:prstGeom prst="roundRect">
            <a:avLst>
              <a:gd name="adj" fmla="val 9091"/>
            </a:avLst>
          </a:prstGeom>
          <a:solidFill>
            <a:srgbClr val="17263C"/>
          </a:solidFill>
          <a:ln w="12700">
            <a:solidFill>
              <a:srgbClr val="1F3350"/>
            </a:solidFill>
            <a:prstDash val="solid"/>
          </a:ln>
        </p:spPr>
      </p:sp>
      <p:sp>
        <p:nvSpPr>
          <p:cNvPr id="26" name="Shape 24"/>
          <p:cNvSpPr/>
          <p:nvPr/>
        </p:nvSpPr>
        <p:spPr>
          <a:xfrm>
            <a:off x="566928" y="5646420"/>
            <a:ext cx="118872" cy="118872"/>
          </a:xfrm>
          <a:prstGeom prst="ellipse">
            <a:avLst/>
          </a:prstGeom>
          <a:solidFill>
            <a:srgbClr val="D9544D"/>
          </a:solidFill>
          <a:ln w="12700">
            <a:solidFill>
              <a:srgbClr val="D9544D"/>
            </a:solidFill>
            <a:prstDash val="solid"/>
          </a:ln>
        </p:spPr>
      </p:sp>
      <p:sp>
        <p:nvSpPr>
          <p:cNvPr id="27" name="Text 25"/>
          <p:cNvSpPr/>
          <p:nvPr/>
        </p:nvSpPr>
        <p:spPr>
          <a:xfrm>
            <a:off x="822960" y="5449824"/>
            <a:ext cx="2651760" cy="274320"/>
          </a:xfrm>
          <a:prstGeom prst="rect">
            <a:avLst/>
          </a:prstGeom>
          <a:noFill/>
          <a:ln/>
        </p:spPr>
        <p:txBody>
          <a:bodyPr wrap="square" lIns="0" tIns="0" rIns="0" bIns="0" rtlCol="0" anchor="t"/>
          <a:lstStyle/>
          <a:p>
            <a:pPr algn="l" indent="0" marL="0">
              <a:lnSpc>
                <a:spcPct val="112000"/>
              </a:lnSpc>
              <a:buNone/>
            </a:pPr>
            <a:r>
              <a:rPr lang="en-US" sz="1250" b="1" dirty="0">
                <a:solidFill>
                  <a:srgbClr val="FFFFFF"/>
                </a:solidFill>
                <a:latin typeface="Calibri" pitchFamily="34" charset="0"/>
                <a:ea typeface="Calibri" pitchFamily="34" charset="-122"/>
                <a:cs typeface="Calibri" pitchFamily="34" charset="-120"/>
              </a:rPr>
              <a:t>Capability build</a:t>
            </a:r>
            <a:endParaRPr lang="en-US" sz="1250" dirty="0"/>
          </a:p>
        </p:txBody>
      </p:sp>
      <p:sp>
        <p:nvSpPr>
          <p:cNvPr id="28" name="Text 26"/>
          <p:cNvSpPr/>
          <p:nvPr/>
        </p:nvSpPr>
        <p:spPr>
          <a:xfrm>
            <a:off x="822960" y="5760720"/>
            <a:ext cx="2651760" cy="256032"/>
          </a:xfrm>
          <a:prstGeom prst="rect">
            <a:avLst/>
          </a:prstGeom>
          <a:noFill/>
          <a:ln/>
        </p:spPr>
        <p:txBody>
          <a:bodyPr wrap="square" lIns="0" tIns="0" rIns="0" bIns="0" rtlCol="0" anchor="t"/>
          <a:lstStyle/>
          <a:p>
            <a:pPr algn="l" indent="0" marL="0">
              <a:lnSpc>
                <a:spcPct val="112000"/>
              </a:lnSpc>
              <a:buNone/>
            </a:pPr>
            <a:r>
              <a:rPr lang="en-US" sz="950" i="1" dirty="0">
                <a:solidFill>
                  <a:srgbClr val="D9544D"/>
                </a:solidFill>
                <a:latin typeface="Calibri" pitchFamily="34" charset="0"/>
                <a:ea typeface="Calibri" pitchFamily="34" charset="-122"/>
                <a:cs typeface="Calibri" pitchFamily="34" charset="-120"/>
              </a:rPr>
              <a:t>4–8 weeks</a:t>
            </a:r>
            <a:endParaRPr lang="en-US" sz="950" dirty="0"/>
          </a:p>
        </p:txBody>
      </p:sp>
      <p:sp>
        <p:nvSpPr>
          <p:cNvPr id="29" name="Text 27"/>
          <p:cNvSpPr/>
          <p:nvPr/>
        </p:nvSpPr>
        <p:spPr>
          <a:xfrm>
            <a:off x="3657600" y="5522976"/>
            <a:ext cx="7772400" cy="502920"/>
          </a:xfrm>
          <a:prstGeom prst="rect">
            <a:avLst/>
          </a:prstGeom>
          <a:noFill/>
          <a:ln/>
        </p:spPr>
        <p:txBody>
          <a:bodyPr wrap="square" lIns="0" tIns="0" rIns="0" bIns="0" rtlCol="0" anchor="t"/>
          <a:lstStyle/>
          <a:p>
            <a:pPr algn="l" indent="0" marL="0">
              <a:lnSpc>
                <a:spcPct val="115000"/>
              </a:lnSpc>
              <a:buNone/>
            </a:pPr>
            <a:r>
              <a:rPr lang="en-US" sz="1050" dirty="0">
                <a:solidFill>
                  <a:srgbClr val="D6E4F0"/>
                </a:solidFill>
                <a:latin typeface="Calibri" pitchFamily="34" charset="0"/>
                <a:ea typeface="Calibri" pitchFamily="34" charset="-122"/>
                <a:cs typeface="Calibri" pitchFamily="34" charset="-120"/>
              </a:rPr>
              <a:t>Stand up the client's own origination analytics team — methodology transfer, governance model, training.</a:t>
            </a:r>
            <a:endParaRPr lang="en-US" sz="1050" dirty="0"/>
          </a:p>
        </p:txBody>
      </p:sp>
      <p:sp>
        <p:nvSpPr>
          <p:cNvPr id="30" name="Text 28"/>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8CA3BC"/>
                </a:solidFill>
                <a:latin typeface="Calibri" pitchFamily="34" charset="0"/>
                <a:ea typeface="Calibri" pitchFamily="34" charset="-122"/>
                <a:cs typeface="Calibri" pitchFamily="34" charset="-120"/>
              </a:rPr>
              <a:t>Sequencing: diagnostic first. It is cheap for the client to say yes to and it surfaces the implementation case with their own numbers.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POSITIONING</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Why this fits PwC specifically</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The gap in the market is not analytics — it is analytics a risk committee will accept</a:t>
            </a:r>
            <a:endParaRPr lang="en-US" sz="1350" dirty="0"/>
          </a:p>
        </p:txBody>
      </p:sp>
      <p:sp>
        <p:nvSpPr>
          <p:cNvPr id="5" name="Shape 3"/>
          <p:cNvSpPr/>
          <p:nvPr/>
        </p:nvSpPr>
        <p:spPr>
          <a:xfrm>
            <a:off x="548640" y="1645920"/>
            <a:ext cx="11064240" cy="822960"/>
          </a:xfrm>
          <a:prstGeom prst="roundRect">
            <a:avLst>
              <a:gd name="adj" fmla="val 8889"/>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6" name="Shape 4"/>
          <p:cNvSpPr/>
          <p:nvPr/>
        </p:nvSpPr>
        <p:spPr>
          <a:xfrm>
            <a:off x="804672" y="1847088"/>
            <a:ext cx="420624" cy="420624"/>
          </a:xfrm>
          <a:prstGeom prst="ellipse">
            <a:avLst/>
          </a:prstGeom>
          <a:solidFill>
            <a:srgbClr val="02C39A"/>
          </a:solidFill>
          <a:ln w="12700">
            <a:solidFill>
              <a:srgbClr val="02C39A"/>
            </a:solidFill>
            <a:prstDash val="solid"/>
          </a:ln>
        </p:spPr>
      </p:sp>
      <p:sp>
        <p:nvSpPr>
          <p:cNvPr id="7" name="Text 5"/>
          <p:cNvSpPr/>
          <p:nvPr/>
        </p:nvSpPr>
        <p:spPr>
          <a:xfrm>
            <a:off x="804672" y="184708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389888" y="1792224"/>
            <a:ext cx="3017520" cy="274320"/>
          </a:xfrm>
          <a:prstGeom prst="rect">
            <a:avLst/>
          </a:prstGeom>
          <a:noFill/>
          <a:ln/>
        </p:spPr>
        <p:txBody>
          <a:bodyPr wrap="square" lIns="0" tIns="0" rIns="0" bIns="0" rtlCol="0" anchor="t"/>
          <a:lstStyle/>
          <a:p>
            <a:pPr algn="l" indent="0" marL="0">
              <a:lnSpc>
                <a:spcPct val="112000"/>
              </a:lnSpc>
              <a:buNone/>
            </a:pPr>
            <a:r>
              <a:rPr lang="en-US" sz="1250" b="1" dirty="0">
                <a:solidFill>
                  <a:srgbClr val="0E1A2B"/>
                </a:solidFill>
                <a:latin typeface="Calibri" pitchFamily="34" charset="0"/>
                <a:ea typeface="Calibri" pitchFamily="34" charset="-122"/>
                <a:cs typeface="Calibri" pitchFamily="34" charset="-120"/>
              </a:rPr>
              <a:t>Independence is the product</a:t>
            </a:r>
            <a:endParaRPr lang="en-US" sz="1250" dirty="0"/>
          </a:p>
        </p:txBody>
      </p:sp>
      <p:sp>
        <p:nvSpPr>
          <p:cNvPr id="9" name="Text 7"/>
          <p:cNvSpPr/>
          <p:nvPr/>
        </p:nvSpPr>
        <p:spPr>
          <a:xfrm>
            <a:off x="4663440" y="1828800"/>
            <a:ext cx="6766560" cy="548640"/>
          </a:xfrm>
          <a:prstGeom prst="rect">
            <a:avLst/>
          </a:prstGeom>
          <a:noFill/>
          <a:ln/>
        </p:spPr>
        <p:txBody>
          <a:bodyPr wrap="square" lIns="0" tIns="0" rIns="0" bIns="0" rtlCol="0" anchor="t"/>
          <a:lstStyle/>
          <a:p>
            <a:pPr algn="l" indent="0" marL="0">
              <a:lnSpc>
                <a:spcPct val="115000"/>
              </a:lnSpc>
              <a:buNone/>
            </a:pPr>
            <a:r>
              <a:rPr lang="en-US" sz="1050" dirty="0">
                <a:solidFill>
                  <a:srgbClr val="5A6E85"/>
                </a:solidFill>
                <a:latin typeface="Calibri" pitchFamily="34" charset="0"/>
                <a:ea typeface="Calibri" pitchFamily="34" charset="-122"/>
                <a:cs typeface="Calibri" pitchFamily="34" charset="-120"/>
              </a:rPr>
              <a:t>Marketplaces and developers have a position in the transaction. An independent capture-price and basis view is worth more precisely because PwC is not a counterparty.</a:t>
            </a:r>
            <a:endParaRPr lang="en-US" sz="1050" dirty="0"/>
          </a:p>
        </p:txBody>
      </p:sp>
      <p:sp>
        <p:nvSpPr>
          <p:cNvPr id="10" name="Shape 8"/>
          <p:cNvSpPr/>
          <p:nvPr/>
        </p:nvSpPr>
        <p:spPr>
          <a:xfrm>
            <a:off x="548640" y="2578608"/>
            <a:ext cx="11064240" cy="822960"/>
          </a:xfrm>
          <a:prstGeom prst="roundRect">
            <a:avLst>
              <a:gd name="adj" fmla="val 8889"/>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1" name="Shape 9"/>
          <p:cNvSpPr/>
          <p:nvPr/>
        </p:nvSpPr>
        <p:spPr>
          <a:xfrm>
            <a:off x="804672" y="2779776"/>
            <a:ext cx="420624" cy="420624"/>
          </a:xfrm>
          <a:prstGeom prst="ellipse">
            <a:avLst/>
          </a:prstGeom>
          <a:solidFill>
            <a:srgbClr val="2E86AB"/>
          </a:solidFill>
          <a:ln w="12700">
            <a:solidFill>
              <a:srgbClr val="2E86AB"/>
            </a:solidFill>
            <a:prstDash val="solid"/>
          </a:ln>
        </p:spPr>
      </p:sp>
      <p:sp>
        <p:nvSpPr>
          <p:cNvPr id="12" name="Text 10"/>
          <p:cNvSpPr/>
          <p:nvPr/>
        </p:nvSpPr>
        <p:spPr>
          <a:xfrm>
            <a:off x="804672" y="277977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389888" y="2724912"/>
            <a:ext cx="3017520" cy="274320"/>
          </a:xfrm>
          <a:prstGeom prst="rect">
            <a:avLst/>
          </a:prstGeom>
          <a:noFill/>
          <a:ln/>
        </p:spPr>
        <p:txBody>
          <a:bodyPr wrap="square" lIns="0" tIns="0" rIns="0" bIns="0" rtlCol="0" anchor="t"/>
          <a:lstStyle/>
          <a:p>
            <a:pPr algn="l" indent="0" marL="0">
              <a:lnSpc>
                <a:spcPct val="112000"/>
              </a:lnSpc>
              <a:buNone/>
            </a:pPr>
            <a:r>
              <a:rPr lang="en-US" sz="1250" b="1" dirty="0">
                <a:solidFill>
                  <a:srgbClr val="0E1A2B"/>
                </a:solidFill>
                <a:latin typeface="Calibri" pitchFamily="34" charset="0"/>
                <a:ea typeface="Calibri" pitchFamily="34" charset="-122"/>
                <a:cs typeface="Calibri" pitchFamily="34" charset="-120"/>
              </a:rPr>
              <a:t>Governance is a consulting problem</a:t>
            </a:r>
            <a:endParaRPr lang="en-US" sz="1250" dirty="0"/>
          </a:p>
        </p:txBody>
      </p:sp>
      <p:sp>
        <p:nvSpPr>
          <p:cNvPr id="14" name="Text 12"/>
          <p:cNvSpPr/>
          <p:nvPr/>
        </p:nvSpPr>
        <p:spPr>
          <a:xfrm>
            <a:off x="4663440" y="2761488"/>
            <a:ext cx="6766560" cy="548640"/>
          </a:xfrm>
          <a:prstGeom prst="rect">
            <a:avLst/>
          </a:prstGeom>
          <a:noFill/>
          <a:ln/>
        </p:spPr>
        <p:txBody>
          <a:bodyPr wrap="square" lIns="0" tIns="0" rIns="0" bIns="0" rtlCol="0" anchor="t"/>
          <a:lstStyle/>
          <a:p>
            <a:pPr algn="l" indent="0" marL="0">
              <a:lnSpc>
                <a:spcPct val="115000"/>
              </a:lnSpc>
              <a:buNone/>
            </a:pPr>
            <a:r>
              <a:rPr lang="en-US" sz="1050" dirty="0">
                <a:solidFill>
                  <a:srgbClr val="5A6E85"/>
                </a:solidFill>
                <a:latin typeface="Calibri" pitchFamily="34" charset="0"/>
                <a:ea typeface="Calibri" pitchFamily="34" charset="-122"/>
                <a:cs typeface="Calibri" pitchFamily="34" charset="-120"/>
              </a:rPr>
              <a:t>Purview lineage, classification and AI-agent policy are organisational as much as technical. That is core PwC delivery, not a software feature.</a:t>
            </a:r>
            <a:endParaRPr lang="en-US" sz="1050" dirty="0"/>
          </a:p>
        </p:txBody>
      </p:sp>
      <p:sp>
        <p:nvSpPr>
          <p:cNvPr id="15" name="Shape 13"/>
          <p:cNvSpPr/>
          <p:nvPr/>
        </p:nvSpPr>
        <p:spPr>
          <a:xfrm>
            <a:off x="548640" y="3511296"/>
            <a:ext cx="11064240" cy="822960"/>
          </a:xfrm>
          <a:prstGeom prst="roundRect">
            <a:avLst>
              <a:gd name="adj" fmla="val 8889"/>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6" name="Shape 14"/>
          <p:cNvSpPr/>
          <p:nvPr/>
        </p:nvSpPr>
        <p:spPr>
          <a:xfrm>
            <a:off x="804672" y="3712464"/>
            <a:ext cx="420624" cy="420624"/>
          </a:xfrm>
          <a:prstGeom prst="ellipse">
            <a:avLst/>
          </a:prstGeom>
          <a:solidFill>
            <a:srgbClr val="E8A33D"/>
          </a:solidFill>
          <a:ln w="12700">
            <a:solidFill>
              <a:srgbClr val="E8A33D"/>
            </a:solidFill>
            <a:prstDash val="solid"/>
          </a:ln>
        </p:spPr>
      </p:sp>
      <p:sp>
        <p:nvSpPr>
          <p:cNvPr id="17" name="Text 15"/>
          <p:cNvSpPr/>
          <p:nvPr/>
        </p:nvSpPr>
        <p:spPr>
          <a:xfrm>
            <a:off x="804672" y="371246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1389888" y="3657600"/>
            <a:ext cx="3017520" cy="274320"/>
          </a:xfrm>
          <a:prstGeom prst="rect">
            <a:avLst/>
          </a:prstGeom>
          <a:noFill/>
          <a:ln/>
        </p:spPr>
        <p:txBody>
          <a:bodyPr wrap="square" lIns="0" tIns="0" rIns="0" bIns="0" rtlCol="0" anchor="t"/>
          <a:lstStyle/>
          <a:p>
            <a:pPr algn="l" indent="0" marL="0">
              <a:lnSpc>
                <a:spcPct val="112000"/>
              </a:lnSpc>
              <a:buNone/>
            </a:pPr>
            <a:r>
              <a:rPr lang="en-US" sz="1250" b="1" dirty="0">
                <a:solidFill>
                  <a:srgbClr val="0E1A2B"/>
                </a:solidFill>
                <a:latin typeface="Calibri" pitchFamily="34" charset="0"/>
                <a:ea typeface="Calibri" pitchFamily="34" charset="-122"/>
                <a:cs typeface="Calibri" pitchFamily="34" charset="-120"/>
              </a:rPr>
              <a:t>Azure alignment</a:t>
            </a:r>
            <a:endParaRPr lang="en-US" sz="1250" dirty="0"/>
          </a:p>
        </p:txBody>
      </p:sp>
      <p:sp>
        <p:nvSpPr>
          <p:cNvPr id="19" name="Text 17"/>
          <p:cNvSpPr/>
          <p:nvPr/>
        </p:nvSpPr>
        <p:spPr>
          <a:xfrm>
            <a:off x="4663440" y="3694176"/>
            <a:ext cx="6766560" cy="548640"/>
          </a:xfrm>
          <a:prstGeom prst="rect">
            <a:avLst/>
          </a:prstGeom>
          <a:noFill/>
          <a:ln/>
        </p:spPr>
        <p:txBody>
          <a:bodyPr wrap="square" lIns="0" tIns="0" rIns="0" bIns="0" rtlCol="0" anchor="t"/>
          <a:lstStyle/>
          <a:p>
            <a:pPr algn="l" indent="0" marL="0">
              <a:lnSpc>
                <a:spcPct val="115000"/>
              </a:lnSpc>
              <a:buNone/>
            </a:pPr>
            <a:r>
              <a:rPr lang="en-US" sz="1050" dirty="0">
                <a:solidFill>
                  <a:srgbClr val="5A6E85"/>
                </a:solidFill>
                <a:latin typeface="Calibri" pitchFamily="34" charset="0"/>
                <a:ea typeface="Calibri" pitchFamily="34" charset="-122"/>
                <a:cs typeface="Calibri" pitchFamily="34" charset="-120"/>
              </a:rPr>
              <a:t>Most large energy clients already run M365 and Entra. Implementation lands inside an existing tenant and commercial relationship rather than adding a vendor.</a:t>
            </a:r>
            <a:endParaRPr lang="en-US" sz="1050" dirty="0"/>
          </a:p>
        </p:txBody>
      </p:sp>
      <p:sp>
        <p:nvSpPr>
          <p:cNvPr id="20" name="Shape 18"/>
          <p:cNvSpPr/>
          <p:nvPr/>
        </p:nvSpPr>
        <p:spPr>
          <a:xfrm>
            <a:off x="548640" y="4443984"/>
            <a:ext cx="11064240" cy="822960"/>
          </a:xfrm>
          <a:prstGeom prst="roundRect">
            <a:avLst>
              <a:gd name="adj" fmla="val 8889"/>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1" name="Shape 19"/>
          <p:cNvSpPr/>
          <p:nvPr/>
        </p:nvSpPr>
        <p:spPr>
          <a:xfrm>
            <a:off x="804672" y="4645152"/>
            <a:ext cx="420624" cy="420624"/>
          </a:xfrm>
          <a:prstGeom prst="ellipse">
            <a:avLst/>
          </a:prstGeom>
          <a:solidFill>
            <a:srgbClr val="3FA372"/>
          </a:solidFill>
          <a:ln w="12700">
            <a:solidFill>
              <a:srgbClr val="3FA372"/>
            </a:solidFill>
            <a:prstDash val="solid"/>
          </a:ln>
        </p:spPr>
      </p:sp>
      <p:sp>
        <p:nvSpPr>
          <p:cNvPr id="22" name="Text 20"/>
          <p:cNvSpPr/>
          <p:nvPr/>
        </p:nvSpPr>
        <p:spPr>
          <a:xfrm>
            <a:off x="804672" y="464515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1389888" y="4590288"/>
            <a:ext cx="3017520" cy="274320"/>
          </a:xfrm>
          <a:prstGeom prst="rect">
            <a:avLst/>
          </a:prstGeom>
          <a:noFill/>
          <a:ln/>
        </p:spPr>
        <p:txBody>
          <a:bodyPr wrap="square" lIns="0" tIns="0" rIns="0" bIns="0" rtlCol="0" anchor="t"/>
          <a:lstStyle/>
          <a:p>
            <a:pPr algn="l" indent="0" marL="0">
              <a:lnSpc>
                <a:spcPct val="112000"/>
              </a:lnSpc>
              <a:buNone/>
            </a:pPr>
            <a:r>
              <a:rPr lang="en-US" sz="1250" b="1" dirty="0">
                <a:solidFill>
                  <a:srgbClr val="0E1A2B"/>
                </a:solidFill>
                <a:latin typeface="Calibri" pitchFamily="34" charset="0"/>
                <a:ea typeface="Calibri" pitchFamily="34" charset="-122"/>
                <a:cs typeface="Calibri" pitchFamily="34" charset="-120"/>
              </a:rPr>
              <a:t>Reusable IP shortens the cycle</a:t>
            </a:r>
            <a:endParaRPr lang="en-US" sz="1250" dirty="0"/>
          </a:p>
        </p:txBody>
      </p:sp>
      <p:sp>
        <p:nvSpPr>
          <p:cNvPr id="24" name="Text 22"/>
          <p:cNvSpPr/>
          <p:nvPr/>
        </p:nvSpPr>
        <p:spPr>
          <a:xfrm>
            <a:off x="4663440" y="4626864"/>
            <a:ext cx="6766560" cy="548640"/>
          </a:xfrm>
          <a:prstGeom prst="rect">
            <a:avLst/>
          </a:prstGeom>
          <a:noFill/>
          <a:ln/>
        </p:spPr>
        <p:txBody>
          <a:bodyPr wrap="square" lIns="0" tIns="0" rIns="0" bIns="0" rtlCol="0" anchor="t"/>
          <a:lstStyle/>
          <a:p>
            <a:pPr algn="l" indent="0" marL="0">
              <a:lnSpc>
                <a:spcPct val="115000"/>
              </a:lnSpc>
              <a:buNone/>
            </a:pPr>
            <a:r>
              <a:rPr lang="en-US" sz="1050" dirty="0">
                <a:solidFill>
                  <a:srgbClr val="5A6E85"/>
                </a:solidFill>
                <a:latin typeface="Calibri" pitchFamily="34" charset="0"/>
                <a:ea typeface="Calibri" pitchFamily="34" charset="-122"/>
                <a:cs typeface="Calibri" pitchFamily="34" charset="-120"/>
              </a:rPr>
              <a:t>A working platform converts a capability pitch into a demo. That measurably compresses the pre-sales cycle versus a methodology slide.</a:t>
            </a:r>
            <a:endParaRPr lang="en-US" sz="1050" dirty="0"/>
          </a:p>
        </p:txBody>
      </p:sp>
      <p:sp>
        <p:nvSpPr>
          <p:cNvPr id="25" name="Shape 23"/>
          <p:cNvSpPr/>
          <p:nvPr/>
        </p:nvSpPr>
        <p:spPr>
          <a:xfrm>
            <a:off x="548640" y="5376672"/>
            <a:ext cx="11064240" cy="822960"/>
          </a:xfrm>
          <a:prstGeom prst="roundRect">
            <a:avLst>
              <a:gd name="adj" fmla="val 8889"/>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6" name="Shape 24"/>
          <p:cNvSpPr/>
          <p:nvPr/>
        </p:nvSpPr>
        <p:spPr>
          <a:xfrm>
            <a:off x="804672" y="5577840"/>
            <a:ext cx="420624" cy="420624"/>
          </a:xfrm>
          <a:prstGeom prst="ellipse">
            <a:avLst/>
          </a:prstGeom>
          <a:solidFill>
            <a:srgbClr val="D9544D"/>
          </a:solidFill>
          <a:ln w="12700">
            <a:solidFill>
              <a:srgbClr val="D9544D"/>
            </a:solidFill>
            <a:prstDash val="solid"/>
          </a:ln>
        </p:spPr>
      </p:sp>
      <p:sp>
        <p:nvSpPr>
          <p:cNvPr id="27" name="Text 25"/>
          <p:cNvSpPr/>
          <p:nvPr/>
        </p:nvSpPr>
        <p:spPr>
          <a:xfrm>
            <a:off x="804672" y="557784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1389888" y="5522976"/>
            <a:ext cx="3017520" cy="274320"/>
          </a:xfrm>
          <a:prstGeom prst="rect">
            <a:avLst/>
          </a:prstGeom>
          <a:noFill/>
          <a:ln/>
        </p:spPr>
        <p:txBody>
          <a:bodyPr wrap="square" lIns="0" tIns="0" rIns="0" bIns="0" rtlCol="0" anchor="t"/>
          <a:lstStyle/>
          <a:p>
            <a:pPr algn="l" indent="0" marL="0">
              <a:lnSpc>
                <a:spcPct val="112000"/>
              </a:lnSpc>
              <a:buNone/>
            </a:pPr>
            <a:r>
              <a:rPr lang="en-US" sz="1250" b="1" dirty="0">
                <a:solidFill>
                  <a:srgbClr val="0E1A2B"/>
                </a:solidFill>
                <a:latin typeface="Calibri" pitchFamily="34" charset="0"/>
                <a:ea typeface="Calibri" pitchFamily="34" charset="-122"/>
                <a:cs typeface="Calibri" pitchFamily="34" charset="-120"/>
              </a:rPr>
              <a:t>Cross-line pull-through</a:t>
            </a:r>
            <a:endParaRPr lang="en-US" sz="1250" dirty="0"/>
          </a:p>
        </p:txBody>
      </p:sp>
      <p:sp>
        <p:nvSpPr>
          <p:cNvPr id="29" name="Text 27"/>
          <p:cNvSpPr/>
          <p:nvPr/>
        </p:nvSpPr>
        <p:spPr>
          <a:xfrm>
            <a:off x="4663440" y="5559552"/>
            <a:ext cx="6766560" cy="548640"/>
          </a:xfrm>
          <a:prstGeom prst="rect">
            <a:avLst/>
          </a:prstGeom>
          <a:noFill/>
          <a:ln/>
        </p:spPr>
        <p:txBody>
          <a:bodyPr wrap="square" lIns="0" tIns="0" rIns="0" bIns="0" rtlCol="0" anchor="t"/>
          <a:lstStyle/>
          <a:p>
            <a:pPr algn="l" indent="0" marL="0">
              <a:lnSpc>
                <a:spcPct val="115000"/>
              </a:lnSpc>
              <a:buNone/>
            </a:pPr>
            <a:r>
              <a:rPr lang="en-US" sz="1050" dirty="0">
                <a:solidFill>
                  <a:srgbClr val="5A6E85"/>
                </a:solidFill>
                <a:latin typeface="Calibri" pitchFamily="34" charset="0"/>
                <a:ea typeface="Calibri" pitchFamily="34" charset="-122"/>
                <a:cs typeface="Calibri" pitchFamily="34" charset="-120"/>
              </a:rPr>
              <a:t>Deals, Tax (IRA credit structuring), Risk and Technology Consulting all attach to the same client conversation.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LANDSCAPE</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Where this sits against the incumbents</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Not a data vendor, not a marketplace — an independent, deployable analytical layer</a:t>
            </a:r>
            <a:endParaRPr lang="en-US" sz="1350" dirty="0"/>
          </a:p>
        </p:txBody>
      </p:sp>
      <p:sp>
        <p:nvSpPr>
          <p:cNvPr id="5" name="Text 3"/>
          <p:cNvSpPr/>
          <p:nvPr/>
        </p:nvSpPr>
        <p:spPr>
          <a:xfrm>
            <a:off x="822960" y="1463040"/>
            <a:ext cx="2194560" cy="201168"/>
          </a:xfrm>
          <a:prstGeom prst="rect">
            <a:avLst/>
          </a:prstGeom>
          <a:noFill/>
          <a:ln/>
        </p:spPr>
        <p:txBody>
          <a:bodyPr wrap="square" lIns="0" tIns="0" rIns="0" bIns="0" rtlCol="0" anchor="ctr"/>
          <a:lstStyle/>
          <a:p>
            <a:pPr indent="0" marL="0">
              <a:buNone/>
            </a:pPr>
            <a:r>
              <a:rPr lang="en-US" sz="850" b="1" spc="150" kern="0" dirty="0">
                <a:solidFill>
                  <a:srgbClr val="5A6E85"/>
                </a:solidFill>
                <a:latin typeface="Calibri" pitchFamily="34" charset="0"/>
                <a:ea typeface="Calibri" pitchFamily="34" charset="-122"/>
                <a:cs typeface="Calibri" pitchFamily="34" charset="-120"/>
              </a:rPr>
              <a:t>CATEGORY</a:t>
            </a:r>
            <a:endParaRPr lang="en-US" sz="850" dirty="0"/>
          </a:p>
        </p:txBody>
      </p:sp>
      <p:sp>
        <p:nvSpPr>
          <p:cNvPr id="6" name="Text 4"/>
          <p:cNvSpPr/>
          <p:nvPr/>
        </p:nvSpPr>
        <p:spPr>
          <a:xfrm>
            <a:off x="3200400" y="1463040"/>
            <a:ext cx="2011680" cy="201168"/>
          </a:xfrm>
          <a:prstGeom prst="rect">
            <a:avLst/>
          </a:prstGeom>
          <a:noFill/>
          <a:ln/>
        </p:spPr>
        <p:txBody>
          <a:bodyPr wrap="square" lIns="0" tIns="0" rIns="0" bIns="0" rtlCol="0" anchor="ctr"/>
          <a:lstStyle/>
          <a:p>
            <a:pPr indent="0" marL="0">
              <a:buNone/>
            </a:pPr>
            <a:r>
              <a:rPr lang="en-US" sz="850" b="1" spc="150" kern="0" dirty="0">
                <a:solidFill>
                  <a:srgbClr val="5A6E85"/>
                </a:solidFill>
                <a:latin typeface="Calibri" pitchFamily="34" charset="0"/>
                <a:ea typeface="Calibri" pitchFamily="34" charset="-122"/>
                <a:cs typeface="Calibri" pitchFamily="34" charset="-120"/>
              </a:rPr>
              <a:t>EXAMPLES</a:t>
            </a:r>
            <a:endParaRPr lang="en-US" sz="850" dirty="0"/>
          </a:p>
        </p:txBody>
      </p:sp>
      <p:sp>
        <p:nvSpPr>
          <p:cNvPr id="7" name="Text 5"/>
          <p:cNvSpPr/>
          <p:nvPr/>
        </p:nvSpPr>
        <p:spPr>
          <a:xfrm>
            <a:off x="5394960" y="1463040"/>
            <a:ext cx="2926080" cy="201168"/>
          </a:xfrm>
          <a:prstGeom prst="rect">
            <a:avLst/>
          </a:prstGeom>
          <a:noFill/>
          <a:ln/>
        </p:spPr>
        <p:txBody>
          <a:bodyPr wrap="square" lIns="0" tIns="0" rIns="0" bIns="0" rtlCol="0" anchor="ctr"/>
          <a:lstStyle/>
          <a:p>
            <a:pPr indent="0" marL="0">
              <a:buNone/>
            </a:pPr>
            <a:r>
              <a:rPr lang="en-US" sz="850" b="1" spc="150" kern="0" dirty="0">
                <a:solidFill>
                  <a:srgbClr val="3FA372"/>
                </a:solidFill>
                <a:latin typeface="Calibri" pitchFamily="34" charset="0"/>
                <a:ea typeface="Calibri" pitchFamily="34" charset="-122"/>
                <a:cs typeface="Calibri" pitchFamily="34" charset="-120"/>
              </a:rPr>
              <a:t>STRENGTH</a:t>
            </a:r>
            <a:endParaRPr lang="en-US" sz="850" dirty="0"/>
          </a:p>
        </p:txBody>
      </p:sp>
      <p:sp>
        <p:nvSpPr>
          <p:cNvPr id="8" name="Text 6"/>
          <p:cNvSpPr/>
          <p:nvPr/>
        </p:nvSpPr>
        <p:spPr>
          <a:xfrm>
            <a:off x="8503920" y="1463040"/>
            <a:ext cx="3108960" cy="201168"/>
          </a:xfrm>
          <a:prstGeom prst="rect">
            <a:avLst/>
          </a:prstGeom>
          <a:noFill/>
          <a:ln/>
        </p:spPr>
        <p:txBody>
          <a:bodyPr wrap="square" lIns="0" tIns="0" rIns="0" bIns="0" rtlCol="0" anchor="ctr"/>
          <a:lstStyle/>
          <a:p>
            <a:pPr indent="0" marL="0">
              <a:buNone/>
            </a:pPr>
            <a:r>
              <a:rPr lang="en-US" sz="850" b="1" spc="150" kern="0" dirty="0">
                <a:solidFill>
                  <a:srgbClr val="D9544D"/>
                </a:solidFill>
                <a:latin typeface="Calibri" pitchFamily="34" charset="0"/>
                <a:ea typeface="Calibri" pitchFamily="34" charset="-122"/>
                <a:cs typeface="Calibri" pitchFamily="34" charset="-120"/>
              </a:rPr>
              <a:t>LIMITATION</a:t>
            </a:r>
            <a:endParaRPr lang="en-US" sz="850" dirty="0"/>
          </a:p>
        </p:txBody>
      </p:sp>
      <p:sp>
        <p:nvSpPr>
          <p:cNvPr id="9" name="Shape 7"/>
          <p:cNvSpPr/>
          <p:nvPr/>
        </p:nvSpPr>
        <p:spPr>
          <a:xfrm>
            <a:off x="548640" y="1737360"/>
            <a:ext cx="11064240" cy="914400"/>
          </a:xfrm>
          <a:prstGeom prst="roundRect">
            <a:avLst>
              <a:gd name="adj" fmla="val 800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0" name="Text 8"/>
          <p:cNvSpPr/>
          <p:nvPr/>
        </p:nvSpPr>
        <p:spPr>
          <a:xfrm>
            <a:off x="822960" y="2048256"/>
            <a:ext cx="2194560" cy="32004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Market-data vendors</a:t>
            </a:r>
            <a:endParaRPr lang="en-US" sz="1150" dirty="0"/>
          </a:p>
        </p:txBody>
      </p:sp>
      <p:sp>
        <p:nvSpPr>
          <p:cNvPr id="11" name="Text 9"/>
          <p:cNvSpPr/>
          <p:nvPr/>
        </p:nvSpPr>
        <p:spPr>
          <a:xfrm>
            <a:off x="3200400" y="2057400"/>
            <a:ext cx="2011680" cy="320040"/>
          </a:xfrm>
          <a:prstGeom prst="rect">
            <a:avLst/>
          </a:prstGeom>
          <a:noFill/>
          <a:ln/>
        </p:spPr>
        <p:txBody>
          <a:bodyPr wrap="square" lIns="0" tIns="0" rIns="0" bIns="0" rtlCol="0" anchor="t"/>
          <a:lstStyle/>
          <a:p>
            <a:pPr algn="l" indent="0" marL="0">
              <a:lnSpc>
                <a:spcPct val="112000"/>
              </a:lnSpc>
              <a:buNone/>
            </a:pPr>
            <a:r>
              <a:rPr lang="en-US" sz="1000" i="1" dirty="0">
                <a:solidFill>
                  <a:srgbClr val="5A6E85"/>
                </a:solidFill>
                <a:latin typeface="Calibri" pitchFamily="34" charset="0"/>
                <a:ea typeface="Calibri" pitchFamily="34" charset="-122"/>
                <a:cs typeface="Calibri" pitchFamily="34" charset="-120"/>
              </a:rPr>
              <a:t>Enverus, Wood Mackenzie</a:t>
            </a:r>
            <a:endParaRPr lang="en-US" sz="1000" dirty="0"/>
          </a:p>
        </p:txBody>
      </p:sp>
      <p:sp>
        <p:nvSpPr>
          <p:cNvPr id="12" name="Text 10"/>
          <p:cNvSpPr/>
          <p:nvPr/>
        </p:nvSpPr>
        <p:spPr>
          <a:xfrm>
            <a:off x="5394960" y="2011680"/>
            <a:ext cx="2926080" cy="45720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Breadth of data and coverage</a:t>
            </a:r>
            <a:endParaRPr lang="en-US" sz="1000" dirty="0"/>
          </a:p>
        </p:txBody>
      </p:sp>
      <p:sp>
        <p:nvSpPr>
          <p:cNvPr id="13" name="Text 11"/>
          <p:cNvSpPr/>
          <p:nvPr/>
        </p:nvSpPr>
        <p:spPr>
          <a:xfrm>
            <a:off x="8503920" y="2011680"/>
            <a:ext cx="3017520" cy="45720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Licensed data, modelled outputs, not deployed in the client's tenant</a:t>
            </a:r>
            <a:endParaRPr lang="en-US" sz="1000" dirty="0"/>
          </a:p>
        </p:txBody>
      </p:sp>
      <p:sp>
        <p:nvSpPr>
          <p:cNvPr id="14" name="Shape 12"/>
          <p:cNvSpPr/>
          <p:nvPr/>
        </p:nvSpPr>
        <p:spPr>
          <a:xfrm>
            <a:off x="548640" y="2761488"/>
            <a:ext cx="11064240" cy="914400"/>
          </a:xfrm>
          <a:prstGeom prst="roundRect">
            <a:avLst>
              <a:gd name="adj" fmla="val 800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5" name="Text 13"/>
          <p:cNvSpPr/>
          <p:nvPr/>
        </p:nvSpPr>
        <p:spPr>
          <a:xfrm>
            <a:off x="822960" y="3072384"/>
            <a:ext cx="2194560" cy="32004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Forecasting specialists</a:t>
            </a:r>
            <a:endParaRPr lang="en-US" sz="1150" dirty="0"/>
          </a:p>
        </p:txBody>
      </p:sp>
      <p:sp>
        <p:nvSpPr>
          <p:cNvPr id="16" name="Text 14"/>
          <p:cNvSpPr/>
          <p:nvPr/>
        </p:nvSpPr>
        <p:spPr>
          <a:xfrm>
            <a:off x="3200400" y="3081528"/>
            <a:ext cx="2011680" cy="320040"/>
          </a:xfrm>
          <a:prstGeom prst="rect">
            <a:avLst/>
          </a:prstGeom>
          <a:noFill/>
          <a:ln/>
        </p:spPr>
        <p:txBody>
          <a:bodyPr wrap="square" lIns="0" tIns="0" rIns="0" bIns="0" rtlCol="0" anchor="t"/>
          <a:lstStyle/>
          <a:p>
            <a:pPr algn="l" indent="0" marL="0">
              <a:lnSpc>
                <a:spcPct val="112000"/>
              </a:lnSpc>
              <a:buNone/>
            </a:pPr>
            <a:r>
              <a:rPr lang="en-US" sz="1000" i="1" dirty="0">
                <a:solidFill>
                  <a:srgbClr val="5A6E85"/>
                </a:solidFill>
                <a:latin typeface="Calibri" pitchFamily="34" charset="0"/>
                <a:ea typeface="Calibri" pitchFamily="34" charset="-122"/>
                <a:cs typeface="Calibri" pitchFamily="34" charset="-120"/>
              </a:rPr>
              <a:t>Aurora, Ascend Analytics</a:t>
            </a:r>
            <a:endParaRPr lang="en-US" sz="1000" dirty="0"/>
          </a:p>
        </p:txBody>
      </p:sp>
      <p:sp>
        <p:nvSpPr>
          <p:cNvPr id="17" name="Text 15"/>
          <p:cNvSpPr/>
          <p:nvPr/>
        </p:nvSpPr>
        <p:spPr>
          <a:xfrm>
            <a:off x="5394960" y="3035808"/>
            <a:ext cx="2926080" cy="45720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Deep long-term price forecasting</a:t>
            </a:r>
            <a:endParaRPr lang="en-US" sz="1000" dirty="0"/>
          </a:p>
        </p:txBody>
      </p:sp>
      <p:sp>
        <p:nvSpPr>
          <p:cNvPr id="18" name="Text 16"/>
          <p:cNvSpPr/>
          <p:nvPr/>
        </p:nvSpPr>
        <p:spPr>
          <a:xfrm>
            <a:off x="8503920" y="3035808"/>
            <a:ext cx="3017520" cy="45720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Subscription model; limited origination workflow</a:t>
            </a:r>
            <a:endParaRPr lang="en-US" sz="1000" dirty="0"/>
          </a:p>
        </p:txBody>
      </p:sp>
      <p:sp>
        <p:nvSpPr>
          <p:cNvPr id="19" name="Shape 17"/>
          <p:cNvSpPr/>
          <p:nvPr/>
        </p:nvSpPr>
        <p:spPr>
          <a:xfrm>
            <a:off x="548640" y="3785616"/>
            <a:ext cx="11064240" cy="914400"/>
          </a:xfrm>
          <a:prstGeom prst="roundRect">
            <a:avLst>
              <a:gd name="adj" fmla="val 8000"/>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0" name="Text 18"/>
          <p:cNvSpPr/>
          <p:nvPr/>
        </p:nvSpPr>
        <p:spPr>
          <a:xfrm>
            <a:off x="822960" y="4096512"/>
            <a:ext cx="2194560" cy="32004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PPA marketplaces</a:t>
            </a:r>
            <a:endParaRPr lang="en-US" sz="1150" dirty="0"/>
          </a:p>
        </p:txBody>
      </p:sp>
      <p:sp>
        <p:nvSpPr>
          <p:cNvPr id="21" name="Text 19"/>
          <p:cNvSpPr/>
          <p:nvPr/>
        </p:nvSpPr>
        <p:spPr>
          <a:xfrm>
            <a:off x="3200400" y="4105656"/>
            <a:ext cx="2011680" cy="320040"/>
          </a:xfrm>
          <a:prstGeom prst="rect">
            <a:avLst/>
          </a:prstGeom>
          <a:noFill/>
          <a:ln/>
        </p:spPr>
        <p:txBody>
          <a:bodyPr wrap="square" lIns="0" tIns="0" rIns="0" bIns="0" rtlCol="0" anchor="t"/>
          <a:lstStyle/>
          <a:p>
            <a:pPr algn="l" indent="0" marL="0">
              <a:lnSpc>
                <a:spcPct val="112000"/>
              </a:lnSpc>
              <a:buNone/>
            </a:pPr>
            <a:r>
              <a:rPr lang="en-US" sz="1000" i="1" dirty="0">
                <a:solidFill>
                  <a:srgbClr val="5A6E85"/>
                </a:solidFill>
                <a:latin typeface="Calibri" pitchFamily="34" charset="0"/>
                <a:ea typeface="Calibri" pitchFamily="34" charset="-122"/>
                <a:cs typeface="Calibri" pitchFamily="34" charset="-120"/>
              </a:rPr>
              <a:t>LevelTen, Pexapark</a:t>
            </a:r>
            <a:endParaRPr lang="en-US" sz="1000" dirty="0"/>
          </a:p>
        </p:txBody>
      </p:sp>
      <p:sp>
        <p:nvSpPr>
          <p:cNvPr id="22" name="Text 20"/>
          <p:cNvSpPr/>
          <p:nvPr/>
        </p:nvSpPr>
        <p:spPr>
          <a:xfrm>
            <a:off x="5394960" y="4059936"/>
            <a:ext cx="2926080" cy="45720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Deal flow and transaction execution</a:t>
            </a:r>
            <a:endParaRPr lang="en-US" sz="1000" dirty="0"/>
          </a:p>
        </p:txBody>
      </p:sp>
      <p:sp>
        <p:nvSpPr>
          <p:cNvPr id="23" name="Text 21"/>
          <p:cNvSpPr/>
          <p:nvPr/>
        </p:nvSpPr>
        <p:spPr>
          <a:xfrm>
            <a:off x="8503920" y="4059936"/>
            <a:ext cx="3017520" cy="45720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Positioned in the transaction — not independent</a:t>
            </a:r>
            <a:endParaRPr lang="en-US" sz="1000" dirty="0"/>
          </a:p>
        </p:txBody>
      </p:sp>
      <p:sp>
        <p:nvSpPr>
          <p:cNvPr id="24" name="Shape 22"/>
          <p:cNvSpPr/>
          <p:nvPr/>
        </p:nvSpPr>
        <p:spPr>
          <a:xfrm>
            <a:off x="548640" y="4809744"/>
            <a:ext cx="11064240" cy="914400"/>
          </a:xfrm>
          <a:prstGeom prst="roundRect">
            <a:avLst>
              <a:gd name="adj" fmla="val 8000"/>
            </a:avLst>
          </a:prstGeom>
          <a:solidFill>
            <a:srgbClr val="E8F8F3"/>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5" name="Shape 23"/>
          <p:cNvSpPr/>
          <p:nvPr/>
        </p:nvSpPr>
        <p:spPr>
          <a:xfrm>
            <a:off x="566928" y="5207508"/>
            <a:ext cx="118872" cy="118872"/>
          </a:xfrm>
          <a:prstGeom prst="ellipse">
            <a:avLst/>
          </a:prstGeom>
          <a:solidFill>
            <a:srgbClr val="02C39A"/>
          </a:solidFill>
          <a:ln w="12700">
            <a:solidFill>
              <a:srgbClr val="02C39A"/>
            </a:solidFill>
            <a:prstDash val="solid"/>
          </a:ln>
        </p:spPr>
      </p:sp>
      <p:sp>
        <p:nvSpPr>
          <p:cNvPr id="26" name="Text 24"/>
          <p:cNvSpPr/>
          <p:nvPr/>
        </p:nvSpPr>
        <p:spPr>
          <a:xfrm>
            <a:off x="822960" y="5120640"/>
            <a:ext cx="2194560" cy="320040"/>
          </a:xfrm>
          <a:prstGeom prst="rect">
            <a:avLst/>
          </a:prstGeom>
          <a:noFill/>
          <a:ln/>
        </p:spPr>
        <p:txBody>
          <a:bodyPr wrap="square" lIns="0" tIns="0" rIns="0" bIns="0" rtlCol="0" anchor="t"/>
          <a:lstStyle/>
          <a:p>
            <a:pPr algn="l" indent="0" marL="0">
              <a:lnSpc>
                <a:spcPct val="112000"/>
              </a:lnSpc>
              <a:buNone/>
            </a:pPr>
            <a:r>
              <a:rPr lang="en-US" sz="1150" b="1" dirty="0">
                <a:solidFill>
                  <a:srgbClr val="02C39A"/>
                </a:solidFill>
                <a:latin typeface="Calibri" pitchFamily="34" charset="0"/>
                <a:ea typeface="Calibri" pitchFamily="34" charset="-122"/>
                <a:cs typeface="Calibri" pitchFamily="34" charset="-120"/>
              </a:rPr>
              <a:t>This platform</a:t>
            </a:r>
            <a:endParaRPr lang="en-US" sz="1150" dirty="0"/>
          </a:p>
        </p:txBody>
      </p:sp>
      <p:sp>
        <p:nvSpPr>
          <p:cNvPr id="27" name="Text 25"/>
          <p:cNvSpPr/>
          <p:nvPr/>
        </p:nvSpPr>
        <p:spPr>
          <a:xfrm>
            <a:off x="3200400" y="5129784"/>
            <a:ext cx="2011680" cy="320040"/>
          </a:xfrm>
          <a:prstGeom prst="rect">
            <a:avLst/>
          </a:prstGeom>
          <a:noFill/>
          <a:ln/>
        </p:spPr>
        <p:txBody>
          <a:bodyPr wrap="square" lIns="0" tIns="0" rIns="0" bIns="0" rtlCol="0" anchor="t"/>
          <a:lstStyle/>
          <a:p>
            <a:pPr algn="l" indent="0" marL="0">
              <a:lnSpc>
                <a:spcPct val="112000"/>
              </a:lnSpc>
              <a:buNone/>
            </a:pPr>
            <a:r>
              <a:rPr lang="en-US" sz="1000" i="1" dirty="0">
                <a:solidFill>
                  <a:srgbClr val="5A6E85"/>
                </a:solidFill>
                <a:latin typeface="Calibri" pitchFamily="34" charset="0"/>
                <a:ea typeface="Calibri" pitchFamily="34" charset="-122"/>
                <a:cs typeface="Calibri" pitchFamily="34" charset="-120"/>
              </a:rPr>
              <a:t>PwC-delivered</a:t>
            </a:r>
            <a:endParaRPr lang="en-US" sz="1000" dirty="0"/>
          </a:p>
        </p:txBody>
      </p:sp>
      <p:sp>
        <p:nvSpPr>
          <p:cNvPr id="28" name="Text 26"/>
          <p:cNvSpPr/>
          <p:nvPr/>
        </p:nvSpPr>
        <p:spPr>
          <a:xfrm>
            <a:off x="5394960" y="5084064"/>
            <a:ext cx="2926080" cy="45720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Independent, auditable, client-tenant, governance-native</a:t>
            </a:r>
            <a:endParaRPr lang="en-US" sz="1000" dirty="0"/>
          </a:p>
        </p:txBody>
      </p:sp>
      <p:sp>
        <p:nvSpPr>
          <p:cNvPr id="29" name="Text 27"/>
          <p:cNvSpPr/>
          <p:nvPr/>
        </p:nvSpPr>
        <p:spPr>
          <a:xfrm>
            <a:off x="8503920" y="5084064"/>
            <a:ext cx="3017520" cy="457200"/>
          </a:xfrm>
          <a:prstGeom prst="rect">
            <a:avLst/>
          </a:prstGeom>
          <a:noFill/>
          <a:ln/>
        </p:spPr>
        <p:txBody>
          <a:bodyPr wrap="square" lIns="0" tIns="0" rIns="0" bIns="0" rtlCol="0" anchor="t"/>
          <a:lstStyle/>
          <a:p>
            <a:pPr algn="l" indent="0" marL="0">
              <a:lnSpc>
                <a:spcPct val="112000"/>
              </a:lnSpc>
              <a:buNone/>
            </a:pPr>
            <a:r>
              <a:rPr lang="en-US" sz="1000" dirty="0">
                <a:solidFill>
                  <a:srgbClr val="5A6E85"/>
                </a:solidFill>
                <a:latin typeface="Calibri" pitchFamily="34" charset="0"/>
                <a:ea typeface="Calibri" pitchFamily="34" charset="-122"/>
                <a:cs typeface="Calibri" pitchFamily="34" charset="-120"/>
              </a:rPr>
              <a:t>Depends on public data cadence; three ISOs today</a:t>
            </a:r>
            <a:endParaRPr lang="en-US" sz="1000" dirty="0"/>
          </a:p>
        </p:txBody>
      </p:sp>
      <p:sp>
        <p:nvSpPr>
          <p:cNvPr id="30" name="Text 28"/>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5A6E85"/>
                </a:solidFill>
                <a:latin typeface="Calibri" pitchFamily="34" charset="0"/>
                <a:ea typeface="Calibri" pitchFamily="34" charset="-122"/>
                <a:cs typeface="Calibri" pitchFamily="34" charset="-120"/>
              </a:rPr>
              <a:t>Category positioning based on publicly described product scope; not a feature-by-feature benchmark.</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02C39A"/>
                </a:solidFill>
                <a:latin typeface="Calibri" pitchFamily="34" charset="0"/>
                <a:ea typeface="Calibri" pitchFamily="34" charset="-122"/>
                <a:cs typeface="Calibri" pitchFamily="34" charset="-120"/>
              </a:rPr>
              <a:t>WHAT'S NEXT</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Roadmap</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02C39A"/>
                </a:solidFill>
                <a:latin typeface="Calibri" pitchFamily="34" charset="0"/>
                <a:ea typeface="Calibri" pitchFamily="34" charset="-122"/>
                <a:cs typeface="Calibri" pitchFamily="34" charset="-120"/>
              </a:rPr>
              <a:t>Ordered by client-demand pull, not technical interest</a:t>
            </a:r>
            <a:endParaRPr lang="en-US" sz="1350" dirty="0"/>
          </a:p>
        </p:txBody>
      </p:sp>
      <p:sp>
        <p:nvSpPr>
          <p:cNvPr id="5" name="Shape 3"/>
          <p:cNvSpPr/>
          <p:nvPr/>
        </p:nvSpPr>
        <p:spPr>
          <a:xfrm>
            <a:off x="548640" y="1664208"/>
            <a:ext cx="11064240" cy="676656"/>
          </a:xfrm>
          <a:prstGeom prst="roundRect">
            <a:avLst>
              <a:gd name="adj" fmla="val 10811"/>
            </a:avLst>
          </a:prstGeom>
          <a:solidFill>
            <a:srgbClr val="17263C"/>
          </a:solidFill>
          <a:ln w="12700">
            <a:solidFill>
              <a:srgbClr val="1F3350"/>
            </a:solidFill>
            <a:prstDash val="solid"/>
          </a:ln>
        </p:spPr>
      </p:sp>
      <p:sp>
        <p:nvSpPr>
          <p:cNvPr id="6" name="Shape 4"/>
          <p:cNvSpPr/>
          <p:nvPr/>
        </p:nvSpPr>
        <p:spPr>
          <a:xfrm>
            <a:off x="566928" y="1943100"/>
            <a:ext cx="118872" cy="118872"/>
          </a:xfrm>
          <a:prstGeom prst="ellipse">
            <a:avLst/>
          </a:prstGeom>
          <a:solidFill>
            <a:srgbClr val="02C39A"/>
          </a:solidFill>
          <a:ln w="12700">
            <a:solidFill>
              <a:srgbClr val="02C39A"/>
            </a:solidFill>
            <a:prstDash val="solid"/>
          </a:ln>
        </p:spPr>
      </p:sp>
      <p:sp>
        <p:nvSpPr>
          <p:cNvPr id="7" name="Text 5"/>
          <p:cNvSpPr/>
          <p:nvPr/>
        </p:nvSpPr>
        <p:spPr>
          <a:xfrm>
            <a:off x="822960" y="1883664"/>
            <a:ext cx="1554480" cy="274320"/>
          </a:xfrm>
          <a:prstGeom prst="rect">
            <a:avLst/>
          </a:prstGeom>
          <a:noFill/>
          <a:ln/>
        </p:spPr>
        <p:txBody>
          <a:bodyPr wrap="square" lIns="0" tIns="0" rIns="0" bIns="0" rtlCol="0" anchor="t"/>
          <a:lstStyle/>
          <a:p>
            <a:pPr algn="l" indent="0" marL="0">
              <a:lnSpc>
                <a:spcPct val="112000"/>
              </a:lnSpc>
              <a:buNone/>
            </a:pPr>
            <a:r>
              <a:rPr lang="en-US" sz="1100" b="1" dirty="0">
                <a:solidFill>
                  <a:srgbClr val="02C39A"/>
                </a:solidFill>
                <a:latin typeface="Calibri" pitchFamily="34" charset="0"/>
                <a:ea typeface="Calibri" pitchFamily="34" charset="-122"/>
                <a:cs typeface="Calibri" pitchFamily="34" charset="-120"/>
              </a:rPr>
              <a:t>Near term</a:t>
            </a:r>
            <a:endParaRPr lang="en-US" sz="1100" dirty="0"/>
          </a:p>
        </p:txBody>
      </p:sp>
      <p:sp>
        <p:nvSpPr>
          <p:cNvPr id="8" name="Text 6"/>
          <p:cNvSpPr/>
          <p:nvPr/>
        </p:nvSpPr>
        <p:spPr>
          <a:xfrm>
            <a:off x="2651760" y="1865376"/>
            <a:ext cx="8778240" cy="411480"/>
          </a:xfrm>
          <a:prstGeom prst="rect">
            <a:avLst/>
          </a:prstGeom>
          <a:noFill/>
          <a:ln/>
        </p:spPr>
        <p:txBody>
          <a:bodyPr wrap="square" lIns="0" tIns="0" rIns="0" bIns="0" rtlCol="0" anchor="t"/>
          <a:lstStyle/>
          <a:p>
            <a:pPr algn="l" indent="0" marL="0">
              <a:lnSpc>
                <a:spcPct val="112000"/>
              </a:lnSpc>
              <a:buNone/>
            </a:pPr>
            <a:r>
              <a:rPr lang="en-US" sz="1100" dirty="0">
                <a:solidFill>
                  <a:srgbClr val="D6E4F0"/>
                </a:solidFill>
                <a:latin typeface="Calibri" pitchFamily="34" charset="0"/>
                <a:ea typeface="Calibri" pitchFamily="34" charset="-122"/>
                <a:cs typeface="Calibri" pitchFamily="34" charset="-120"/>
              </a:rPr>
              <a:t>Complete CAISO and PJM to ERCOT depth — hourly nodal prices and full congestion analytics in all three markets</a:t>
            </a:r>
            <a:endParaRPr lang="en-US" sz="1100" dirty="0"/>
          </a:p>
        </p:txBody>
      </p:sp>
      <p:sp>
        <p:nvSpPr>
          <p:cNvPr id="9" name="Shape 7"/>
          <p:cNvSpPr/>
          <p:nvPr/>
        </p:nvSpPr>
        <p:spPr>
          <a:xfrm>
            <a:off x="548640" y="2450592"/>
            <a:ext cx="11064240" cy="676656"/>
          </a:xfrm>
          <a:prstGeom prst="roundRect">
            <a:avLst>
              <a:gd name="adj" fmla="val 10811"/>
            </a:avLst>
          </a:prstGeom>
          <a:solidFill>
            <a:srgbClr val="17263C"/>
          </a:solidFill>
          <a:ln w="12700">
            <a:solidFill>
              <a:srgbClr val="1F3350"/>
            </a:solidFill>
            <a:prstDash val="solid"/>
          </a:ln>
        </p:spPr>
      </p:sp>
      <p:sp>
        <p:nvSpPr>
          <p:cNvPr id="10" name="Shape 8"/>
          <p:cNvSpPr/>
          <p:nvPr/>
        </p:nvSpPr>
        <p:spPr>
          <a:xfrm>
            <a:off x="566928" y="2729484"/>
            <a:ext cx="118872" cy="118872"/>
          </a:xfrm>
          <a:prstGeom prst="ellipse">
            <a:avLst/>
          </a:prstGeom>
          <a:solidFill>
            <a:srgbClr val="02C39A"/>
          </a:solidFill>
          <a:ln w="12700">
            <a:solidFill>
              <a:srgbClr val="02C39A"/>
            </a:solidFill>
            <a:prstDash val="solid"/>
          </a:ln>
        </p:spPr>
      </p:sp>
      <p:sp>
        <p:nvSpPr>
          <p:cNvPr id="11" name="Text 9"/>
          <p:cNvSpPr/>
          <p:nvPr/>
        </p:nvSpPr>
        <p:spPr>
          <a:xfrm>
            <a:off x="822960" y="2670048"/>
            <a:ext cx="1554480" cy="274320"/>
          </a:xfrm>
          <a:prstGeom prst="rect">
            <a:avLst/>
          </a:prstGeom>
          <a:noFill/>
          <a:ln/>
        </p:spPr>
        <p:txBody>
          <a:bodyPr wrap="square" lIns="0" tIns="0" rIns="0" bIns="0" rtlCol="0" anchor="t"/>
          <a:lstStyle/>
          <a:p>
            <a:pPr algn="l" indent="0" marL="0">
              <a:lnSpc>
                <a:spcPct val="112000"/>
              </a:lnSpc>
              <a:buNone/>
            </a:pPr>
            <a:r>
              <a:rPr lang="en-US" sz="1100" b="1" dirty="0">
                <a:solidFill>
                  <a:srgbClr val="02C39A"/>
                </a:solidFill>
                <a:latin typeface="Calibri" pitchFamily="34" charset="0"/>
                <a:ea typeface="Calibri" pitchFamily="34" charset="-122"/>
                <a:cs typeface="Calibri" pitchFamily="34" charset="-120"/>
              </a:rPr>
              <a:t>Near term</a:t>
            </a:r>
            <a:endParaRPr lang="en-US" sz="1100" dirty="0"/>
          </a:p>
        </p:txBody>
      </p:sp>
      <p:sp>
        <p:nvSpPr>
          <p:cNvPr id="12" name="Text 10"/>
          <p:cNvSpPr/>
          <p:nvPr/>
        </p:nvSpPr>
        <p:spPr>
          <a:xfrm>
            <a:off x="2651760" y="2651760"/>
            <a:ext cx="8778240" cy="411480"/>
          </a:xfrm>
          <a:prstGeom prst="rect">
            <a:avLst/>
          </a:prstGeom>
          <a:noFill/>
          <a:ln/>
        </p:spPr>
        <p:txBody>
          <a:bodyPr wrap="square" lIns="0" tIns="0" rIns="0" bIns="0" rtlCol="0" anchor="t"/>
          <a:lstStyle/>
          <a:p>
            <a:pPr algn="l" indent="0" marL="0">
              <a:lnSpc>
                <a:spcPct val="112000"/>
              </a:lnSpc>
              <a:buNone/>
            </a:pPr>
            <a:r>
              <a:rPr lang="en-US" sz="1100" dirty="0">
                <a:solidFill>
                  <a:srgbClr val="D6E4F0"/>
                </a:solidFill>
                <a:latin typeface="Calibri" pitchFamily="34" charset="0"/>
                <a:ea typeface="Calibri" pitchFamily="34" charset="-122"/>
                <a:cs typeface="Calibri" pitchFamily="34" charset="-120"/>
              </a:rPr>
              <a:t>True per-plant nodal capture: score each project at its own settlement point rather than its zone</a:t>
            </a:r>
            <a:endParaRPr lang="en-US" sz="1100" dirty="0"/>
          </a:p>
        </p:txBody>
      </p:sp>
      <p:sp>
        <p:nvSpPr>
          <p:cNvPr id="13" name="Shape 11"/>
          <p:cNvSpPr/>
          <p:nvPr/>
        </p:nvSpPr>
        <p:spPr>
          <a:xfrm>
            <a:off x="548640" y="3236976"/>
            <a:ext cx="11064240" cy="676656"/>
          </a:xfrm>
          <a:prstGeom prst="roundRect">
            <a:avLst>
              <a:gd name="adj" fmla="val 10811"/>
            </a:avLst>
          </a:prstGeom>
          <a:solidFill>
            <a:srgbClr val="17263C"/>
          </a:solidFill>
          <a:ln w="12700">
            <a:solidFill>
              <a:srgbClr val="1F3350"/>
            </a:solidFill>
            <a:prstDash val="solid"/>
          </a:ln>
        </p:spPr>
      </p:sp>
      <p:sp>
        <p:nvSpPr>
          <p:cNvPr id="14" name="Shape 12"/>
          <p:cNvSpPr/>
          <p:nvPr/>
        </p:nvSpPr>
        <p:spPr>
          <a:xfrm>
            <a:off x="566928" y="3515868"/>
            <a:ext cx="118872" cy="118872"/>
          </a:xfrm>
          <a:prstGeom prst="ellipse">
            <a:avLst/>
          </a:prstGeom>
          <a:solidFill>
            <a:srgbClr val="2E86AB"/>
          </a:solidFill>
          <a:ln w="12700">
            <a:solidFill>
              <a:srgbClr val="2E86AB"/>
            </a:solidFill>
            <a:prstDash val="solid"/>
          </a:ln>
        </p:spPr>
      </p:sp>
      <p:sp>
        <p:nvSpPr>
          <p:cNvPr id="15" name="Text 13"/>
          <p:cNvSpPr/>
          <p:nvPr/>
        </p:nvSpPr>
        <p:spPr>
          <a:xfrm>
            <a:off x="822960" y="3456432"/>
            <a:ext cx="1554480" cy="274320"/>
          </a:xfrm>
          <a:prstGeom prst="rect">
            <a:avLst/>
          </a:prstGeom>
          <a:noFill/>
          <a:ln/>
        </p:spPr>
        <p:txBody>
          <a:bodyPr wrap="square" lIns="0" tIns="0" rIns="0" bIns="0" rtlCol="0" anchor="t"/>
          <a:lstStyle/>
          <a:p>
            <a:pPr algn="l" indent="0" marL="0">
              <a:lnSpc>
                <a:spcPct val="112000"/>
              </a:lnSpc>
              <a:buNone/>
            </a:pPr>
            <a:r>
              <a:rPr lang="en-US" sz="1100" b="1" dirty="0">
                <a:solidFill>
                  <a:srgbClr val="2E86AB"/>
                </a:solidFill>
                <a:latin typeface="Calibri" pitchFamily="34" charset="0"/>
                <a:ea typeface="Calibri" pitchFamily="34" charset="-122"/>
                <a:cs typeface="Calibri" pitchFamily="34" charset="-120"/>
              </a:rPr>
              <a:t>Medium</a:t>
            </a:r>
            <a:endParaRPr lang="en-US" sz="1100" dirty="0"/>
          </a:p>
        </p:txBody>
      </p:sp>
      <p:sp>
        <p:nvSpPr>
          <p:cNvPr id="16" name="Text 14"/>
          <p:cNvSpPr/>
          <p:nvPr/>
        </p:nvSpPr>
        <p:spPr>
          <a:xfrm>
            <a:off x="2651760" y="3438144"/>
            <a:ext cx="8778240" cy="411480"/>
          </a:xfrm>
          <a:prstGeom prst="rect">
            <a:avLst/>
          </a:prstGeom>
          <a:noFill/>
          <a:ln/>
        </p:spPr>
        <p:txBody>
          <a:bodyPr wrap="square" lIns="0" tIns="0" rIns="0" bIns="0" rtlCol="0" anchor="t"/>
          <a:lstStyle/>
          <a:p>
            <a:pPr algn="l" indent="0" marL="0">
              <a:lnSpc>
                <a:spcPct val="112000"/>
              </a:lnSpc>
              <a:buNone/>
            </a:pPr>
            <a:r>
              <a:rPr lang="en-US" sz="1100" dirty="0">
                <a:solidFill>
                  <a:srgbClr val="D6E4F0"/>
                </a:solidFill>
                <a:latin typeface="Calibri" pitchFamily="34" charset="0"/>
                <a:ea typeface="Calibri" pitchFamily="34" charset="-122"/>
                <a:cs typeface="Calibri" pitchFamily="34" charset="-120"/>
              </a:rPr>
              <a:t>Deploy on the Azure target architecture — Fabric, Purview, Foundry (see technical deck)</a:t>
            </a:r>
            <a:endParaRPr lang="en-US" sz="1100" dirty="0"/>
          </a:p>
        </p:txBody>
      </p:sp>
      <p:sp>
        <p:nvSpPr>
          <p:cNvPr id="17" name="Shape 15"/>
          <p:cNvSpPr/>
          <p:nvPr/>
        </p:nvSpPr>
        <p:spPr>
          <a:xfrm>
            <a:off x="548640" y="4023360"/>
            <a:ext cx="11064240" cy="676656"/>
          </a:xfrm>
          <a:prstGeom prst="roundRect">
            <a:avLst>
              <a:gd name="adj" fmla="val 10811"/>
            </a:avLst>
          </a:prstGeom>
          <a:solidFill>
            <a:srgbClr val="17263C"/>
          </a:solidFill>
          <a:ln w="12700">
            <a:solidFill>
              <a:srgbClr val="1F3350"/>
            </a:solidFill>
            <a:prstDash val="solid"/>
          </a:ln>
        </p:spPr>
      </p:sp>
      <p:sp>
        <p:nvSpPr>
          <p:cNvPr id="18" name="Shape 16"/>
          <p:cNvSpPr/>
          <p:nvPr/>
        </p:nvSpPr>
        <p:spPr>
          <a:xfrm>
            <a:off x="566928" y="4302252"/>
            <a:ext cx="118872" cy="118872"/>
          </a:xfrm>
          <a:prstGeom prst="ellipse">
            <a:avLst/>
          </a:prstGeom>
          <a:solidFill>
            <a:srgbClr val="2E86AB"/>
          </a:solidFill>
          <a:ln w="12700">
            <a:solidFill>
              <a:srgbClr val="2E86AB"/>
            </a:solidFill>
            <a:prstDash val="solid"/>
          </a:ln>
        </p:spPr>
      </p:sp>
      <p:sp>
        <p:nvSpPr>
          <p:cNvPr id="19" name="Text 17"/>
          <p:cNvSpPr/>
          <p:nvPr/>
        </p:nvSpPr>
        <p:spPr>
          <a:xfrm>
            <a:off x="822960" y="4242816"/>
            <a:ext cx="1554480" cy="274320"/>
          </a:xfrm>
          <a:prstGeom prst="rect">
            <a:avLst/>
          </a:prstGeom>
          <a:noFill/>
          <a:ln/>
        </p:spPr>
        <p:txBody>
          <a:bodyPr wrap="square" lIns="0" tIns="0" rIns="0" bIns="0" rtlCol="0" anchor="t"/>
          <a:lstStyle/>
          <a:p>
            <a:pPr algn="l" indent="0" marL="0">
              <a:lnSpc>
                <a:spcPct val="112000"/>
              </a:lnSpc>
              <a:buNone/>
            </a:pPr>
            <a:r>
              <a:rPr lang="en-US" sz="1100" b="1" dirty="0">
                <a:solidFill>
                  <a:srgbClr val="2E86AB"/>
                </a:solidFill>
                <a:latin typeface="Calibri" pitchFamily="34" charset="0"/>
                <a:ea typeface="Calibri" pitchFamily="34" charset="-122"/>
                <a:cs typeface="Calibri" pitchFamily="34" charset="-120"/>
              </a:rPr>
              <a:t>Medium</a:t>
            </a:r>
            <a:endParaRPr lang="en-US" sz="1100" dirty="0"/>
          </a:p>
        </p:txBody>
      </p:sp>
      <p:sp>
        <p:nvSpPr>
          <p:cNvPr id="20" name="Text 18"/>
          <p:cNvSpPr/>
          <p:nvPr/>
        </p:nvSpPr>
        <p:spPr>
          <a:xfrm>
            <a:off x="2651760" y="4224528"/>
            <a:ext cx="8778240" cy="411480"/>
          </a:xfrm>
          <a:prstGeom prst="rect">
            <a:avLst/>
          </a:prstGeom>
          <a:noFill/>
          <a:ln/>
        </p:spPr>
        <p:txBody>
          <a:bodyPr wrap="square" lIns="0" tIns="0" rIns="0" bIns="0" rtlCol="0" anchor="t"/>
          <a:lstStyle/>
          <a:p>
            <a:pPr algn="l" indent="0" marL="0">
              <a:lnSpc>
                <a:spcPct val="112000"/>
              </a:lnSpc>
              <a:buNone/>
            </a:pPr>
            <a:r>
              <a:rPr lang="en-US" sz="1100" dirty="0">
                <a:solidFill>
                  <a:srgbClr val="D6E4F0"/>
                </a:solidFill>
                <a:latin typeface="Calibri" pitchFamily="34" charset="0"/>
                <a:ea typeface="Calibri" pitchFamily="34" charset="-122"/>
                <a:cs typeface="Calibri" pitchFamily="34" charset="-120"/>
              </a:rPr>
              <a:t>Multi-tenancy and client-branded workspaces so several engagements run in isolation</a:t>
            </a:r>
            <a:endParaRPr lang="en-US" sz="1100" dirty="0"/>
          </a:p>
        </p:txBody>
      </p:sp>
      <p:sp>
        <p:nvSpPr>
          <p:cNvPr id="21" name="Shape 19"/>
          <p:cNvSpPr/>
          <p:nvPr/>
        </p:nvSpPr>
        <p:spPr>
          <a:xfrm>
            <a:off x="548640" y="4809744"/>
            <a:ext cx="11064240" cy="676656"/>
          </a:xfrm>
          <a:prstGeom prst="roundRect">
            <a:avLst>
              <a:gd name="adj" fmla="val 10811"/>
            </a:avLst>
          </a:prstGeom>
          <a:solidFill>
            <a:srgbClr val="17263C"/>
          </a:solidFill>
          <a:ln w="12700">
            <a:solidFill>
              <a:srgbClr val="1F3350"/>
            </a:solidFill>
            <a:prstDash val="solid"/>
          </a:ln>
        </p:spPr>
      </p:sp>
      <p:sp>
        <p:nvSpPr>
          <p:cNvPr id="22" name="Shape 20"/>
          <p:cNvSpPr/>
          <p:nvPr/>
        </p:nvSpPr>
        <p:spPr>
          <a:xfrm>
            <a:off x="566928" y="5088636"/>
            <a:ext cx="118872" cy="118872"/>
          </a:xfrm>
          <a:prstGeom prst="ellipse">
            <a:avLst/>
          </a:prstGeom>
          <a:solidFill>
            <a:srgbClr val="E8A33D"/>
          </a:solidFill>
          <a:ln w="12700">
            <a:solidFill>
              <a:srgbClr val="E8A33D"/>
            </a:solidFill>
            <a:prstDash val="solid"/>
          </a:ln>
        </p:spPr>
      </p:sp>
      <p:sp>
        <p:nvSpPr>
          <p:cNvPr id="23" name="Text 21"/>
          <p:cNvSpPr/>
          <p:nvPr/>
        </p:nvSpPr>
        <p:spPr>
          <a:xfrm>
            <a:off x="822960" y="5029200"/>
            <a:ext cx="1554480" cy="274320"/>
          </a:xfrm>
          <a:prstGeom prst="rect">
            <a:avLst/>
          </a:prstGeom>
          <a:noFill/>
          <a:ln/>
        </p:spPr>
        <p:txBody>
          <a:bodyPr wrap="square" lIns="0" tIns="0" rIns="0" bIns="0" rtlCol="0" anchor="t"/>
          <a:lstStyle/>
          <a:p>
            <a:pPr algn="l" indent="0" marL="0">
              <a:lnSpc>
                <a:spcPct val="112000"/>
              </a:lnSpc>
              <a:buNone/>
            </a:pPr>
            <a:r>
              <a:rPr lang="en-US" sz="1100" b="1" dirty="0">
                <a:solidFill>
                  <a:srgbClr val="E8A33D"/>
                </a:solidFill>
                <a:latin typeface="Calibri" pitchFamily="34" charset="0"/>
                <a:ea typeface="Calibri" pitchFamily="34" charset="-122"/>
                <a:cs typeface="Calibri" pitchFamily="34" charset="-120"/>
              </a:rPr>
              <a:t>Longer</a:t>
            </a:r>
            <a:endParaRPr lang="en-US" sz="1100" dirty="0"/>
          </a:p>
        </p:txBody>
      </p:sp>
      <p:sp>
        <p:nvSpPr>
          <p:cNvPr id="24" name="Text 22"/>
          <p:cNvSpPr/>
          <p:nvPr/>
        </p:nvSpPr>
        <p:spPr>
          <a:xfrm>
            <a:off x="2651760" y="5010912"/>
            <a:ext cx="8778240" cy="411480"/>
          </a:xfrm>
          <a:prstGeom prst="rect">
            <a:avLst/>
          </a:prstGeom>
          <a:noFill/>
          <a:ln/>
        </p:spPr>
        <p:txBody>
          <a:bodyPr wrap="square" lIns="0" tIns="0" rIns="0" bIns="0" rtlCol="0" anchor="t"/>
          <a:lstStyle/>
          <a:p>
            <a:pPr algn="l" indent="0" marL="0">
              <a:lnSpc>
                <a:spcPct val="112000"/>
              </a:lnSpc>
              <a:buNone/>
            </a:pPr>
            <a:r>
              <a:rPr lang="en-US" sz="1100" dirty="0">
                <a:solidFill>
                  <a:srgbClr val="D6E4F0"/>
                </a:solidFill>
                <a:latin typeface="Calibri" pitchFamily="34" charset="0"/>
                <a:ea typeface="Calibri" pitchFamily="34" charset="-122"/>
                <a:cs typeface="Calibri" pitchFamily="34" charset="-120"/>
              </a:rPr>
              <a:t>MISO and SPP; ISO-NE and NYISO on client demand</a:t>
            </a:r>
            <a:endParaRPr lang="en-US" sz="1100" dirty="0"/>
          </a:p>
        </p:txBody>
      </p:sp>
      <p:sp>
        <p:nvSpPr>
          <p:cNvPr id="25" name="Shape 23"/>
          <p:cNvSpPr/>
          <p:nvPr/>
        </p:nvSpPr>
        <p:spPr>
          <a:xfrm>
            <a:off x="548640" y="5596128"/>
            <a:ext cx="11064240" cy="676656"/>
          </a:xfrm>
          <a:prstGeom prst="roundRect">
            <a:avLst>
              <a:gd name="adj" fmla="val 10811"/>
            </a:avLst>
          </a:prstGeom>
          <a:solidFill>
            <a:srgbClr val="17263C"/>
          </a:solidFill>
          <a:ln w="12700">
            <a:solidFill>
              <a:srgbClr val="1F3350"/>
            </a:solidFill>
            <a:prstDash val="solid"/>
          </a:ln>
        </p:spPr>
      </p:sp>
      <p:sp>
        <p:nvSpPr>
          <p:cNvPr id="26" name="Shape 24"/>
          <p:cNvSpPr/>
          <p:nvPr/>
        </p:nvSpPr>
        <p:spPr>
          <a:xfrm>
            <a:off x="566928" y="5875020"/>
            <a:ext cx="118872" cy="118872"/>
          </a:xfrm>
          <a:prstGeom prst="ellipse">
            <a:avLst/>
          </a:prstGeom>
          <a:solidFill>
            <a:srgbClr val="3FA372"/>
          </a:solidFill>
          <a:ln w="12700">
            <a:solidFill>
              <a:srgbClr val="3FA372"/>
            </a:solidFill>
            <a:prstDash val="solid"/>
          </a:ln>
        </p:spPr>
      </p:sp>
      <p:sp>
        <p:nvSpPr>
          <p:cNvPr id="27" name="Text 25"/>
          <p:cNvSpPr/>
          <p:nvPr/>
        </p:nvSpPr>
        <p:spPr>
          <a:xfrm>
            <a:off x="822960" y="5815584"/>
            <a:ext cx="1554480" cy="274320"/>
          </a:xfrm>
          <a:prstGeom prst="rect">
            <a:avLst/>
          </a:prstGeom>
          <a:noFill/>
          <a:ln/>
        </p:spPr>
        <p:txBody>
          <a:bodyPr wrap="square" lIns="0" tIns="0" rIns="0" bIns="0" rtlCol="0" anchor="t"/>
          <a:lstStyle/>
          <a:p>
            <a:pPr algn="l" indent="0" marL="0">
              <a:lnSpc>
                <a:spcPct val="112000"/>
              </a:lnSpc>
              <a:buNone/>
            </a:pPr>
            <a:r>
              <a:rPr lang="en-US" sz="1100" b="1" dirty="0">
                <a:solidFill>
                  <a:srgbClr val="3FA372"/>
                </a:solidFill>
                <a:latin typeface="Calibri" pitchFamily="34" charset="0"/>
                <a:ea typeface="Calibri" pitchFamily="34" charset="-122"/>
                <a:cs typeface="Calibri" pitchFamily="34" charset="-120"/>
              </a:rPr>
              <a:t>Longer</a:t>
            </a:r>
            <a:endParaRPr lang="en-US" sz="1100" dirty="0"/>
          </a:p>
        </p:txBody>
      </p:sp>
      <p:sp>
        <p:nvSpPr>
          <p:cNvPr id="28" name="Text 26"/>
          <p:cNvSpPr/>
          <p:nvPr/>
        </p:nvSpPr>
        <p:spPr>
          <a:xfrm>
            <a:off x="2651760" y="5797296"/>
            <a:ext cx="8778240" cy="411480"/>
          </a:xfrm>
          <a:prstGeom prst="rect">
            <a:avLst/>
          </a:prstGeom>
          <a:noFill/>
          <a:ln/>
        </p:spPr>
        <p:txBody>
          <a:bodyPr wrap="square" lIns="0" tIns="0" rIns="0" bIns="0" rtlCol="0" anchor="t"/>
          <a:lstStyle/>
          <a:p>
            <a:pPr algn="l" indent="0" marL="0">
              <a:lnSpc>
                <a:spcPct val="112000"/>
              </a:lnSpc>
              <a:buNone/>
            </a:pPr>
            <a:r>
              <a:rPr lang="en-US" sz="1100" dirty="0">
                <a:solidFill>
                  <a:srgbClr val="D6E4F0"/>
                </a:solidFill>
                <a:latin typeface="Calibri" pitchFamily="34" charset="0"/>
                <a:ea typeface="Calibri" pitchFamily="34" charset="-122"/>
                <a:cs typeface="Calibri" pitchFamily="34" charset="-120"/>
              </a:rPr>
              <a:t>Automated market-intelligence briefings as the managed-service deliverable</a:t>
            </a:r>
            <a:endParaRPr lang="en-US" sz="1100" dirty="0"/>
          </a:p>
        </p:txBody>
      </p:sp>
      <p:sp>
        <p:nvSpPr>
          <p:cNvPr id="29" name="Text 27"/>
          <p:cNvSpPr/>
          <p:nvPr/>
        </p:nvSpPr>
        <p:spPr>
          <a:xfrm>
            <a:off x="548640" y="6355080"/>
            <a:ext cx="11064240" cy="274320"/>
          </a:xfrm>
          <a:prstGeom prst="rect">
            <a:avLst/>
          </a:prstGeom>
          <a:noFill/>
          <a:ln/>
        </p:spPr>
        <p:txBody>
          <a:bodyPr wrap="square" lIns="0" tIns="0" rIns="0" bIns="0" rtlCol="0" anchor="ctr"/>
          <a:lstStyle/>
          <a:p>
            <a:pPr algn="l" indent="0" marL="0">
              <a:buNone/>
            </a:pPr>
            <a:r>
              <a:rPr lang="en-US" sz="900" i="1" dirty="0">
                <a:solidFill>
                  <a:srgbClr val="8CA3BC"/>
                </a:solidFill>
                <a:latin typeface="Calibri" pitchFamily="34" charset="0"/>
                <a:ea typeface="Calibri" pitchFamily="34" charset="-122"/>
                <a:cs typeface="Calibri" pitchFamily="34" charset="-120"/>
              </a:rPr>
              <a:t>ERCOT is complete to full depth today; CAISO and PJM have foundational data in place and need the same hourly treatment.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137160"/>
            <a:ext cx="11064240" cy="237744"/>
          </a:xfrm>
          <a:prstGeom prst="rect">
            <a:avLst/>
          </a:prstGeom>
          <a:noFill/>
          <a:ln/>
        </p:spPr>
        <p:txBody>
          <a:bodyPr wrap="square" lIns="0" tIns="0" rIns="0" bIns="0" rtlCol="0" anchor="ctr"/>
          <a:lstStyle/>
          <a:p>
            <a:pPr indent="0" marL="0">
              <a:buNone/>
            </a:pPr>
            <a:r>
              <a:rPr lang="en-US" sz="950" b="1" spc="200" kern="0" dirty="0">
                <a:solidFill>
                  <a:srgbClr val="2E86AB"/>
                </a:solidFill>
                <a:latin typeface="Calibri" pitchFamily="34" charset="0"/>
                <a:ea typeface="Calibri" pitchFamily="34" charset="-122"/>
                <a:cs typeface="Calibri" pitchFamily="34" charset="-120"/>
              </a:rPr>
              <a:t>THE ASK</a:t>
            </a:r>
            <a:endParaRPr lang="en-US" sz="950" dirty="0"/>
          </a:p>
        </p:txBody>
      </p:sp>
      <p:sp>
        <p:nvSpPr>
          <p:cNvPr id="3" name="Text 1"/>
          <p:cNvSpPr/>
          <p:nvPr/>
        </p:nvSpPr>
        <p:spPr>
          <a:xfrm>
            <a:off x="548640" y="384048"/>
            <a:ext cx="11064240" cy="685800"/>
          </a:xfrm>
          <a:prstGeom prst="rect">
            <a:avLst/>
          </a:prstGeom>
          <a:noFill/>
          <a:ln/>
        </p:spPr>
        <p:txBody>
          <a:bodyPr wrap="square" lIns="0" tIns="0" rIns="0" bIns="0" rtlCol="0" anchor="ctr"/>
          <a:lstStyle/>
          <a:p>
            <a:pPr algn="l" indent="0" marL="0">
              <a:buNone/>
            </a:pPr>
            <a:r>
              <a:rPr lang="en-US" sz="3000" b="1" dirty="0">
                <a:solidFill>
                  <a:srgbClr val="0E1A2B"/>
                </a:solidFill>
                <a:latin typeface="Cambria" pitchFamily="34" charset="0"/>
                <a:ea typeface="Cambria" pitchFamily="34" charset="-122"/>
                <a:cs typeface="Cambria" pitchFamily="34" charset="-120"/>
              </a:rPr>
              <a:t>Where I would start</a:t>
            </a:r>
            <a:endParaRPr lang="en-US" sz="3000" dirty="0"/>
          </a:p>
        </p:txBody>
      </p:sp>
      <p:sp>
        <p:nvSpPr>
          <p:cNvPr id="4" name="Text 2"/>
          <p:cNvSpPr/>
          <p:nvPr/>
        </p:nvSpPr>
        <p:spPr>
          <a:xfrm>
            <a:off x="548640" y="1042416"/>
            <a:ext cx="11064240" cy="365760"/>
          </a:xfrm>
          <a:prstGeom prst="rect">
            <a:avLst/>
          </a:prstGeom>
          <a:noFill/>
          <a:ln/>
        </p:spPr>
        <p:txBody>
          <a:bodyPr wrap="square" lIns="0" tIns="0" rIns="0" bIns="0" rtlCol="0" anchor="ctr"/>
          <a:lstStyle/>
          <a:p>
            <a:pPr algn="l" indent="0" marL="0">
              <a:buNone/>
            </a:pPr>
            <a:r>
              <a:rPr lang="en-US" sz="1350" i="1" dirty="0">
                <a:solidFill>
                  <a:srgbClr val="5A6E85"/>
                </a:solidFill>
                <a:latin typeface="Calibri" pitchFamily="34" charset="0"/>
                <a:ea typeface="Calibri" pitchFamily="34" charset="-122"/>
                <a:cs typeface="Calibri" pitchFamily="34" charset="-120"/>
              </a:rPr>
              <a:t>One client, one diagnostic, one measurable finding</a:t>
            </a:r>
            <a:endParaRPr lang="en-US" sz="1350" dirty="0"/>
          </a:p>
        </p:txBody>
      </p:sp>
      <p:sp>
        <p:nvSpPr>
          <p:cNvPr id="5" name="Shape 3"/>
          <p:cNvSpPr/>
          <p:nvPr/>
        </p:nvSpPr>
        <p:spPr>
          <a:xfrm>
            <a:off x="548640" y="1691640"/>
            <a:ext cx="5440680" cy="2377440"/>
          </a:xfrm>
          <a:prstGeom prst="roundRect">
            <a:avLst>
              <a:gd name="adj" fmla="val 3077"/>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6" name="Text 4"/>
          <p:cNvSpPr/>
          <p:nvPr/>
        </p:nvSpPr>
        <p:spPr>
          <a:xfrm>
            <a:off x="822960" y="1874520"/>
            <a:ext cx="4754880" cy="292608"/>
          </a:xfrm>
          <a:prstGeom prst="rect">
            <a:avLst/>
          </a:prstGeom>
          <a:noFill/>
          <a:ln/>
        </p:spPr>
        <p:txBody>
          <a:bodyPr wrap="square" lIns="0" tIns="0" rIns="0" bIns="0" rtlCol="0" anchor="ctr"/>
          <a:lstStyle/>
          <a:p>
            <a:pPr algn="l" indent="0" marL="0">
              <a:buNone/>
            </a:pPr>
            <a:r>
              <a:rPr lang="en-US" sz="1600" b="1" dirty="0">
                <a:solidFill>
                  <a:srgbClr val="02C39A"/>
                </a:solidFill>
                <a:latin typeface="Calibri" pitchFamily="34" charset="0"/>
                <a:ea typeface="Calibri" pitchFamily="34" charset="-122"/>
                <a:cs typeface="Calibri" pitchFamily="34" charset="-120"/>
              </a:rPr>
              <a:t>The pilot</a:t>
            </a:r>
            <a:endParaRPr lang="en-US" sz="1600" dirty="0"/>
          </a:p>
        </p:txBody>
      </p:sp>
      <p:sp>
        <p:nvSpPr>
          <p:cNvPr id="7" name="Text 5"/>
          <p:cNvSpPr/>
          <p:nvPr/>
        </p:nvSpPr>
        <p:spPr>
          <a:xfrm>
            <a:off x="822960" y="2286000"/>
            <a:ext cx="4892040" cy="1645920"/>
          </a:xfrm>
          <a:prstGeom prst="rect">
            <a:avLst/>
          </a:prstGeom>
          <a:noFill/>
          <a:ln/>
        </p:spPr>
        <p:txBody>
          <a:bodyPr wrap="square" lIns="0" tIns="0" rIns="0" bIns="0" rtlCol="0" anchor="t"/>
          <a:lstStyle/>
          <a:p>
            <a:pPr algn="l" indent="0" marL="0">
              <a:lnSpc>
                <a:spcPct val="122000"/>
              </a:lnSpc>
              <a:buNone/>
            </a:pPr>
            <a:r>
              <a:rPr lang="en-US" sz="1150" dirty="0">
                <a:solidFill>
                  <a:srgbClr val="5A6E85"/>
                </a:solidFill>
                <a:latin typeface="Calibri" pitchFamily="34" charset="0"/>
                <a:ea typeface="Calibri" pitchFamily="34" charset="-122"/>
                <a:cs typeface="Calibri" pitchFamily="34" charset="-120"/>
              </a:rPr>
              <a:t>Pick one energy client with an existing PPA book or an active siting question.</a:t>
            </a:r>
            <a:endParaRPr lang="en-US" sz="1150" dirty="0"/>
          </a:p>
          <a:p>
            <a:pPr algn="l" indent="0" marL="0">
              <a:lnSpc>
                <a:spcPct val="122000"/>
              </a:lnSpc>
              <a:buNone/>
            </a:pPr>
            <a:endParaRPr lang="en-US" sz="1150" dirty="0"/>
          </a:p>
          <a:p>
            <a:pPr algn="l" indent="0" marL="0">
              <a:lnSpc>
                <a:spcPct val="122000"/>
              </a:lnSpc>
              <a:buNone/>
            </a:pPr>
            <a:r>
              <a:rPr lang="en-US" sz="1150" dirty="0">
                <a:solidFill>
                  <a:srgbClr val="5A6E85"/>
                </a:solidFill>
                <a:latin typeface="Calibri" pitchFamily="34" charset="0"/>
                <a:ea typeface="Calibri" pitchFamily="34" charset="-122"/>
                <a:cs typeface="Calibri" pitchFamily="34" charset="-120"/>
              </a:rPr>
              <a:t>Run a four-week diagnostic on their actual nodes and contracts. Deliver a quantified basis and curtailment exposure finding.</a:t>
            </a:r>
            <a:endParaRPr lang="en-US" sz="1150" dirty="0"/>
          </a:p>
          <a:p>
            <a:pPr algn="l" indent="0" marL="0">
              <a:lnSpc>
                <a:spcPct val="122000"/>
              </a:lnSpc>
              <a:buNone/>
            </a:pPr>
            <a:endParaRPr lang="en-US" sz="1150" dirty="0"/>
          </a:p>
          <a:p>
            <a:pPr algn="l" indent="0" marL="0">
              <a:lnSpc>
                <a:spcPct val="122000"/>
              </a:lnSpc>
              <a:buNone/>
            </a:pPr>
            <a:r>
              <a:rPr lang="en-US" sz="1150" dirty="0">
                <a:solidFill>
                  <a:srgbClr val="5A6E85"/>
                </a:solidFill>
                <a:latin typeface="Calibri" pitchFamily="34" charset="0"/>
                <a:ea typeface="Calibri" pitchFamily="34" charset="-122"/>
                <a:cs typeface="Calibri" pitchFamily="34" charset="-120"/>
              </a:rPr>
              <a:t>If the finding is material — and in ERCOT it usually is — the implementation conversation writes itself.</a:t>
            </a:r>
            <a:endParaRPr lang="en-US" sz="1150" dirty="0"/>
          </a:p>
        </p:txBody>
      </p:sp>
      <p:sp>
        <p:nvSpPr>
          <p:cNvPr id="8" name="Shape 6"/>
          <p:cNvSpPr/>
          <p:nvPr/>
        </p:nvSpPr>
        <p:spPr>
          <a:xfrm>
            <a:off x="6172200" y="1691640"/>
            <a:ext cx="5440680" cy="2377440"/>
          </a:xfrm>
          <a:prstGeom prst="roundRect">
            <a:avLst>
              <a:gd name="adj" fmla="val 3077"/>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9" name="Text 7"/>
          <p:cNvSpPr/>
          <p:nvPr/>
        </p:nvSpPr>
        <p:spPr>
          <a:xfrm>
            <a:off x="6446520" y="1874520"/>
            <a:ext cx="4754880" cy="292608"/>
          </a:xfrm>
          <a:prstGeom prst="rect">
            <a:avLst/>
          </a:prstGeom>
          <a:noFill/>
          <a:ln/>
        </p:spPr>
        <p:txBody>
          <a:bodyPr wrap="square" lIns="0" tIns="0" rIns="0" bIns="0" rtlCol="0" anchor="ctr"/>
          <a:lstStyle/>
          <a:p>
            <a:pPr algn="l" indent="0" marL="0">
              <a:buNone/>
            </a:pPr>
            <a:r>
              <a:rPr lang="en-US" sz="1600" b="1" dirty="0">
                <a:solidFill>
                  <a:srgbClr val="2E86AB"/>
                </a:solidFill>
                <a:latin typeface="Calibri" pitchFamily="34" charset="0"/>
                <a:ea typeface="Calibri" pitchFamily="34" charset="-122"/>
                <a:cs typeface="Calibri" pitchFamily="34" charset="-120"/>
              </a:rPr>
              <a:t>What I bring</a:t>
            </a:r>
            <a:endParaRPr lang="en-US" sz="1600" dirty="0"/>
          </a:p>
        </p:txBody>
      </p:sp>
      <p:sp>
        <p:nvSpPr>
          <p:cNvPr id="10" name="Text 8"/>
          <p:cNvSpPr/>
          <p:nvPr/>
        </p:nvSpPr>
        <p:spPr>
          <a:xfrm>
            <a:off x="6446520" y="2286000"/>
            <a:ext cx="4892040" cy="169164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5A6E85"/>
                </a:solidFill>
                <a:latin typeface="Calibri" pitchFamily="34" charset="0"/>
                <a:ea typeface="Calibri" pitchFamily="34" charset="-122"/>
                <a:cs typeface="Calibri" pitchFamily="34" charset="-120"/>
              </a:rPr>
              <a:t>A working platform, not a concept — demoable this week</a:t>
            </a:r>
            <a:endParaRPr lang="en-US" sz="1100" dirty="0"/>
          </a:p>
          <a:p>
            <a:pPr marL="342900" indent="-342900">
              <a:spcAft>
                <a:spcPts val="800"/>
              </a:spcAft>
              <a:buSzPct val="100000"/>
              <a:buChar char="•"/>
            </a:pPr>
            <a:r>
              <a:rPr lang="en-US" sz="1100" dirty="0">
                <a:solidFill>
                  <a:srgbClr val="5A6E85"/>
                </a:solidFill>
                <a:latin typeface="Calibri" pitchFamily="34" charset="0"/>
                <a:ea typeface="Calibri" pitchFamily="34" charset="-122"/>
                <a:cs typeface="Calibri" pitchFamily="34" charset="-120"/>
              </a:rPr>
              <a:t>The Azure architecture and migration path already designed</a:t>
            </a:r>
            <a:endParaRPr lang="en-US" sz="1100" dirty="0"/>
          </a:p>
          <a:p>
            <a:pPr marL="342900" indent="-342900">
              <a:spcAft>
                <a:spcPts val="800"/>
              </a:spcAft>
              <a:buSzPct val="100000"/>
              <a:buChar char="•"/>
            </a:pPr>
            <a:r>
              <a:rPr lang="en-US" sz="1100" dirty="0">
                <a:solidFill>
                  <a:srgbClr val="5A6E85"/>
                </a:solidFill>
                <a:latin typeface="Calibri" pitchFamily="34" charset="0"/>
                <a:ea typeface="Calibri" pitchFamily="34" charset="-122"/>
                <a:cs typeface="Calibri" pitchFamily="34" charset="-120"/>
              </a:rPr>
              <a:t>Domain depth in nodal markets, PPA structuring and power-flow modelling</a:t>
            </a:r>
            <a:endParaRPr lang="en-US" sz="1100" dirty="0"/>
          </a:p>
          <a:p>
            <a:pPr marL="342900" indent="-342900">
              <a:spcAft>
                <a:spcPts val="800"/>
              </a:spcAft>
              <a:buSzPct val="100000"/>
              <a:buChar char="•"/>
            </a:pPr>
            <a:r>
              <a:rPr lang="en-US" sz="1100" dirty="0">
                <a:solidFill>
                  <a:srgbClr val="5A6E85"/>
                </a:solidFill>
                <a:latin typeface="Calibri" pitchFamily="34" charset="0"/>
                <a:ea typeface="Calibri" pitchFamily="34" charset="-122"/>
                <a:cs typeface="Calibri" pitchFamily="34" charset="-120"/>
              </a:rPr>
              <a:t>Full-stack delivery: ingestion, modelling, API, front end, deployment</a:t>
            </a:r>
            <a:endParaRPr lang="en-US" sz="1100" dirty="0"/>
          </a:p>
        </p:txBody>
      </p:sp>
      <p:sp>
        <p:nvSpPr>
          <p:cNvPr id="11" name="Shape 9"/>
          <p:cNvSpPr/>
          <p:nvPr/>
        </p:nvSpPr>
        <p:spPr>
          <a:xfrm>
            <a:off x="548640" y="4315968"/>
            <a:ext cx="3520440" cy="1371600"/>
          </a:xfrm>
          <a:prstGeom prst="roundRect">
            <a:avLst>
              <a:gd name="adj" fmla="val 533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2" name="Shape 10"/>
          <p:cNvSpPr/>
          <p:nvPr/>
        </p:nvSpPr>
        <p:spPr>
          <a:xfrm>
            <a:off x="786384" y="4517136"/>
            <a:ext cx="384048" cy="384048"/>
          </a:xfrm>
          <a:prstGeom prst="ellipse">
            <a:avLst/>
          </a:prstGeom>
          <a:solidFill>
            <a:srgbClr val="02C39A"/>
          </a:solidFill>
          <a:ln w="12700">
            <a:solidFill>
              <a:srgbClr val="02C39A"/>
            </a:solidFill>
            <a:prstDash val="solid"/>
          </a:ln>
        </p:spPr>
      </p:sp>
      <p:sp>
        <p:nvSpPr>
          <p:cNvPr id="13" name="Text 11"/>
          <p:cNvSpPr/>
          <p:nvPr/>
        </p:nvSpPr>
        <p:spPr>
          <a:xfrm>
            <a:off x="786384" y="451713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2"/>
          <p:cNvSpPr/>
          <p:nvPr/>
        </p:nvSpPr>
        <p:spPr>
          <a:xfrm>
            <a:off x="1298448" y="4553712"/>
            <a:ext cx="2651760" cy="27432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Independent by construction</a:t>
            </a:r>
            <a:endParaRPr lang="en-US" sz="1150" dirty="0"/>
          </a:p>
        </p:txBody>
      </p:sp>
      <p:sp>
        <p:nvSpPr>
          <p:cNvPr id="15" name="Text 13"/>
          <p:cNvSpPr/>
          <p:nvPr/>
        </p:nvSpPr>
        <p:spPr>
          <a:xfrm>
            <a:off x="786384" y="5047488"/>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No position in the transaction, no licensed-data dependency</a:t>
            </a:r>
            <a:endParaRPr lang="en-US" sz="1000" dirty="0"/>
          </a:p>
        </p:txBody>
      </p:sp>
      <p:sp>
        <p:nvSpPr>
          <p:cNvPr id="16" name="Shape 14"/>
          <p:cNvSpPr/>
          <p:nvPr/>
        </p:nvSpPr>
        <p:spPr>
          <a:xfrm>
            <a:off x="4279392" y="4315968"/>
            <a:ext cx="3520440" cy="1371600"/>
          </a:xfrm>
          <a:prstGeom prst="roundRect">
            <a:avLst>
              <a:gd name="adj" fmla="val 533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17" name="Shape 15"/>
          <p:cNvSpPr/>
          <p:nvPr/>
        </p:nvSpPr>
        <p:spPr>
          <a:xfrm>
            <a:off x="4517136" y="4517136"/>
            <a:ext cx="384048" cy="384048"/>
          </a:xfrm>
          <a:prstGeom prst="ellipse">
            <a:avLst/>
          </a:prstGeom>
          <a:solidFill>
            <a:srgbClr val="02C39A"/>
          </a:solidFill>
          <a:ln w="12700">
            <a:solidFill>
              <a:srgbClr val="02C39A"/>
            </a:solidFill>
            <a:prstDash val="solid"/>
          </a:ln>
        </p:spPr>
      </p:sp>
      <p:sp>
        <p:nvSpPr>
          <p:cNvPr id="18" name="Text 16"/>
          <p:cNvSpPr/>
          <p:nvPr/>
        </p:nvSpPr>
        <p:spPr>
          <a:xfrm>
            <a:off x="4517136" y="451713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7"/>
          <p:cNvSpPr/>
          <p:nvPr/>
        </p:nvSpPr>
        <p:spPr>
          <a:xfrm>
            <a:off x="5029200" y="4553712"/>
            <a:ext cx="2651760" cy="27432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Auditable to source</a:t>
            </a:r>
            <a:endParaRPr lang="en-US" sz="1150" dirty="0"/>
          </a:p>
        </p:txBody>
      </p:sp>
      <p:sp>
        <p:nvSpPr>
          <p:cNvPr id="20" name="Text 18"/>
          <p:cNvSpPr/>
          <p:nvPr/>
        </p:nvSpPr>
        <p:spPr>
          <a:xfrm>
            <a:off x="4517136" y="5047488"/>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Every number traces to a regulator filing</a:t>
            </a:r>
            <a:endParaRPr lang="en-US" sz="1000" dirty="0"/>
          </a:p>
        </p:txBody>
      </p:sp>
      <p:sp>
        <p:nvSpPr>
          <p:cNvPr id="21" name="Shape 19"/>
          <p:cNvSpPr/>
          <p:nvPr/>
        </p:nvSpPr>
        <p:spPr>
          <a:xfrm>
            <a:off x="8010144" y="4315968"/>
            <a:ext cx="3520440" cy="1371600"/>
          </a:xfrm>
          <a:prstGeom prst="roundRect">
            <a:avLst>
              <a:gd name="adj" fmla="val 5333"/>
            </a:avLst>
          </a:prstGeom>
          <a:solidFill>
            <a:srgbClr val="FFFFFF"/>
          </a:solidFill>
          <a:ln w="12700">
            <a:solidFill>
              <a:srgbClr val="E2E9F0"/>
            </a:solidFill>
            <a:prstDash val="solid"/>
          </a:ln>
          <a:effectLst>
            <a:outerShdw sx="100000" sy="100000" kx="0" ky="0" algn="bl" rotWithShape="0" blurRad="101600" dist="19050" dir="5400000">
              <a:srgbClr val="8CA3BC">
                <a:alpha val="22000"/>
              </a:srgbClr>
            </a:outerShdw>
          </a:effectLst>
        </p:spPr>
      </p:sp>
      <p:sp>
        <p:nvSpPr>
          <p:cNvPr id="22" name="Shape 20"/>
          <p:cNvSpPr/>
          <p:nvPr/>
        </p:nvSpPr>
        <p:spPr>
          <a:xfrm>
            <a:off x="8247888" y="4517136"/>
            <a:ext cx="384048" cy="384048"/>
          </a:xfrm>
          <a:prstGeom prst="ellipse">
            <a:avLst/>
          </a:prstGeom>
          <a:solidFill>
            <a:srgbClr val="02C39A"/>
          </a:solidFill>
          <a:ln w="12700">
            <a:solidFill>
              <a:srgbClr val="02C39A"/>
            </a:solidFill>
            <a:prstDash val="solid"/>
          </a:ln>
        </p:spPr>
      </p:sp>
      <p:sp>
        <p:nvSpPr>
          <p:cNvPr id="23" name="Text 21"/>
          <p:cNvSpPr/>
          <p:nvPr/>
        </p:nvSpPr>
        <p:spPr>
          <a:xfrm>
            <a:off x="8247888" y="451713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8759952" y="4553712"/>
            <a:ext cx="2651760" cy="274320"/>
          </a:xfrm>
          <a:prstGeom prst="rect">
            <a:avLst/>
          </a:prstGeom>
          <a:noFill/>
          <a:ln/>
        </p:spPr>
        <p:txBody>
          <a:bodyPr wrap="square" lIns="0" tIns="0" rIns="0" bIns="0" rtlCol="0" anchor="t"/>
          <a:lstStyle/>
          <a:p>
            <a:pPr algn="l" indent="0" marL="0">
              <a:lnSpc>
                <a:spcPct val="112000"/>
              </a:lnSpc>
              <a:buNone/>
            </a:pPr>
            <a:r>
              <a:rPr lang="en-US" sz="1150" b="1" dirty="0">
                <a:solidFill>
                  <a:srgbClr val="0E1A2B"/>
                </a:solidFill>
                <a:latin typeface="Calibri" pitchFamily="34" charset="0"/>
                <a:ea typeface="Calibri" pitchFamily="34" charset="-122"/>
                <a:cs typeface="Calibri" pitchFamily="34" charset="-120"/>
              </a:rPr>
              <a:t>Deployable in their tenant</a:t>
            </a:r>
            <a:endParaRPr lang="en-US" sz="1150" dirty="0"/>
          </a:p>
        </p:txBody>
      </p:sp>
      <p:sp>
        <p:nvSpPr>
          <p:cNvPr id="25" name="Text 23"/>
          <p:cNvSpPr/>
          <p:nvPr/>
        </p:nvSpPr>
        <p:spPr>
          <a:xfrm>
            <a:off x="8247888" y="5047488"/>
            <a:ext cx="3017520" cy="457200"/>
          </a:xfrm>
          <a:prstGeom prst="rect">
            <a:avLst/>
          </a:prstGeom>
          <a:noFill/>
          <a:ln/>
        </p:spPr>
        <p:txBody>
          <a:bodyPr wrap="square" lIns="0" tIns="0" rIns="0" bIns="0" rtlCol="0" anchor="t"/>
          <a:lstStyle/>
          <a:p>
            <a:pPr algn="l" indent="0" marL="0">
              <a:lnSpc>
                <a:spcPct val="115000"/>
              </a:lnSpc>
              <a:buNone/>
            </a:pPr>
            <a:r>
              <a:rPr lang="en-US" sz="1000" dirty="0">
                <a:solidFill>
                  <a:srgbClr val="5A6E85"/>
                </a:solidFill>
                <a:latin typeface="Calibri" pitchFamily="34" charset="0"/>
                <a:ea typeface="Calibri" pitchFamily="34" charset="-122"/>
                <a:cs typeface="Calibri" pitchFamily="34" charset="-120"/>
              </a:rPr>
              <a:t>Runs inside the client's Azure and governance boundary</a:t>
            </a:r>
            <a:endParaRPr lang="en-US" sz="1000" dirty="0"/>
          </a:p>
        </p:txBody>
      </p:sp>
      <p:sp>
        <p:nvSpPr>
          <p:cNvPr id="26" name="Text 24"/>
          <p:cNvSpPr/>
          <p:nvPr/>
        </p:nvSpPr>
        <p:spPr>
          <a:xfrm>
            <a:off x="548640" y="5925312"/>
            <a:ext cx="11064240" cy="365760"/>
          </a:xfrm>
          <a:prstGeom prst="rect">
            <a:avLst/>
          </a:prstGeom>
          <a:noFill/>
          <a:ln/>
        </p:spPr>
        <p:txBody>
          <a:bodyPr wrap="square" lIns="0" tIns="0" rIns="0" bIns="0" rtlCol="0" anchor="ctr"/>
          <a:lstStyle/>
          <a:p>
            <a:pPr indent="0" marL="0">
              <a:buNone/>
            </a:pPr>
            <a:r>
              <a:rPr lang="en-US" sz="1300" i="1" dirty="0">
                <a:solidFill>
                  <a:srgbClr val="2E86AB"/>
                </a:solidFill>
                <a:latin typeface="Calibri" pitchFamily="34" charset="0"/>
                <a:ea typeface="Calibri" pitchFamily="34" charset="-122"/>
                <a:cs typeface="Calibri" pitchFamily="34" charset="-120"/>
              </a:rPr>
              <a:t>The platform proves the capability. The diagnostic proves the value.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 Origination Intelligence Platform — Capability &amp; Commercial Play</dc:title>
  <dc:subject>PptxGenJS Presentation</dc:subject>
  <dc:creator>Amol Javahire</dc:creator>
  <cp:lastModifiedBy>Amol Javahire</cp:lastModifiedBy>
  <cp:revision>1</cp:revision>
  <dcterms:created xsi:type="dcterms:W3CDTF">2026-07-26T21:00:49Z</dcterms:created>
  <dcterms:modified xsi:type="dcterms:W3CDTF">2026-07-26T21:00:49Z</dcterms:modified>
</cp:coreProperties>
</file>